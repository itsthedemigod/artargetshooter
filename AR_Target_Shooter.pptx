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998F89-B466-A056-4D83-33D9546DD419}">
          <p14:sldIdLst>
            <p14:sldId id="256"/>
            <p14:sldId id="257"/>
            <p14:sldId id="258"/>
            <p14:sldId id="259"/>
            <p14:sldId id="260"/>
          </p14:sldIdLst>
        </p14:section>
        <p14:section name="How it works" id="{0D928777-18E4-6BE2-D25A-95EA97AD3CC1}">
          <p14:sldIdLst>
            <p14:sldId id="261"/>
            <p14:sldId id="262"/>
            <p14:sldId id="263"/>
            <p14:sldId id="264"/>
            <p14:sldId id="265"/>
            <p14:sldId id="266"/>
            <p14:sldId id="267"/>
          </p14:sldIdLst>
        </p14:section>
        <p14:section name="Wrap-up" id="{FDBB9814-FC31-5724-B153-83A16C77D7B5}">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B2B"/>
                </a:solidFill>
                <a:latin typeface="+mn-lt"/>
              </a:defRPr>
            </a:pPr>
            <a:r>
              <a:rPr sz="1400" b="0" i="0" u="none" strike="noStrike">
                <a:solidFill>
                  <a:srgbClr val="0B1B2B"/>
                </a:solidFill>
                <a:latin typeface="+mn-lt"/>
              </a:rPr>
              <a:t>Difficulty presets</a:t>
            </a:r>
          </a:p>
        </c:rich>
      </c:tx>
      <c:overlay val="0"/>
    </c:title>
    <c:autoTitleDeleted val="0"/>
    <c:plotArea>
      <c:layout/>
      <c:barChart>
        <c:barDir val="col"/>
        <c:grouping val="clustered"/>
        <c:varyColors val="0"/>
        <c:ser>
          <c:idx val="0"/>
          <c:order val="0"/>
          <c:tx>
            <c:strRef>
              <c:f>Sheet1!$B$1</c:f>
              <c:strCache>
                <c:ptCount val="1"/>
                <c:pt idx="0">
                  <c:v>Targets on screen</c:v>
                </c:pt>
              </c:strCache>
            </c:strRef>
          </c:tx>
          <c:spPr>
            <a:solidFill>
              <a:srgbClr val="00B8D9"/>
            </a:solidFill>
            <a:effectLst/>
          </c:spPr>
          <c:invertIfNegative val="0"/>
          <c:dLbls>
            <c:numFmt formatCode="#,##0" sourceLinked="0"/>
            <c:spPr>
              <a:noFill/>
              <a:ln>
                <a:noFill/>
              </a:ln>
              <a:effectLst/>
            </c:spPr>
            <c:txPr>
              <a:bodyPr/>
              <a:lstStyle/>
              <a:p>
                <a:pPr>
                  <a:defRPr sz="1100" b="0" i="0" u="none" strike="noStrike">
                    <a:solidFill>
                      <a:srgbClr val="0B1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Easy</c:v>
                </c:pt>
                <c:pt idx="1">
                  <c:v>Normal</c:v>
                </c:pt>
                <c:pt idx="2">
                  <c:v>Hard</c:v>
                </c:pt>
              </c:strCache>
            </c:strRef>
          </c:cat>
          <c:val>
            <c:numRef>
              <c:f>Sheet1!$B$2:$B$4</c:f>
              <c:numCache>
                <c:formatCode>General</c:formatCode>
                <c:ptCount val="3"/>
                <c:pt idx="0">
                  <c:v>4</c:v>
                </c:pt>
                <c:pt idx="1">
                  <c:v>5</c:v>
                </c:pt>
                <c:pt idx="2">
                  <c:v>7</c:v>
                </c:pt>
              </c:numCache>
            </c:numRef>
          </c:val>
          <c:extLst>
            <c:ext xmlns:c16="http://schemas.microsoft.com/office/drawing/2014/chart" uri="{C3380CC4-5D6E-409C-BE32-E72D297353CC}">
              <c16:uniqueId val="{00000000-3353-447E-8EEB-E0CB386B4028}"/>
            </c:ext>
          </c:extLst>
        </c:ser>
        <c:ser>
          <c:idx val="1"/>
          <c:order val="1"/>
          <c:tx>
            <c:strRef>
              <c:f>Sheet1!$C$1</c:f>
              <c:strCache>
                <c:ptCount val="1"/>
                <c:pt idx="0">
                  <c:v>Target lifetime (s)</c:v>
                </c:pt>
              </c:strCache>
            </c:strRef>
          </c:tx>
          <c:spPr>
            <a:solidFill>
              <a:srgbClr val="FF9F1C"/>
            </a:solidFill>
            <a:effectLst/>
          </c:spPr>
          <c:invertIfNegative val="0"/>
          <c:dLbls>
            <c:numFmt formatCode="#,##0" sourceLinked="0"/>
            <c:spPr>
              <a:noFill/>
              <a:ln>
                <a:noFill/>
              </a:ln>
              <a:effectLst/>
            </c:spPr>
            <c:txPr>
              <a:bodyPr/>
              <a:lstStyle/>
              <a:p>
                <a:pPr>
                  <a:defRPr sz="1100" b="0" i="0" u="none" strike="noStrike">
                    <a:solidFill>
                      <a:srgbClr val="0B1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Easy</c:v>
                </c:pt>
                <c:pt idx="1">
                  <c:v>Normal</c:v>
                </c:pt>
                <c:pt idx="2">
                  <c:v>Hard</c:v>
                </c:pt>
              </c:strCache>
            </c:strRef>
          </c:cat>
          <c:val>
            <c:numRef>
              <c:f>Sheet1!$C$2:$C$4</c:f>
              <c:numCache>
                <c:formatCode>General</c:formatCode>
                <c:ptCount val="3"/>
                <c:pt idx="0">
                  <c:v>25</c:v>
                </c:pt>
                <c:pt idx="1">
                  <c:v>20</c:v>
                </c:pt>
                <c:pt idx="2">
                  <c:v>12</c:v>
                </c:pt>
              </c:numCache>
            </c:numRef>
          </c:val>
          <c:extLst>
            <c:ext xmlns:c16="http://schemas.microsoft.com/office/drawing/2014/chart" uri="{C3380CC4-5D6E-409C-BE32-E72D297353CC}">
              <c16:uniqueId val="{00000001-3353-447E-8EEB-E0CB386B40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B2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8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B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4545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an Android AR game where virtual bullseye targets float in your real room and you tap to shoot them. Built with Unity, AR Foundation and ARCore, tested on a Galaxy S23 Ultra.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game in three moves: scan, targets appear, tap to shoot. The cyan trail shows a shot arcing under gravity.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core ideas from the course: projectile motion (physics of the shot) and collision (did it hit). Input is only a tap.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on-device. Unity is the engine, AR Foundation with ARCore handles the AR, the Input System reads taps, and Claude Code helped write the scripts while I wired things up in the Unity editor and tested on the phone.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built one phase at a time. After each phase I tested on the real phone before moving on, so problems were found early.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steps come straight from the project brief. The next five slides explain each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ARCore tracks the phone and builds planes from camera features. The yellow overlay you see in testing is those planes. A raycast from the screen centre hits a plane and the cyan reticle sits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spawn in front of where you are facing, inside this fan shape. They are placed in world space and never attached to planes, because ARCore merges and removes planes while it tracks. Once a plane is found the round can start.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tap, the game draws a ray from the camera through your finger and launches a small sphere along it with a little upward lift. Gravity bends the path into a parabola. The formula is the textbook projectile equation; with 10 m/s the gravity drop at 4 m is about 0.8 m, so players aim slightly above the target.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 is a small 5 cm zone worth 25 points; the rest of the target is worth 10. Layers make sure shots ignore the AR planes and only hit targets. The sphere-cast is a safety net for fast projectiles.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state machine drives the whole game. Planes stay visible on the menu so you can see the scan. Pressing Home mid-round pauses the game and clears targets; Resume works once ARCore tracking has recovered, and your score is kept.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GameManager is the hub: it starts and stops spawning, enables shooting and scoring, and runs the timer. ShootingController raises a hit event, ScoreManager scores it, and HitEffects plays the burst and sound.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real problems found while testing on the phone, and how each was fixed. The pink cubes are Unity's colour for a missing shader.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Tested on a real Galaxy S23 Ultra. 30 FPS is the ARCore camera rate and stayed steady, including on Hard. The best-score round had 16 hits and 80% accuracy. Difficulty changes target count, lifetime and respawn speed.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what works end to end on the phone, then mention a few realistic next steps.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B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120640" cy="1645920"/>
          </a:xfrm>
          <a:prstGeom prst="rect">
            <a:avLst/>
          </a:prstGeom>
          <a:noFill/>
          <a:ln/>
        </p:spPr>
        <p:txBody>
          <a:bodyPr wrap="square" rtlCol="0"/>
          <a:lstStyle>
            <a:lvl1pPr marL="0" indent="0">
              <a:buNone/>
              <a:defRPr lang="en-US" sz="4600" b="1" dirty="0">
                <a:solidFill>
                  <a:srgbClr val="FFFFFF"/>
                </a:solidFill>
              </a:defRPr>
            </a:lvl1pPr>
          </a:lstStyle>
          <a:p>
            <a:pPr marL="0" indent="0">
              <a:buNone/>
            </a:pPr>
            <a:endParaRPr lang="en-US" sz="4600" dirty="0"/>
          </a:p>
        </p:txBody>
      </p:sp>
      <p:sp>
        <p:nvSpPr>
          <p:cNvPr id="3" name="Text 0"/>
          <p:cNvSpPr>
            <a:spLocks noGrp="1"/>
          </p:cNvSpPr>
          <p:nvPr>
            <p:ph type="body" idx="101" hasCustomPrompt="1"/>
          </p:nvPr>
        </p:nvSpPr>
        <p:spPr>
          <a:xfrm>
            <a:off x="548640" y="2834640"/>
            <a:ext cx="4937760" cy="822960"/>
          </a:xfrm>
          <a:prstGeom prst="rect">
            <a:avLst/>
          </a:prstGeom>
          <a:noFill/>
          <a:ln/>
        </p:spPr>
        <p:txBody>
          <a:bodyPr wrap="square" rtlCol="0"/>
          <a:lstStyle>
            <a:lvl1pPr marL="0" indent="0">
              <a:buNone/>
              <a:defRPr lang="en-US" sz="1800" dirty="0">
                <a:solidFill>
                  <a:srgbClr val="CADCEB"/>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buNone/>
              <a:defRPr lang="en-US" sz="3400" b="1" dirty="0">
                <a:solidFill>
                  <a:srgbClr val="0B1B2B"/>
                </a:solidFill>
              </a:defRPr>
            </a:lvl1pPr>
          </a:lstStyle>
          <a:p>
            <a:pPr marL="0" indent="0">
              <a:buNone/>
            </a:pPr>
            <a:endParaRPr lang="en-US" sz="3400" dirty="0"/>
          </a:p>
        </p:txBody>
      </p:sp>
      <p:sp>
        <p:nvSpPr>
          <p:cNvPr id="3" name="Text 0"/>
          <p:cNvSpPr/>
          <p:nvPr/>
        </p:nvSpPr>
        <p:spPr>
          <a:xfrm>
            <a:off x="457200" y="4754880"/>
            <a:ext cx="2743200" cy="274320"/>
          </a:xfrm>
          <a:prstGeom prst="rect">
            <a:avLst/>
          </a:prstGeom>
          <a:noFill/>
          <a:ln/>
        </p:spPr>
        <p:txBody>
          <a:bodyPr wrap="square" rtlCol="0" anchor="ctr"/>
          <a:lstStyle/>
          <a:p>
            <a:pPr marL="0" indent="0">
              <a:buNone/>
            </a:pPr>
            <a:r>
              <a:rPr lang="en-US" sz="1000" dirty="0">
                <a:solidFill>
                  <a:srgbClr val="5C6B8A"/>
                </a:solidFill>
              </a:rPr>
              <a:t>AR Target Shooter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1B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buNone/>
              <a:defRPr lang="en-US" sz="3400" b="1" dirty="0">
                <a:solidFill>
                  <a:srgbClr val="FFFFFF"/>
                </a:solidFill>
              </a:defRPr>
            </a:lvl1pPr>
          </a:lstStyle>
          <a:p>
            <a:pPr marL="0" indent="0">
              <a:buNone/>
            </a:pPr>
            <a:endParaRPr lang="en-US" sz="3400" dirty="0"/>
          </a:p>
        </p:txBody>
      </p:sp>
      <p:sp>
        <p:nvSpPr>
          <p:cNvPr id="3" name="Text 0"/>
          <p:cNvSpPr/>
          <p:nvPr/>
        </p:nvSpPr>
        <p:spPr>
          <a:xfrm>
            <a:off x="457200" y="4754880"/>
            <a:ext cx="2743200" cy="274320"/>
          </a:xfrm>
          <a:prstGeom prst="rect">
            <a:avLst/>
          </a:prstGeom>
          <a:noFill/>
          <a:ln/>
        </p:spPr>
        <p:txBody>
          <a:bodyPr wrap="square" rtlCol="0" anchor="ctr"/>
          <a:lstStyle/>
          <a:p>
            <a:pPr marL="0" indent="0">
              <a:buNone/>
            </a:pPr>
            <a:r>
              <a:rPr lang="en-US" sz="1000" dirty="0">
                <a:solidFill>
                  <a:srgbClr val="9FB3C8"/>
                </a:solidFill>
              </a:rPr>
              <a:t>AR Target Shooter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120640" cy="1645920"/>
          </a:xfrm>
          <a:prstGeom prst="rect">
            <a:avLst/>
          </a:prstGeom>
          <a:noFill/>
          <a:ln/>
        </p:spPr>
        <p:txBody>
          <a:bodyPr wrap="square" lIns="0" tIns="0" rIns="0" bIns="0" rtlCol="0" anchor="t"/>
          <a:lstStyle/>
          <a:p>
            <a:pPr marL="0" indent="0">
              <a:buNone/>
            </a:pPr>
            <a:r>
              <a:rPr lang="en-US" sz="4600" b="1" dirty="0">
                <a:solidFill>
                  <a:srgbClr val="FFFFFF"/>
                </a:solidFill>
              </a:rPr>
              <a:t>AR Target Shooter</a:t>
            </a:r>
            <a:endParaRPr lang="en-US" sz="4600" dirty="0"/>
          </a:p>
        </p:txBody>
      </p:sp>
      <p:sp>
        <p:nvSpPr>
          <p:cNvPr id="3" name="Text 0"/>
          <p:cNvSpPr>
            <a:spLocks noGrp="1"/>
          </p:cNvSpPr>
          <p:nvPr>
            <p:ph type="body" idx="101" hasCustomPrompt="1"/>
          </p:nvPr>
        </p:nvSpPr>
        <p:spPr>
          <a:xfrm>
            <a:off x="548640" y="2834640"/>
            <a:ext cx="4937760" cy="822960"/>
          </a:xfrm>
          <a:prstGeom prst="rect">
            <a:avLst/>
          </a:prstGeom>
          <a:noFill/>
          <a:ln/>
        </p:spPr>
        <p:txBody>
          <a:bodyPr wrap="square" lIns="0" tIns="0" rIns="0" bIns="0" rtlCol="0" anchor="t"/>
          <a:lstStyle/>
          <a:p>
            <a:pPr marL="0" indent="0">
              <a:buNone/>
            </a:pPr>
            <a:r>
              <a:rPr lang="en-US" sz="1800" dirty="0">
                <a:solidFill>
                  <a:srgbClr val="CADCEB"/>
                </a:solidFill>
              </a:rPr>
              <a:t>Shoot floating virtual targets in your real room using just your phone camera and a tap.</a:t>
            </a:r>
            <a:endParaRPr lang="en-US" sz="1800" dirty="0"/>
          </a:p>
        </p:txBody>
      </p:sp>
      <p:sp>
        <p:nvSpPr>
          <p:cNvPr id="4" name="Chip Unity"/>
          <p:cNvSpPr/>
          <p:nvPr/>
        </p:nvSpPr>
        <p:spPr>
          <a:xfrm>
            <a:off x="548640" y="3749040"/>
            <a:ext cx="822960" cy="329184"/>
          </a:xfrm>
          <a:prstGeom prst="roundRect">
            <a:avLst>
              <a:gd name="adj" fmla="val 47222"/>
            </a:avLst>
          </a:prstGeom>
          <a:solidFill>
            <a:schemeClr val="tx2"/>
          </a:solidFill>
          <a:ln/>
        </p:spPr>
        <p:txBody>
          <a:bodyPr wrap="square" lIns="0" tIns="0" rIns="0" bIns="0" rtlCol="0" anchor="ctr"/>
          <a:lstStyle/>
          <a:p>
            <a:pPr marL="0" indent="0" algn="ctr">
              <a:buNone/>
            </a:pPr>
            <a:r>
              <a:rPr lang="en-US" sz="1200" b="1" dirty="0">
                <a:solidFill>
                  <a:srgbClr val="FFFFFF"/>
                </a:solidFill>
              </a:rPr>
              <a:t>Unity</a:t>
            </a:r>
            <a:endParaRPr lang="en-US" sz="1200" dirty="0"/>
          </a:p>
        </p:txBody>
      </p:sp>
      <p:sp>
        <p:nvSpPr>
          <p:cNvPr id="5" name="Chip AR Foundation"/>
          <p:cNvSpPr/>
          <p:nvPr/>
        </p:nvSpPr>
        <p:spPr>
          <a:xfrm>
            <a:off x="1508760" y="3749040"/>
            <a:ext cx="1417320" cy="329184"/>
          </a:xfrm>
          <a:prstGeom prst="roundRect">
            <a:avLst>
              <a:gd name="adj" fmla="val 47222"/>
            </a:avLst>
          </a:prstGeom>
          <a:solidFill>
            <a:schemeClr val="tx2"/>
          </a:solidFill>
          <a:ln/>
        </p:spPr>
        <p:txBody>
          <a:bodyPr wrap="square" lIns="0" tIns="0" rIns="0" bIns="0" rtlCol="0" anchor="ctr"/>
          <a:lstStyle/>
          <a:p>
            <a:pPr marL="0" indent="0" algn="ctr">
              <a:buNone/>
            </a:pPr>
            <a:r>
              <a:rPr lang="en-US" sz="1200" b="1" dirty="0">
                <a:solidFill>
                  <a:srgbClr val="FFFFFF"/>
                </a:solidFill>
              </a:rPr>
              <a:t>AR Foundation</a:t>
            </a:r>
            <a:endParaRPr lang="en-US" sz="1200" dirty="0"/>
          </a:p>
        </p:txBody>
      </p:sp>
      <p:sp>
        <p:nvSpPr>
          <p:cNvPr id="6" name="Chip ARCore"/>
          <p:cNvSpPr/>
          <p:nvPr/>
        </p:nvSpPr>
        <p:spPr>
          <a:xfrm>
            <a:off x="3063240" y="3749040"/>
            <a:ext cx="914400" cy="329184"/>
          </a:xfrm>
          <a:prstGeom prst="roundRect">
            <a:avLst>
              <a:gd name="adj" fmla="val 47222"/>
            </a:avLst>
          </a:prstGeom>
          <a:solidFill>
            <a:schemeClr val="tx2"/>
          </a:solidFill>
          <a:ln/>
        </p:spPr>
        <p:txBody>
          <a:bodyPr wrap="square" lIns="0" tIns="0" rIns="0" bIns="0" rtlCol="0" anchor="ctr"/>
          <a:lstStyle/>
          <a:p>
            <a:pPr marL="0" indent="0" algn="ctr">
              <a:buNone/>
            </a:pPr>
            <a:r>
              <a:rPr lang="en-US" sz="1200" b="1" dirty="0">
                <a:solidFill>
                  <a:srgbClr val="FFFFFF"/>
                </a:solidFill>
              </a:rPr>
              <a:t>ARCore</a:t>
            </a:r>
            <a:endParaRPr lang="en-US" sz="1200" dirty="0"/>
          </a:p>
        </p:txBody>
      </p:sp>
      <p:sp>
        <p:nvSpPr>
          <p:cNvPr id="7" name="Text 5"/>
          <p:cNvSpPr txBox="1"/>
          <p:nvPr/>
        </p:nvSpPr>
        <p:spPr>
          <a:xfrm>
            <a:off x="548640" y="4343400"/>
            <a:ext cx="1567754" cy="274320"/>
          </a:xfrm>
          <a:prstGeom prst="rect">
            <a:avLst/>
          </a:prstGeom>
          <a:noFill/>
          <a:ln/>
        </p:spPr>
        <p:txBody>
          <a:bodyPr wrap="square" lIns="0" tIns="0" rIns="0" bIns="0" rtlCol="0" anchor="t"/>
          <a:lstStyle/>
          <a:p>
            <a:pPr marL="0" indent="0">
              <a:buNone/>
            </a:pPr>
            <a:r>
              <a:rPr lang="en-US" sz="1200" dirty="0">
                <a:solidFill>
                  <a:srgbClr val="9FB3C8"/>
                </a:solidFill>
              </a:rPr>
              <a:t>Demian(UR23CS7011)  |  </a:t>
            </a:r>
            <a:endParaRPr lang="en-US" sz="1200" dirty="0"/>
          </a:p>
        </p:txBody>
      </p:sp>
      <p:sp>
        <p:nvSpPr>
          <p:cNvPr id="8" name="Phone body"/>
          <p:cNvSpPr/>
          <p:nvPr/>
        </p:nvSpPr>
        <p:spPr>
          <a:xfrm>
            <a:off x="6172200" y="457200"/>
            <a:ext cx="2331720" cy="4114800"/>
          </a:xfrm>
          <a:prstGeom prst="roundRect">
            <a:avLst>
              <a:gd name="adj" fmla="val 10980"/>
            </a:avLst>
          </a:prstGeom>
          <a:solidFill>
            <a:srgbClr val="1B2735"/>
          </a:solidFill>
          <a:ln w="19050">
            <a:solidFill>
              <a:srgbClr val="3C4B5C"/>
            </a:solidFill>
            <a:prstDash val="solid"/>
          </a:ln>
        </p:spPr>
        <p:txBody>
          <a:bodyPr/>
          <a:lstStyle/>
          <a:p>
            <a:endParaRPr lang="en-IN"/>
          </a:p>
        </p:txBody>
      </p:sp>
      <p:sp>
        <p:nvSpPr>
          <p:cNvPr id="9" name="Phone screen"/>
          <p:cNvSpPr/>
          <p:nvPr/>
        </p:nvSpPr>
        <p:spPr>
          <a:xfrm>
            <a:off x="6254496" y="539496"/>
            <a:ext cx="2167128" cy="3950208"/>
          </a:xfrm>
          <a:prstGeom prst="roundRect">
            <a:avLst>
              <a:gd name="adj" fmla="val 9283"/>
            </a:avLst>
          </a:prstGeom>
          <a:solidFill>
            <a:srgbClr val="5B6A72"/>
          </a:solidFill>
          <a:ln/>
        </p:spPr>
        <p:txBody>
          <a:bodyPr/>
          <a:lstStyle/>
          <a:p>
            <a:endParaRPr lang="en-IN"/>
          </a:p>
        </p:txBody>
      </p:sp>
      <p:sp>
        <p:nvSpPr>
          <p:cNvPr id="10" name="Detected plane"/>
          <p:cNvSpPr/>
          <p:nvPr/>
        </p:nvSpPr>
        <p:spPr>
          <a:xfrm>
            <a:off x="6362852" y="2988625"/>
            <a:ext cx="1950415" cy="1303569"/>
          </a:xfrm>
          <a:custGeom>
            <a:avLst/>
            <a:gdLst/>
            <a:ahLst/>
            <a:cxnLst/>
            <a:rect l="l" t="t" r="r" b="b"/>
            <a:pathLst>
              <a:path w="1950415" h="1303569">
                <a:moveTo>
                  <a:pt x="390083" y="0"/>
                </a:moveTo>
                <a:lnTo>
                  <a:pt x="1755374" y="0"/>
                </a:lnTo>
                <a:lnTo>
                  <a:pt x="1950415" y="1303569"/>
                </a:lnTo>
                <a:lnTo>
                  <a:pt x="0" y="1303569"/>
                </a:lnTo>
                <a:close/>
              </a:path>
            </a:pathLst>
          </a:custGeom>
          <a:solidFill>
            <a:srgbClr val="FFC83D">
              <a:alpha val="65000"/>
            </a:srgbClr>
          </a:solidFill>
          <a:ln w="19050">
            <a:solidFill>
              <a:srgbClr val="0B1B2B"/>
            </a:solidFill>
            <a:prstDash val="solid"/>
          </a:ln>
        </p:spPr>
        <p:txBody>
          <a:bodyPr/>
          <a:lstStyle/>
          <a:p>
            <a:endParaRPr lang="en-IN"/>
          </a:p>
        </p:txBody>
      </p:sp>
      <p:sp>
        <p:nvSpPr>
          <p:cNvPr id="11" name="Target A outer"/>
          <p:cNvSpPr/>
          <p:nvPr/>
        </p:nvSpPr>
        <p:spPr>
          <a:xfrm>
            <a:off x="6644579" y="1302654"/>
            <a:ext cx="606796" cy="606796"/>
          </a:xfrm>
          <a:prstGeom prst="ellipse">
            <a:avLst/>
          </a:prstGeom>
          <a:solidFill>
            <a:srgbClr val="D9232D"/>
          </a:solidFill>
          <a:ln/>
        </p:spPr>
        <p:txBody>
          <a:bodyPr/>
          <a:lstStyle/>
          <a:p>
            <a:endParaRPr lang="en-IN"/>
          </a:p>
        </p:txBody>
      </p:sp>
      <p:sp>
        <p:nvSpPr>
          <p:cNvPr id="12" name="Target A ring"/>
          <p:cNvSpPr/>
          <p:nvPr/>
        </p:nvSpPr>
        <p:spPr>
          <a:xfrm>
            <a:off x="6747734" y="1405810"/>
            <a:ext cx="400485" cy="400485"/>
          </a:xfrm>
          <a:prstGeom prst="ellipse">
            <a:avLst/>
          </a:prstGeom>
          <a:solidFill>
            <a:srgbClr val="FFFFFF"/>
          </a:solidFill>
          <a:ln/>
        </p:spPr>
        <p:txBody>
          <a:bodyPr/>
          <a:lstStyle/>
          <a:p>
            <a:endParaRPr lang="en-IN"/>
          </a:p>
        </p:txBody>
      </p:sp>
      <p:sp>
        <p:nvSpPr>
          <p:cNvPr id="13" name="Target A centre"/>
          <p:cNvSpPr/>
          <p:nvPr/>
        </p:nvSpPr>
        <p:spPr>
          <a:xfrm>
            <a:off x="6863026" y="1521101"/>
            <a:ext cx="169903" cy="169903"/>
          </a:xfrm>
          <a:prstGeom prst="ellipse">
            <a:avLst/>
          </a:prstGeom>
          <a:solidFill>
            <a:srgbClr val="FFA500"/>
          </a:solidFill>
          <a:ln/>
        </p:spPr>
        <p:txBody>
          <a:bodyPr/>
          <a:lstStyle/>
          <a:p>
            <a:endParaRPr lang="en-IN"/>
          </a:p>
        </p:txBody>
      </p:sp>
      <p:sp>
        <p:nvSpPr>
          <p:cNvPr id="14" name="Target B outer"/>
          <p:cNvSpPr/>
          <p:nvPr/>
        </p:nvSpPr>
        <p:spPr>
          <a:xfrm>
            <a:off x="7598115" y="915314"/>
            <a:ext cx="433426" cy="433426"/>
          </a:xfrm>
          <a:prstGeom prst="ellipse">
            <a:avLst/>
          </a:prstGeom>
          <a:solidFill>
            <a:srgbClr val="D9232D"/>
          </a:solidFill>
          <a:ln/>
        </p:spPr>
        <p:txBody>
          <a:bodyPr/>
          <a:lstStyle/>
          <a:p>
            <a:endParaRPr lang="en-IN"/>
          </a:p>
        </p:txBody>
      </p:sp>
      <p:sp>
        <p:nvSpPr>
          <p:cNvPr id="15" name="Target B ring"/>
          <p:cNvSpPr/>
          <p:nvPr/>
        </p:nvSpPr>
        <p:spPr>
          <a:xfrm>
            <a:off x="7671798" y="988997"/>
            <a:ext cx="286061" cy="286061"/>
          </a:xfrm>
          <a:prstGeom prst="ellipse">
            <a:avLst/>
          </a:prstGeom>
          <a:solidFill>
            <a:srgbClr val="FFFFFF"/>
          </a:solidFill>
          <a:ln/>
        </p:spPr>
        <p:txBody>
          <a:bodyPr/>
          <a:lstStyle/>
          <a:p>
            <a:endParaRPr lang="en-IN"/>
          </a:p>
        </p:txBody>
      </p:sp>
      <p:sp>
        <p:nvSpPr>
          <p:cNvPr id="16" name="Target B centre"/>
          <p:cNvSpPr/>
          <p:nvPr/>
        </p:nvSpPr>
        <p:spPr>
          <a:xfrm>
            <a:off x="7754149" y="1071348"/>
            <a:ext cx="121359" cy="121359"/>
          </a:xfrm>
          <a:prstGeom prst="ellipse">
            <a:avLst/>
          </a:prstGeom>
          <a:solidFill>
            <a:srgbClr val="FFA500"/>
          </a:solidFill>
          <a:ln/>
        </p:spPr>
        <p:txBody>
          <a:bodyPr/>
          <a:lstStyle/>
          <a:p>
            <a:endParaRPr lang="en-IN"/>
          </a:p>
        </p:txBody>
      </p:sp>
      <p:sp>
        <p:nvSpPr>
          <p:cNvPr id="17" name="Target C outer"/>
          <p:cNvSpPr/>
          <p:nvPr/>
        </p:nvSpPr>
        <p:spPr>
          <a:xfrm>
            <a:off x="7543937" y="2093382"/>
            <a:ext cx="368412" cy="368412"/>
          </a:xfrm>
          <a:prstGeom prst="ellipse">
            <a:avLst/>
          </a:prstGeom>
          <a:solidFill>
            <a:srgbClr val="D9232D"/>
          </a:solidFill>
          <a:ln/>
        </p:spPr>
        <p:txBody>
          <a:bodyPr/>
          <a:lstStyle/>
          <a:p>
            <a:endParaRPr lang="en-IN"/>
          </a:p>
        </p:txBody>
      </p:sp>
      <p:sp>
        <p:nvSpPr>
          <p:cNvPr id="18" name="Target C ring"/>
          <p:cNvSpPr/>
          <p:nvPr/>
        </p:nvSpPr>
        <p:spPr>
          <a:xfrm>
            <a:off x="7606567" y="2156012"/>
            <a:ext cx="243152" cy="243152"/>
          </a:xfrm>
          <a:prstGeom prst="ellipse">
            <a:avLst/>
          </a:prstGeom>
          <a:solidFill>
            <a:srgbClr val="FFFFFF"/>
          </a:solidFill>
          <a:ln/>
        </p:spPr>
        <p:txBody>
          <a:bodyPr/>
          <a:lstStyle/>
          <a:p>
            <a:endParaRPr lang="en-IN"/>
          </a:p>
        </p:txBody>
      </p:sp>
      <p:sp>
        <p:nvSpPr>
          <p:cNvPr id="19" name="Target C centre"/>
          <p:cNvSpPr/>
          <p:nvPr/>
        </p:nvSpPr>
        <p:spPr>
          <a:xfrm>
            <a:off x="7676565" y="2226010"/>
            <a:ext cx="103155" cy="103155"/>
          </a:xfrm>
          <a:prstGeom prst="ellipse">
            <a:avLst/>
          </a:prstGeom>
          <a:solidFill>
            <a:srgbClr val="FFA500"/>
          </a:solidFill>
          <a:ln/>
        </p:spPr>
        <p:txBody>
          <a:bodyPr/>
          <a:lstStyle/>
          <a:p>
            <a:endParaRPr lang="en-IN"/>
          </a:p>
        </p:txBody>
      </p:sp>
      <p:sp>
        <p:nvSpPr>
          <p:cNvPr id="20" name="Reticle ring"/>
          <p:cNvSpPr/>
          <p:nvPr/>
        </p:nvSpPr>
        <p:spPr>
          <a:xfrm>
            <a:off x="6947977" y="3540968"/>
            <a:ext cx="563453" cy="238384"/>
          </a:xfrm>
          <a:prstGeom prst="ellipse">
            <a:avLst/>
          </a:prstGeom>
          <a:solidFill>
            <a:srgbClr val="00E5FF"/>
          </a:solidFill>
          <a:ln/>
        </p:spPr>
        <p:txBody>
          <a:bodyPr/>
          <a:lstStyle/>
          <a:p>
            <a:endParaRPr lang="en-IN"/>
          </a:p>
        </p:txBody>
      </p:sp>
      <p:sp>
        <p:nvSpPr>
          <p:cNvPr id="21" name="Reticle inner"/>
          <p:cNvSpPr/>
          <p:nvPr/>
        </p:nvSpPr>
        <p:spPr>
          <a:xfrm>
            <a:off x="7045498" y="3590812"/>
            <a:ext cx="368412" cy="138696"/>
          </a:xfrm>
          <a:prstGeom prst="ellipse">
            <a:avLst/>
          </a:prstGeom>
          <a:solidFill>
            <a:srgbClr val="0B1B2B"/>
          </a:solidFill>
          <a:ln/>
        </p:spPr>
        <p:txBody>
          <a:bodyPr/>
          <a:lstStyle/>
          <a:p>
            <a:endParaRPr lang="en-IN"/>
          </a:p>
        </p:txBody>
      </p:sp>
      <p:sp>
        <p:nvSpPr>
          <p:cNvPr id="22" name="Text 20"/>
          <p:cNvSpPr txBox="1"/>
          <p:nvPr/>
        </p:nvSpPr>
        <p:spPr>
          <a:xfrm>
            <a:off x="6406195" y="658002"/>
            <a:ext cx="1083564" cy="228600"/>
          </a:xfrm>
          <a:prstGeom prst="rect">
            <a:avLst/>
          </a:prstGeom>
          <a:noFill/>
          <a:ln/>
        </p:spPr>
        <p:txBody>
          <a:bodyPr wrap="square" lIns="0" tIns="0" rIns="0" bIns="0" rtlCol="0" anchor="t"/>
          <a:lstStyle/>
          <a:p>
            <a:pPr marL="0" indent="0">
              <a:buNone/>
            </a:pPr>
            <a:r>
              <a:rPr lang="en-US" sz="1100" b="1" dirty="0">
                <a:solidFill>
                  <a:srgbClr val="FFFFFF"/>
                </a:solidFill>
              </a:rPr>
              <a:t>Score 125</a:t>
            </a:r>
            <a:endParaRPr lang="en-US" sz="1100" dirty="0"/>
          </a:p>
        </p:txBody>
      </p:sp>
      <p:sp>
        <p:nvSpPr>
          <p:cNvPr id="23" name="Text 21"/>
          <p:cNvSpPr txBox="1"/>
          <p:nvPr/>
        </p:nvSpPr>
        <p:spPr>
          <a:xfrm>
            <a:off x="7554773" y="658002"/>
            <a:ext cx="715152" cy="228600"/>
          </a:xfrm>
          <a:prstGeom prst="rect">
            <a:avLst/>
          </a:prstGeom>
          <a:noFill/>
          <a:ln/>
        </p:spPr>
        <p:txBody>
          <a:bodyPr wrap="square" lIns="0" tIns="0" rIns="0" bIns="0" rtlCol="0" anchor="t"/>
          <a:lstStyle/>
          <a:p>
            <a:pPr marL="0" indent="0" algn="r">
              <a:buNone/>
            </a:pPr>
            <a:r>
              <a:rPr lang="en-US" sz="1100" b="1" dirty="0">
                <a:solidFill>
                  <a:srgbClr val="FFFFFF"/>
                </a:solidFill>
              </a:rPr>
              <a:t>0:42</a:t>
            </a:r>
            <a:endParaRPr lang="en-US" sz="1100" dirty="0"/>
          </a:p>
        </p:txBody>
      </p:sp>
      <p:sp>
        <p:nvSpPr>
          <p:cNvPr id="24" name="TextBox 23">
            <a:extLst>
              <a:ext uri="{FF2B5EF4-FFF2-40B4-BE49-F238E27FC236}">
                <a16:creationId xmlns:a16="http://schemas.microsoft.com/office/drawing/2014/main" id="{E26EB94B-CD7D-8651-7B3A-5CAD9C6AF9DD}"/>
              </a:ext>
            </a:extLst>
          </p:cNvPr>
          <p:cNvSpPr txBox="1"/>
          <p:nvPr/>
        </p:nvSpPr>
        <p:spPr>
          <a:xfrm>
            <a:off x="2010205" y="4295001"/>
            <a:ext cx="2197510" cy="276999"/>
          </a:xfrm>
          <a:prstGeom prst="rect">
            <a:avLst/>
          </a:prstGeom>
          <a:noFill/>
        </p:spPr>
        <p:txBody>
          <a:bodyPr wrap="square" rtlCol="0">
            <a:spAutoFit/>
          </a:bodyPr>
          <a:lstStyle/>
          <a:p>
            <a:r>
              <a:rPr lang="en-US" sz="1200" dirty="0">
                <a:solidFill>
                  <a:srgbClr val="9FB3C8"/>
                </a:solidFill>
              </a:rPr>
              <a:t>Nithya(UR23CS7004)</a:t>
            </a:r>
            <a:endParaRPr lang="en-IN" sz="1200" dirty="0"/>
          </a:p>
        </p:txBody>
      </p:sp>
      <p:sp>
        <p:nvSpPr>
          <p:cNvPr id="26" name="TextBox 25">
            <a:extLst>
              <a:ext uri="{FF2B5EF4-FFF2-40B4-BE49-F238E27FC236}">
                <a16:creationId xmlns:a16="http://schemas.microsoft.com/office/drawing/2014/main" id="{70D3BF09-002A-D08F-CB06-F3FC9B491D08}"/>
              </a:ext>
            </a:extLst>
          </p:cNvPr>
          <p:cNvSpPr txBox="1"/>
          <p:nvPr/>
        </p:nvSpPr>
        <p:spPr>
          <a:xfrm>
            <a:off x="3450385" y="4292194"/>
            <a:ext cx="2197510" cy="276999"/>
          </a:xfrm>
          <a:prstGeom prst="rect">
            <a:avLst/>
          </a:prstGeom>
          <a:noFill/>
        </p:spPr>
        <p:txBody>
          <a:bodyPr wrap="square" rtlCol="0">
            <a:spAutoFit/>
          </a:bodyPr>
          <a:lstStyle/>
          <a:p>
            <a:r>
              <a:rPr lang="en-US" sz="1200" dirty="0">
                <a:solidFill>
                  <a:srgbClr val="9FB3C8"/>
                </a:solidFill>
              </a:rPr>
              <a:t>G vasu(UR23CS7130)</a:t>
            </a:r>
            <a:endParaRPr lang="en-IN"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The Idea</a:t>
            </a:r>
            <a:endParaRPr lang="en-US" sz="3400" dirty="0"/>
          </a:p>
        </p:txBody>
      </p:sp>
      <p:sp>
        <p:nvSpPr>
          <p:cNvPr id="3" name="Idea 1 circle"/>
          <p:cNvSpPr/>
          <p:nvPr/>
        </p:nvSpPr>
        <p:spPr>
          <a:xfrm>
            <a:off x="457200" y="1371600"/>
            <a:ext cx="731520" cy="731520"/>
          </a:xfrm>
          <a:prstGeom prst="ellipse">
            <a:avLst/>
          </a:prstGeom>
          <a:solidFill>
            <a:schemeClr val="accent1"/>
          </a:solidFill>
          <a:ln/>
        </p:spPr>
        <p:txBody>
          <a:bodyPr/>
          <a:lstStyle/>
          <a:p>
            <a:endParaRPr lang="en-IN"/>
          </a:p>
        </p:txBody>
      </p:sp>
      <p:pic>
        <p:nvPicPr>
          <p:cNvPr id="4" name="Image 0" descr="FaSearch icon"/>
          <p:cNvPicPr>
            <a:picLocks noChangeAspect="1"/>
          </p:cNvPicPr>
          <p:nvPr/>
        </p:nvPicPr>
        <p:blipFill>
          <a:blip r:embed="rId3"/>
          <a:stretch>
            <a:fillRect/>
          </a:stretch>
        </p:blipFill>
        <p:spPr>
          <a:xfrm>
            <a:off x="632765" y="1547165"/>
            <a:ext cx="380390" cy="380390"/>
          </a:xfrm>
          <a:prstGeom prst="rect">
            <a:avLst/>
          </a:prstGeom>
        </p:spPr>
      </p:pic>
      <p:sp>
        <p:nvSpPr>
          <p:cNvPr id="5" name="Text 2"/>
          <p:cNvSpPr txBox="1"/>
          <p:nvPr/>
        </p:nvSpPr>
        <p:spPr>
          <a:xfrm>
            <a:off x="1371600" y="1353312"/>
            <a:ext cx="4114800" cy="365760"/>
          </a:xfrm>
          <a:prstGeom prst="rect">
            <a:avLst/>
          </a:prstGeom>
          <a:noFill/>
          <a:ln/>
        </p:spPr>
        <p:txBody>
          <a:bodyPr wrap="square" lIns="0" tIns="0" rIns="0" bIns="0" rtlCol="0" anchor="t"/>
          <a:lstStyle/>
          <a:p>
            <a:pPr marL="0" indent="0">
              <a:buNone/>
            </a:pPr>
            <a:r>
              <a:rPr lang="en-US" sz="2200" b="1" dirty="0">
                <a:solidFill>
                  <a:schemeClr val="tx1"/>
                </a:solidFill>
              </a:rPr>
              <a:t>Scan the room</a:t>
            </a:r>
            <a:endParaRPr lang="en-US" sz="2200" dirty="0"/>
          </a:p>
        </p:txBody>
      </p:sp>
      <p:sp>
        <p:nvSpPr>
          <p:cNvPr id="6" name="Text 3"/>
          <p:cNvSpPr txBox="1"/>
          <p:nvPr/>
        </p:nvSpPr>
        <p:spPr>
          <a:xfrm>
            <a:off x="1371600" y="1755648"/>
            <a:ext cx="4114800" cy="457200"/>
          </a:xfrm>
          <a:prstGeom prst="rect">
            <a:avLst/>
          </a:prstGeom>
          <a:noFill/>
          <a:ln/>
        </p:spPr>
        <p:txBody>
          <a:bodyPr wrap="square" lIns="0" tIns="0" rIns="0" bIns="0" rtlCol="0" anchor="t"/>
          <a:lstStyle/>
          <a:p>
            <a:pPr marL="0" indent="0">
              <a:buNone/>
            </a:pPr>
            <a:r>
              <a:rPr lang="en-US" sz="1600" dirty="0">
                <a:solidFill>
                  <a:schemeClr val="accent5"/>
                </a:solidFill>
              </a:rPr>
              <a:t>The phone camera finds floors and walls.</a:t>
            </a:r>
            <a:endParaRPr lang="en-US" sz="1600" dirty="0"/>
          </a:p>
        </p:txBody>
      </p:sp>
      <p:sp>
        <p:nvSpPr>
          <p:cNvPr id="7" name="Idea 2 circle"/>
          <p:cNvSpPr/>
          <p:nvPr/>
        </p:nvSpPr>
        <p:spPr>
          <a:xfrm>
            <a:off x="457200" y="2468880"/>
            <a:ext cx="731520" cy="731520"/>
          </a:xfrm>
          <a:prstGeom prst="ellipse">
            <a:avLst/>
          </a:prstGeom>
          <a:solidFill>
            <a:schemeClr val="accent1"/>
          </a:solidFill>
          <a:ln/>
        </p:spPr>
        <p:txBody>
          <a:bodyPr/>
          <a:lstStyle/>
          <a:p>
            <a:endParaRPr lang="en-IN"/>
          </a:p>
        </p:txBody>
      </p:sp>
      <p:pic>
        <p:nvPicPr>
          <p:cNvPr id="8" name="Image 1" descr="FaBullseye icon"/>
          <p:cNvPicPr>
            <a:picLocks noChangeAspect="1"/>
          </p:cNvPicPr>
          <p:nvPr/>
        </p:nvPicPr>
        <p:blipFill>
          <a:blip r:embed="rId4"/>
          <a:stretch>
            <a:fillRect/>
          </a:stretch>
        </p:blipFill>
        <p:spPr>
          <a:xfrm>
            <a:off x="632765" y="2644445"/>
            <a:ext cx="380390" cy="380390"/>
          </a:xfrm>
          <a:prstGeom prst="rect">
            <a:avLst/>
          </a:prstGeom>
        </p:spPr>
      </p:pic>
      <p:sp>
        <p:nvSpPr>
          <p:cNvPr id="9" name="Text 5"/>
          <p:cNvSpPr txBox="1"/>
          <p:nvPr/>
        </p:nvSpPr>
        <p:spPr>
          <a:xfrm>
            <a:off x="1371600" y="2450592"/>
            <a:ext cx="4114800" cy="365760"/>
          </a:xfrm>
          <a:prstGeom prst="rect">
            <a:avLst/>
          </a:prstGeom>
          <a:noFill/>
          <a:ln/>
        </p:spPr>
        <p:txBody>
          <a:bodyPr wrap="square" lIns="0" tIns="0" rIns="0" bIns="0" rtlCol="0" anchor="t"/>
          <a:lstStyle/>
          <a:p>
            <a:pPr marL="0" indent="0">
              <a:buNone/>
            </a:pPr>
            <a:r>
              <a:rPr lang="en-US" sz="2200" b="1" dirty="0">
                <a:solidFill>
                  <a:schemeClr val="tx1"/>
                </a:solidFill>
              </a:rPr>
              <a:t>Targets appear</a:t>
            </a:r>
            <a:endParaRPr lang="en-US" sz="2200" dirty="0"/>
          </a:p>
        </p:txBody>
      </p:sp>
      <p:sp>
        <p:nvSpPr>
          <p:cNvPr id="10" name="Text 6"/>
          <p:cNvSpPr txBox="1"/>
          <p:nvPr/>
        </p:nvSpPr>
        <p:spPr>
          <a:xfrm>
            <a:off x="1371600" y="2852928"/>
            <a:ext cx="4114800" cy="457200"/>
          </a:xfrm>
          <a:prstGeom prst="rect">
            <a:avLst/>
          </a:prstGeom>
          <a:noFill/>
          <a:ln/>
        </p:spPr>
        <p:txBody>
          <a:bodyPr wrap="square" lIns="0" tIns="0" rIns="0" bIns="0" rtlCol="0" anchor="t"/>
          <a:lstStyle/>
          <a:p>
            <a:pPr marL="0" indent="0">
              <a:buNone/>
            </a:pPr>
            <a:r>
              <a:rPr lang="en-US" sz="1600" dirty="0">
                <a:solidFill>
                  <a:schemeClr val="accent5"/>
                </a:solidFill>
              </a:rPr>
              <a:t>Bullseyes float in the air around you.</a:t>
            </a:r>
            <a:endParaRPr lang="en-US" sz="1600" dirty="0"/>
          </a:p>
        </p:txBody>
      </p:sp>
      <p:sp>
        <p:nvSpPr>
          <p:cNvPr id="11" name="Idea 3 circle"/>
          <p:cNvSpPr/>
          <p:nvPr/>
        </p:nvSpPr>
        <p:spPr>
          <a:xfrm>
            <a:off x="457200" y="3566160"/>
            <a:ext cx="731520" cy="731520"/>
          </a:xfrm>
          <a:prstGeom prst="ellipse">
            <a:avLst/>
          </a:prstGeom>
          <a:solidFill>
            <a:schemeClr val="accent1"/>
          </a:solidFill>
          <a:ln/>
        </p:spPr>
        <p:txBody>
          <a:bodyPr/>
          <a:lstStyle/>
          <a:p>
            <a:endParaRPr lang="en-IN"/>
          </a:p>
        </p:txBody>
      </p:sp>
      <p:pic>
        <p:nvPicPr>
          <p:cNvPr id="12" name="Image 2" descr="FaHandPointer icon"/>
          <p:cNvPicPr>
            <a:picLocks noChangeAspect="1"/>
          </p:cNvPicPr>
          <p:nvPr/>
        </p:nvPicPr>
        <p:blipFill>
          <a:blip r:embed="rId5"/>
          <a:stretch>
            <a:fillRect/>
          </a:stretch>
        </p:blipFill>
        <p:spPr>
          <a:xfrm>
            <a:off x="632765" y="3741725"/>
            <a:ext cx="380390" cy="380390"/>
          </a:xfrm>
          <a:prstGeom prst="rect">
            <a:avLst/>
          </a:prstGeom>
        </p:spPr>
      </p:pic>
      <p:sp>
        <p:nvSpPr>
          <p:cNvPr id="13" name="Text 8"/>
          <p:cNvSpPr txBox="1"/>
          <p:nvPr/>
        </p:nvSpPr>
        <p:spPr>
          <a:xfrm>
            <a:off x="1371600" y="3547872"/>
            <a:ext cx="4114800" cy="365760"/>
          </a:xfrm>
          <a:prstGeom prst="rect">
            <a:avLst/>
          </a:prstGeom>
          <a:noFill/>
          <a:ln/>
        </p:spPr>
        <p:txBody>
          <a:bodyPr wrap="square" lIns="0" tIns="0" rIns="0" bIns="0" rtlCol="0" anchor="t"/>
          <a:lstStyle/>
          <a:p>
            <a:pPr marL="0" indent="0">
              <a:buNone/>
            </a:pPr>
            <a:r>
              <a:rPr lang="en-US" sz="2200" b="1" dirty="0">
                <a:solidFill>
                  <a:schemeClr val="tx1"/>
                </a:solidFill>
              </a:rPr>
              <a:t>Tap to shoot</a:t>
            </a:r>
            <a:endParaRPr lang="en-US" sz="2200" dirty="0"/>
          </a:p>
        </p:txBody>
      </p:sp>
      <p:sp>
        <p:nvSpPr>
          <p:cNvPr id="14" name="Text 9"/>
          <p:cNvSpPr txBox="1"/>
          <p:nvPr/>
        </p:nvSpPr>
        <p:spPr>
          <a:xfrm>
            <a:off x="1371600" y="3950208"/>
            <a:ext cx="4114800" cy="457200"/>
          </a:xfrm>
          <a:prstGeom prst="rect">
            <a:avLst/>
          </a:prstGeom>
          <a:noFill/>
          <a:ln/>
        </p:spPr>
        <p:txBody>
          <a:bodyPr wrap="square" lIns="0" tIns="0" rIns="0" bIns="0" rtlCol="0" anchor="t"/>
          <a:lstStyle/>
          <a:p>
            <a:pPr marL="0" indent="0">
              <a:buNone/>
            </a:pPr>
            <a:r>
              <a:rPr lang="en-US" sz="1600" dirty="0">
                <a:solidFill>
                  <a:schemeClr val="accent5"/>
                </a:solidFill>
              </a:rPr>
              <a:t>Gravity curves each shot toward the target.</a:t>
            </a:r>
            <a:endParaRPr lang="en-US" sz="1600" dirty="0"/>
          </a:p>
        </p:txBody>
      </p:sp>
      <p:sp>
        <p:nvSpPr>
          <p:cNvPr id="15" name="Phone body"/>
          <p:cNvSpPr/>
          <p:nvPr/>
        </p:nvSpPr>
        <p:spPr>
          <a:xfrm>
            <a:off x="6035040" y="1097280"/>
            <a:ext cx="2103120" cy="3611880"/>
          </a:xfrm>
          <a:prstGeom prst="roundRect">
            <a:avLst>
              <a:gd name="adj" fmla="val 12174"/>
            </a:avLst>
          </a:prstGeom>
          <a:solidFill>
            <a:srgbClr val="1B2735"/>
          </a:solidFill>
          <a:ln w="19050">
            <a:solidFill>
              <a:srgbClr val="3C4B5C"/>
            </a:solidFill>
            <a:prstDash val="solid"/>
          </a:ln>
        </p:spPr>
        <p:txBody>
          <a:bodyPr/>
          <a:lstStyle/>
          <a:p>
            <a:endParaRPr lang="en-IN"/>
          </a:p>
        </p:txBody>
      </p:sp>
      <p:sp>
        <p:nvSpPr>
          <p:cNvPr id="16" name="Phone screen"/>
          <p:cNvSpPr/>
          <p:nvPr/>
        </p:nvSpPr>
        <p:spPr>
          <a:xfrm>
            <a:off x="6117336" y="1179576"/>
            <a:ext cx="1938528" cy="3447288"/>
          </a:xfrm>
          <a:prstGeom prst="roundRect">
            <a:avLst>
              <a:gd name="adj" fmla="val 10377"/>
            </a:avLst>
          </a:prstGeom>
          <a:solidFill>
            <a:srgbClr val="5B6A72"/>
          </a:solidFill>
          <a:ln/>
        </p:spPr>
        <p:txBody>
          <a:bodyPr/>
          <a:lstStyle/>
          <a:p>
            <a:endParaRPr lang="en-IN"/>
          </a:p>
        </p:txBody>
      </p:sp>
      <p:sp>
        <p:nvSpPr>
          <p:cNvPr id="17" name="Detected plane"/>
          <p:cNvSpPr/>
          <p:nvPr/>
        </p:nvSpPr>
        <p:spPr>
          <a:xfrm>
            <a:off x="6214262" y="3316895"/>
            <a:ext cx="1744675" cy="1137605"/>
          </a:xfrm>
          <a:custGeom>
            <a:avLst/>
            <a:gdLst/>
            <a:ahLst/>
            <a:cxnLst/>
            <a:rect l="l" t="t" r="r" b="b"/>
            <a:pathLst>
              <a:path w="1744675" h="1137605">
                <a:moveTo>
                  <a:pt x="348935" y="0"/>
                </a:moveTo>
                <a:lnTo>
                  <a:pt x="1570208" y="0"/>
                </a:lnTo>
                <a:lnTo>
                  <a:pt x="1744675" y="1137605"/>
                </a:lnTo>
                <a:lnTo>
                  <a:pt x="0" y="1137605"/>
                </a:lnTo>
                <a:close/>
              </a:path>
            </a:pathLst>
          </a:custGeom>
          <a:solidFill>
            <a:srgbClr val="FFC83D">
              <a:alpha val="65000"/>
            </a:srgbClr>
          </a:solidFill>
          <a:ln w="19050">
            <a:solidFill>
              <a:srgbClr val="0B1B2B"/>
            </a:solidFill>
            <a:prstDash val="solid"/>
          </a:ln>
        </p:spPr>
        <p:txBody>
          <a:bodyPr/>
          <a:lstStyle/>
          <a:p>
            <a:endParaRPr lang="en-IN"/>
          </a:p>
        </p:txBody>
      </p:sp>
      <p:sp>
        <p:nvSpPr>
          <p:cNvPr id="18" name="Target A outer"/>
          <p:cNvSpPr/>
          <p:nvPr/>
        </p:nvSpPr>
        <p:spPr>
          <a:xfrm>
            <a:off x="6466271" y="1838950"/>
            <a:ext cx="542788" cy="542788"/>
          </a:xfrm>
          <a:prstGeom prst="ellipse">
            <a:avLst/>
          </a:prstGeom>
          <a:solidFill>
            <a:srgbClr val="D9232D"/>
          </a:solidFill>
          <a:ln/>
        </p:spPr>
        <p:txBody>
          <a:bodyPr/>
          <a:lstStyle/>
          <a:p>
            <a:endParaRPr lang="en-IN"/>
          </a:p>
        </p:txBody>
      </p:sp>
      <p:sp>
        <p:nvSpPr>
          <p:cNvPr id="19" name="Target A ring"/>
          <p:cNvSpPr/>
          <p:nvPr/>
        </p:nvSpPr>
        <p:spPr>
          <a:xfrm>
            <a:off x="6558545" y="1931224"/>
            <a:ext cx="358240" cy="358240"/>
          </a:xfrm>
          <a:prstGeom prst="ellipse">
            <a:avLst/>
          </a:prstGeom>
          <a:solidFill>
            <a:srgbClr val="FFFFFF"/>
          </a:solidFill>
          <a:ln/>
        </p:spPr>
        <p:txBody>
          <a:bodyPr/>
          <a:lstStyle/>
          <a:p>
            <a:endParaRPr lang="en-IN"/>
          </a:p>
        </p:txBody>
      </p:sp>
      <p:sp>
        <p:nvSpPr>
          <p:cNvPr id="20" name="Target A centre"/>
          <p:cNvSpPr/>
          <p:nvPr/>
        </p:nvSpPr>
        <p:spPr>
          <a:xfrm>
            <a:off x="6661675" y="2034353"/>
            <a:ext cx="151981" cy="151981"/>
          </a:xfrm>
          <a:prstGeom prst="ellipse">
            <a:avLst/>
          </a:prstGeom>
          <a:solidFill>
            <a:srgbClr val="FFA500"/>
          </a:solidFill>
          <a:ln/>
        </p:spPr>
        <p:txBody>
          <a:bodyPr/>
          <a:lstStyle/>
          <a:p>
            <a:endParaRPr lang="en-IN"/>
          </a:p>
        </p:txBody>
      </p:sp>
      <p:sp>
        <p:nvSpPr>
          <p:cNvPr id="21" name="Target B outer"/>
          <p:cNvSpPr/>
          <p:nvPr/>
        </p:nvSpPr>
        <p:spPr>
          <a:xfrm>
            <a:off x="7319223" y="1502816"/>
            <a:ext cx="387706" cy="387706"/>
          </a:xfrm>
          <a:prstGeom prst="ellipse">
            <a:avLst/>
          </a:prstGeom>
          <a:solidFill>
            <a:srgbClr val="D9232D"/>
          </a:solidFill>
          <a:ln/>
        </p:spPr>
        <p:txBody>
          <a:bodyPr/>
          <a:lstStyle/>
          <a:p>
            <a:endParaRPr lang="en-IN"/>
          </a:p>
        </p:txBody>
      </p:sp>
      <p:sp>
        <p:nvSpPr>
          <p:cNvPr id="22" name="Target B ring"/>
          <p:cNvSpPr/>
          <p:nvPr/>
        </p:nvSpPr>
        <p:spPr>
          <a:xfrm>
            <a:off x="7385133" y="1568726"/>
            <a:ext cx="255886" cy="255886"/>
          </a:xfrm>
          <a:prstGeom prst="ellipse">
            <a:avLst/>
          </a:prstGeom>
          <a:solidFill>
            <a:srgbClr val="FFFFFF"/>
          </a:solidFill>
          <a:ln/>
        </p:spPr>
        <p:txBody>
          <a:bodyPr/>
          <a:lstStyle/>
          <a:p>
            <a:endParaRPr lang="en-IN"/>
          </a:p>
        </p:txBody>
      </p:sp>
      <p:sp>
        <p:nvSpPr>
          <p:cNvPr id="23" name="Target B centre"/>
          <p:cNvSpPr/>
          <p:nvPr/>
        </p:nvSpPr>
        <p:spPr>
          <a:xfrm>
            <a:off x="7458797" y="1642390"/>
            <a:ext cx="108558" cy="108558"/>
          </a:xfrm>
          <a:prstGeom prst="ellipse">
            <a:avLst/>
          </a:prstGeom>
          <a:solidFill>
            <a:srgbClr val="FFA500"/>
          </a:solidFill>
          <a:ln/>
        </p:spPr>
        <p:txBody>
          <a:bodyPr/>
          <a:lstStyle/>
          <a:p>
            <a:endParaRPr lang="en-IN"/>
          </a:p>
        </p:txBody>
      </p:sp>
      <p:sp>
        <p:nvSpPr>
          <p:cNvPr id="24" name="Target C outer"/>
          <p:cNvSpPr/>
          <p:nvPr/>
        </p:nvSpPr>
        <p:spPr>
          <a:xfrm>
            <a:off x="7270760" y="2531608"/>
            <a:ext cx="329550" cy="329550"/>
          </a:xfrm>
          <a:prstGeom prst="ellipse">
            <a:avLst/>
          </a:prstGeom>
          <a:solidFill>
            <a:srgbClr val="D9232D"/>
          </a:solidFill>
          <a:ln/>
        </p:spPr>
        <p:txBody>
          <a:bodyPr/>
          <a:lstStyle/>
          <a:p>
            <a:endParaRPr lang="en-IN"/>
          </a:p>
        </p:txBody>
      </p:sp>
      <p:sp>
        <p:nvSpPr>
          <p:cNvPr id="25" name="Target C ring"/>
          <p:cNvSpPr/>
          <p:nvPr/>
        </p:nvSpPr>
        <p:spPr>
          <a:xfrm>
            <a:off x="7326784" y="2587631"/>
            <a:ext cx="217503" cy="217503"/>
          </a:xfrm>
          <a:prstGeom prst="ellipse">
            <a:avLst/>
          </a:prstGeom>
          <a:solidFill>
            <a:srgbClr val="FFFFFF"/>
          </a:solidFill>
          <a:ln/>
        </p:spPr>
        <p:txBody>
          <a:bodyPr/>
          <a:lstStyle/>
          <a:p>
            <a:endParaRPr lang="en-IN"/>
          </a:p>
        </p:txBody>
      </p:sp>
      <p:sp>
        <p:nvSpPr>
          <p:cNvPr id="26" name="Target C centre"/>
          <p:cNvSpPr/>
          <p:nvPr/>
        </p:nvSpPr>
        <p:spPr>
          <a:xfrm>
            <a:off x="7389398" y="2650246"/>
            <a:ext cx="92274" cy="92274"/>
          </a:xfrm>
          <a:prstGeom prst="ellipse">
            <a:avLst/>
          </a:prstGeom>
          <a:solidFill>
            <a:srgbClr val="FFA500"/>
          </a:solidFill>
          <a:ln/>
        </p:spPr>
        <p:txBody>
          <a:bodyPr/>
          <a:lstStyle/>
          <a:p>
            <a:endParaRPr lang="en-IN"/>
          </a:p>
        </p:txBody>
      </p:sp>
      <p:sp>
        <p:nvSpPr>
          <p:cNvPr id="27" name="Reticle ring"/>
          <p:cNvSpPr/>
          <p:nvPr/>
        </p:nvSpPr>
        <p:spPr>
          <a:xfrm>
            <a:off x="6737665" y="3796314"/>
            <a:ext cx="504017" cy="213238"/>
          </a:xfrm>
          <a:prstGeom prst="ellipse">
            <a:avLst/>
          </a:prstGeom>
          <a:solidFill>
            <a:srgbClr val="00E5FF"/>
          </a:solidFill>
          <a:ln/>
        </p:spPr>
        <p:txBody>
          <a:bodyPr/>
          <a:lstStyle/>
          <a:p>
            <a:endParaRPr lang="en-IN"/>
          </a:p>
        </p:txBody>
      </p:sp>
      <p:sp>
        <p:nvSpPr>
          <p:cNvPr id="28" name="Reticle inner"/>
          <p:cNvSpPr/>
          <p:nvPr/>
        </p:nvSpPr>
        <p:spPr>
          <a:xfrm>
            <a:off x="6824899" y="3840901"/>
            <a:ext cx="329550" cy="124066"/>
          </a:xfrm>
          <a:prstGeom prst="ellipse">
            <a:avLst/>
          </a:prstGeom>
          <a:solidFill>
            <a:srgbClr val="0B1B2B"/>
          </a:solidFill>
          <a:ln/>
        </p:spPr>
        <p:txBody>
          <a:bodyPr/>
          <a:lstStyle/>
          <a:p>
            <a:endParaRPr lang="en-IN"/>
          </a:p>
        </p:txBody>
      </p:sp>
      <p:sp>
        <p:nvSpPr>
          <p:cNvPr id="29" name="Text 24"/>
          <p:cNvSpPr txBox="1"/>
          <p:nvPr/>
        </p:nvSpPr>
        <p:spPr>
          <a:xfrm>
            <a:off x="6253033" y="1282995"/>
            <a:ext cx="969264" cy="228600"/>
          </a:xfrm>
          <a:prstGeom prst="rect">
            <a:avLst/>
          </a:prstGeom>
          <a:noFill/>
          <a:ln/>
        </p:spPr>
        <p:txBody>
          <a:bodyPr wrap="square" lIns="0" tIns="0" rIns="0" bIns="0" rtlCol="0" anchor="t"/>
          <a:lstStyle/>
          <a:p>
            <a:pPr marL="0" indent="0">
              <a:buNone/>
            </a:pPr>
            <a:r>
              <a:rPr lang="en-US" sz="1100" b="1" dirty="0">
                <a:solidFill>
                  <a:srgbClr val="FFFFFF"/>
                </a:solidFill>
              </a:rPr>
              <a:t>Score 125</a:t>
            </a:r>
            <a:endParaRPr lang="en-US" sz="1100" dirty="0"/>
          </a:p>
        </p:txBody>
      </p:sp>
      <p:sp>
        <p:nvSpPr>
          <p:cNvPr id="30" name="Text 25"/>
          <p:cNvSpPr txBox="1"/>
          <p:nvPr/>
        </p:nvSpPr>
        <p:spPr>
          <a:xfrm>
            <a:off x="7280453" y="1282995"/>
            <a:ext cx="639714" cy="228600"/>
          </a:xfrm>
          <a:prstGeom prst="rect">
            <a:avLst/>
          </a:prstGeom>
          <a:noFill/>
          <a:ln/>
        </p:spPr>
        <p:txBody>
          <a:bodyPr wrap="square" lIns="0" tIns="0" rIns="0" bIns="0" rtlCol="0" anchor="t"/>
          <a:lstStyle/>
          <a:p>
            <a:pPr marL="0" indent="0" algn="r">
              <a:buNone/>
            </a:pPr>
            <a:r>
              <a:rPr lang="en-US" sz="1100" b="1" dirty="0">
                <a:solidFill>
                  <a:srgbClr val="FFFFFF"/>
                </a:solidFill>
              </a:rPr>
              <a:t>0:42</a:t>
            </a:r>
            <a:endParaRPr lang="en-US" sz="1100" dirty="0"/>
          </a:p>
        </p:txBody>
      </p:sp>
      <p:sp>
        <p:nvSpPr>
          <p:cNvPr id="31" name="Shot trail 1"/>
          <p:cNvSpPr/>
          <p:nvPr/>
        </p:nvSpPr>
        <p:spPr>
          <a:xfrm>
            <a:off x="6937146" y="3944591"/>
            <a:ext cx="84125" cy="84125"/>
          </a:xfrm>
          <a:prstGeom prst="ellipse">
            <a:avLst/>
          </a:prstGeom>
          <a:solidFill>
            <a:srgbClr val="00E5FF"/>
          </a:solidFill>
          <a:ln/>
        </p:spPr>
        <p:txBody>
          <a:bodyPr/>
          <a:lstStyle/>
          <a:p>
            <a:endParaRPr lang="en-IN"/>
          </a:p>
        </p:txBody>
      </p:sp>
      <p:sp>
        <p:nvSpPr>
          <p:cNvPr id="32" name="Shot trail 2"/>
          <p:cNvSpPr/>
          <p:nvPr/>
        </p:nvSpPr>
        <p:spPr>
          <a:xfrm>
            <a:off x="6845907" y="3652767"/>
            <a:ext cx="76810" cy="76810"/>
          </a:xfrm>
          <a:prstGeom prst="ellipse">
            <a:avLst/>
          </a:prstGeom>
          <a:solidFill>
            <a:srgbClr val="00E5FF"/>
          </a:solidFill>
          <a:ln/>
        </p:spPr>
        <p:txBody>
          <a:bodyPr/>
          <a:lstStyle/>
          <a:p>
            <a:endParaRPr lang="en-IN"/>
          </a:p>
        </p:txBody>
      </p:sp>
      <p:sp>
        <p:nvSpPr>
          <p:cNvPr id="33" name="Shot trail 3"/>
          <p:cNvSpPr/>
          <p:nvPr/>
        </p:nvSpPr>
        <p:spPr>
          <a:xfrm>
            <a:off x="6777181" y="3360943"/>
            <a:ext cx="69494" cy="69494"/>
          </a:xfrm>
          <a:prstGeom prst="ellipse">
            <a:avLst/>
          </a:prstGeom>
          <a:solidFill>
            <a:srgbClr val="00E5FF"/>
          </a:solidFill>
          <a:ln/>
        </p:spPr>
        <p:txBody>
          <a:bodyPr/>
          <a:lstStyle/>
          <a:p>
            <a:endParaRPr lang="en-IN"/>
          </a:p>
        </p:txBody>
      </p:sp>
      <p:sp>
        <p:nvSpPr>
          <p:cNvPr id="34" name="Shot trail 4"/>
          <p:cNvSpPr/>
          <p:nvPr/>
        </p:nvSpPr>
        <p:spPr>
          <a:xfrm>
            <a:off x="6736529" y="3069118"/>
            <a:ext cx="62179" cy="62179"/>
          </a:xfrm>
          <a:prstGeom prst="ellipse">
            <a:avLst/>
          </a:prstGeom>
          <a:solidFill>
            <a:srgbClr val="00E5FF"/>
          </a:solidFill>
          <a:ln/>
        </p:spPr>
        <p:txBody>
          <a:bodyPr/>
          <a:lstStyle/>
          <a:p>
            <a:endParaRPr lang="en-IN"/>
          </a:p>
        </p:txBody>
      </p:sp>
      <p:sp>
        <p:nvSpPr>
          <p:cNvPr id="35" name="Shot trail 5"/>
          <p:cNvSpPr/>
          <p:nvPr/>
        </p:nvSpPr>
        <p:spPr>
          <a:xfrm>
            <a:off x="6723952" y="2777294"/>
            <a:ext cx="54864" cy="54864"/>
          </a:xfrm>
          <a:prstGeom prst="ellipse">
            <a:avLst/>
          </a:prstGeom>
          <a:solidFill>
            <a:srgbClr val="00E5FF"/>
          </a:solidFill>
          <a:ln/>
        </p:spPr>
        <p:txBody>
          <a:bodyPr/>
          <a:lstStyle/>
          <a:p>
            <a:endParaRPr lang="en-IN"/>
          </a:p>
        </p:txBody>
      </p:sp>
      <p:sp>
        <p:nvSpPr>
          <p:cNvPr id="36" name="Shot trail 6"/>
          <p:cNvSpPr/>
          <p:nvPr/>
        </p:nvSpPr>
        <p:spPr>
          <a:xfrm>
            <a:off x="6733888" y="2485470"/>
            <a:ext cx="47549" cy="47549"/>
          </a:xfrm>
          <a:prstGeom prst="ellipse">
            <a:avLst/>
          </a:prstGeom>
          <a:solidFill>
            <a:srgbClr val="00E5FF"/>
          </a:solidFill>
          <a:ln/>
        </p:spPr>
        <p:txBody>
          <a:bodyPr/>
          <a:lstStyle/>
          <a:p>
            <a:endParaRPr lang="en-IN"/>
          </a:p>
        </p:txBody>
      </p:sp>
      <p:sp>
        <p:nvSpPr>
          <p:cNvPr id="3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What It Demonstrates</a:t>
            </a:r>
            <a:endParaRPr lang="en-US" sz="3400" dirty="0"/>
          </a:p>
        </p:txBody>
      </p:sp>
      <p:sp>
        <p:nvSpPr>
          <p:cNvPr id="3" name="Concept card 1"/>
          <p:cNvSpPr/>
          <p:nvPr/>
        </p:nvSpPr>
        <p:spPr>
          <a:xfrm>
            <a:off x="457200" y="1280160"/>
            <a:ext cx="2560320" cy="2514600"/>
          </a:xfrm>
          <a:prstGeom prst="roundRect">
            <a:avLst>
              <a:gd name="adj" fmla="val 4364"/>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4" name="Concept 1 circle"/>
          <p:cNvSpPr/>
          <p:nvPr/>
        </p:nvSpPr>
        <p:spPr>
          <a:xfrm>
            <a:off x="685800" y="1508760"/>
            <a:ext cx="731520" cy="731520"/>
          </a:xfrm>
          <a:prstGeom prst="ellipse">
            <a:avLst/>
          </a:prstGeom>
          <a:solidFill>
            <a:schemeClr val="accent1"/>
          </a:solidFill>
          <a:ln/>
        </p:spPr>
        <p:txBody>
          <a:bodyPr/>
          <a:lstStyle/>
          <a:p>
            <a:endParaRPr lang="en-IN"/>
          </a:p>
        </p:txBody>
      </p:sp>
      <p:pic>
        <p:nvPicPr>
          <p:cNvPr id="5" name="Image 0" descr="FaAtom icon"/>
          <p:cNvPicPr>
            <a:picLocks noChangeAspect="1"/>
          </p:cNvPicPr>
          <p:nvPr/>
        </p:nvPicPr>
        <p:blipFill>
          <a:blip r:embed="rId3"/>
          <a:stretch>
            <a:fillRect/>
          </a:stretch>
        </p:blipFill>
        <p:spPr>
          <a:xfrm>
            <a:off x="861365" y="1684325"/>
            <a:ext cx="380390" cy="380390"/>
          </a:xfrm>
          <a:prstGeom prst="rect">
            <a:avLst/>
          </a:prstGeom>
        </p:spPr>
      </p:pic>
      <p:sp>
        <p:nvSpPr>
          <p:cNvPr id="6" name="Text 3"/>
          <p:cNvSpPr txBox="1"/>
          <p:nvPr/>
        </p:nvSpPr>
        <p:spPr>
          <a:xfrm>
            <a:off x="685800" y="2423160"/>
            <a:ext cx="2148840" cy="365760"/>
          </a:xfrm>
          <a:prstGeom prst="rect">
            <a:avLst/>
          </a:prstGeom>
          <a:noFill/>
          <a:ln/>
        </p:spPr>
        <p:txBody>
          <a:bodyPr wrap="square" lIns="0" tIns="0" rIns="0" bIns="0" rtlCol="0" anchor="t"/>
          <a:lstStyle/>
          <a:p>
            <a:pPr marL="0" indent="0">
              <a:buNone/>
            </a:pPr>
            <a:r>
              <a:rPr lang="en-US" sz="2000" b="1" dirty="0">
                <a:solidFill>
                  <a:schemeClr val="tx1"/>
                </a:solidFill>
              </a:rPr>
              <a:t>Projectile motion</a:t>
            </a:r>
            <a:endParaRPr lang="en-US" sz="2000" dirty="0"/>
          </a:p>
        </p:txBody>
      </p:sp>
      <p:sp>
        <p:nvSpPr>
          <p:cNvPr id="7" name="Text 4"/>
          <p:cNvSpPr txBox="1"/>
          <p:nvPr/>
        </p:nvSpPr>
        <p:spPr>
          <a:xfrm>
            <a:off x="685800" y="2834640"/>
            <a:ext cx="2148840" cy="868680"/>
          </a:xfrm>
          <a:prstGeom prst="rect">
            <a:avLst/>
          </a:prstGeom>
          <a:noFill/>
          <a:ln/>
        </p:spPr>
        <p:txBody>
          <a:bodyPr wrap="square" lIns="0" tIns="0" rIns="0" bIns="0" rtlCol="0" anchor="t"/>
          <a:lstStyle/>
          <a:p>
            <a:pPr marL="0" indent="0">
              <a:buNone/>
            </a:pPr>
            <a:r>
              <a:rPr lang="en-US" sz="1400" dirty="0">
                <a:solidFill>
                  <a:schemeClr val="tx2"/>
                </a:solidFill>
              </a:rPr>
              <a:t>Each shot has speed and gravity, so it flies in a curve called a parabola.</a:t>
            </a:r>
            <a:endParaRPr lang="en-US" sz="1400" dirty="0"/>
          </a:p>
        </p:txBody>
      </p:sp>
      <p:sp>
        <p:nvSpPr>
          <p:cNvPr id="8" name="Concept card 2"/>
          <p:cNvSpPr/>
          <p:nvPr/>
        </p:nvSpPr>
        <p:spPr>
          <a:xfrm>
            <a:off x="3291840" y="1280160"/>
            <a:ext cx="2560320" cy="2514600"/>
          </a:xfrm>
          <a:prstGeom prst="roundRect">
            <a:avLst>
              <a:gd name="adj" fmla="val 4364"/>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9" name="Concept 2 circle"/>
          <p:cNvSpPr/>
          <p:nvPr/>
        </p:nvSpPr>
        <p:spPr>
          <a:xfrm>
            <a:off x="3520440" y="1508760"/>
            <a:ext cx="731520" cy="731520"/>
          </a:xfrm>
          <a:prstGeom prst="ellipse">
            <a:avLst/>
          </a:prstGeom>
          <a:solidFill>
            <a:schemeClr val="accent1"/>
          </a:solidFill>
          <a:ln/>
        </p:spPr>
        <p:txBody>
          <a:bodyPr/>
          <a:lstStyle/>
          <a:p>
            <a:endParaRPr lang="en-IN"/>
          </a:p>
        </p:txBody>
      </p:sp>
      <p:pic>
        <p:nvPicPr>
          <p:cNvPr id="10" name="Image 1" descr="FaCrosshairs icon"/>
          <p:cNvPicPr>
            <a:picLocks noChangeAspect="1"/>
          </p:cNvPicPr>
          <p:nvPr/>
        </p:nvPicPr>
        <p:blipFill>
          <a:blip r:embed="rId4"/>
          <a:stretch>
            <a:fillRect/>
          </a:stretch>
        </p:blipFill>
        <p:spPr>
          <a:xfrm>
            <a:off x="3696005" y="1684325"/>
            <a:ext cx="380390" cy="380390"/>
          </a:xfrm>
          <a:prstGeom prst="rect">
            <a:avLst/>
          </a:prstGeom>
        </p:spPr>
      </p:pic>
      <p:sp>
        <p:nvSpPr>
          <p:cNvPr id="11" name="Text 7"/>
          <p:cNvSpPr txBox="1"/>
          <p:nvPr/>
        </p:nvSpPr>
        <p:spPr>
          <a:xfrm>
            <a:off x="3520440" y="2423160"/>
            <a:ext cx="2148840" cy="365760"/>
          </a:xfrm>
          <a:prstGeom prst="rect">
            <a:avLst/>
          </a:prstGeom>
          <a:noFill/>
          <a:ln/>
        </p:spPr>
        <p:txBody>
          <a:bodyPr wrap="square" lIns="0" tIns="0" rIns="0" bIns="0" rtlCol="0" anchor="t"/>
          <a:lstStyle/>
          <a:p>
            <a:pPr marL="0" indent="0">
              <a:buNone/>
            </a:pPr>
            <a:r>
              <a:rPr lang="en-US" sz="2000" b="1" dirty="0">
                <a:solidFill>
                  <a:schemeClr val="tx1"/>
                </a:solidFill>
              </a:rPr>
              <a:t>Collision detection</a:t>
            </a:r>
            <a:endParaRPr lang="en-US" sz="2000" dirty="0"/>
          </a:p>
        </p:txBody>
      </p:sp>
      <p:sp>
        <p:nvSpPr>
          <p:cNvPr id="12" name="Text 8"/>
          <p:cNvSpPr txBox="1"/>
          <p:nvPr/>
        </p:nvSpPr>
        <p:spPr>
          <a:xfrm>
            <a:off x="3520440" y="2834640"/>
            <a:ext cx="2148840" cy="868680"/>
          </a:xfrm>
          <a:prstGeom prst="rect">
            <a:avLst/>
          </a:prstGeom>
          <a:noFill/>
          <a:ln/>
        </p:spPr>
        <p:txBody>
          <a:bodyPr wrap="square" lIns="0" tIns="0" rIns="0" bIns="0" rtlCol="0" anchor="t"/>
          <a:lstStyle/>
          <a:p>
            <a:pPr marL="0" indent="0">
              <a:buNone/>
            </a:pPr>
            <a:r>
              <a:rPr lang="en-US" sz="1400" dirty="0">
                <a:solidFill>
                  <a:schemeClr val="tx2"/>
                </a:solidFill>
              </a:rPr>
              <a:t>Every frame the game checks if a shot touched a target.</a:t>
            </a:r>
            <a:endParaRPr lang="en-US" sz="1400" dirty="0"/>
          </a:p>
        </p:txBody>
      </p:sp>
      <p:sp>
        <p:nvSpPr>
          <p:cNvPr id="13" name="Concept card 3"/>
          <p:cNvSpPr/>
          <p:nvPr/>
        </p:nvSpPr>
        <p:spPr>
          <a:xfrm>
            <a:off x="6126480" y="1280160"/>
            <a:ext cx="2560320" cy="2514600"/>
          </a:xfrm>
          <a:prstGeom prst="roundRect">
            <a:avLst>
              <a:gd name="adj" fmla="val 4364"/>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4" name="Concept 3 circle"/>
          <p:cNvSpPr/>
          <p:nvPr/>
        </p:nvSpPr>
        <p:spPr>
          <a:xfrm>
            <a:off x="6355080" y="1508760"/>
            <a:ext cx="731520" cy="731520"/>
          </a:xfrm>
          <a:prstGeom prst="ellipse">
            <a:avLst/>
          </a:prstGeom>
          <a:solidFill>
            <a:schemeClr val="accent1"/>
          </a:solidFill>
          <a:ln/>
        </p:spPr>
        <p:txBody>
          <a:bodyPr/>
          <a:lstStyle/>
          <a:p>
            <a:endParaRPr lang="en-IN"/>
          </a:p>
        </p:txBody>
      </p:sp>
      <p:pic>
        <p:nvPicPr>
          <p:cNvPr id="15" name="Image 2" descr="FaHandPointer icon"/>
          <p:cNvPicPr>
            <a:picLocks noChangeAspect="1"/>
          </p:cNvPicPr>
          <p:nvPr/>
        </p:nvPicPr>
        <p:blipFill>
          <a:blip r:embed="rId5"/>
          <a:stretch>
            <a:fillRect/>
          </a:stretch>
        </p:blipFill>
        <p:spPr>
          <a:xfrm>
            <a:off x="6530645" y="1684325"/>
            <a:ext cx="380390" cy="380390"/>
          </a:xfrm>
          <a:prstGeom prst="rect">
            <a:avLst/>
          </a:prstGeom>
        </p:spPr>
      </p:pic>
      <p:sp>
        <p:nvSpPr>
          <p:cNvPr id="16" name="Text 11"/>
          <p:cNvSpPr txBox="1"/>
          <p:nvPr/>
        </p:nvSpPr>
        <p:spPr>
          <a:xfrm>
            <a:off x="6355080" y="2423160"/>
            <a:ext cx="2148840" cy="365760"/>
          </a:xfrm>
          <a:prstGeom prst="rect">
            <a:avLst/>
          </a:prstGeom>
          <a:noFill/>
          <a:ln/>
        </p:spPr>
        <p:txBody>
          <a:bodyPr wrap="square" lIns="0" tIns="0" rIns="0" bIns="0" rtlCol="0" anchor="t"/>
          <a:lstStyle/>
          <a:p>
            <a:pPr marL="0" indent="0">
              <a:buNone/>
            </a:pPr>
            <a:r>
              <a:rPr lang="en-US" sz="2000" b="1" dirty="0">
                <a:solidFill>
                  <a:schemeClr val="tx1"/>
                </a:solidFill>
              </a:rPr>
              <a:t>Touch and AR</a:t>
            </a:r>
            <a:endParaRPr lang="en-US" sz="2000" dirty="0"/>
          </a:p>
        </p:txBody>
      </p:sp>
      <p:sp>
        <p:nvSpPr>
          <p:cNvPr id="17" name="Text 12"/>
          <p:cNvSpPr txBox="1"/>
          <p:nvPr/>
        </p:nvSpPr>
        <p:spPr>
          <a:xfrm>
            <a:off x="6355080" y="2834640"/>
            <a:ext cx="2148840" cy="868680"/>
          </a:xfrm>
          <a:prstGeom prst="rect">
            <a:avLst/>
          </a:prstGeom>
          <a:noFill/>
          <a:ln/>
        </p:spPr>
        <p:txBody>
          <a:bodyPr wrap="square" lIns="0" tIns="0" rIns="0" bIns="0" rtlCol="0" anchor="t"/>
          <a:lstStyle/>
          <a:p>
            <a:pPr marL="0" indent="0">
              <a:buNone/>
            </a:pPr>
            <a:r>
              <a:rPr lang="en-US" sz="1400" dirty="0">
                <a:solidFill>
                  <a:schemeClr val="tx2"/>
                </a:solidFill>
              </a:rPr>
              <a:t>A tap aims the shot while the camera view stays in the real world.</a:t>
            </a:r>
            <a:endParaRPr lang="en-US" sz="1400" dirty="0"/>
          </a:p>
        </p:txBody>
      </p:sp>
      <p:sp>
        <p:nvSpPr>
          <p:cNvPr id="18" name="Input and goal strip"/>
          <p:cNvSpPr/>
          <p:nvPr/>
        </p:nvSpPr>
        <p:spPr>
          <a:xfrm>
            <a:off x="457200" y="4023360"/>
            <a:ext cx="8229600" cy="548640"/>
          </a:xfrm>
          <a:prstGeom prst="roundRect">
            <a:avLst>
              <a:gd name="adj" fmla="val 20000"/>
            </a:avLst>
          </a:prstGeom>
          <a:solidFill>
            <a:schemeClr val="tx1"/>
          </a:solidFill>
          <a:ln/>
        </p:spPr>
        <p:txBody>
          <a:bodyPr wrap="square" lIns="0" tIns="0" rIns="0" bIns="0" rtlCol="0" anchor="ctr"/>
          <a:lstStyle/>
          <a:p>
            <a:pPr marL="0" indent="0" algn="ctr">
              <a:buNone/>
            </a:pPr>
            <a:r>
              <a:rPr lang="en-US" sz="1600" b="1" dirty="0">
                <a:solidFill>
                  <a:srgbClr val="FFFFFF"/>
                </a:solidFill>
              </a:rPr>
              <a:t>Input: </a:t>
            </a:r>
            <a:r>
              <a:rPr lang="en-US" sz="1600" dirty="0">
                <a:solidFill>
                  <a:srgbClr val="FFFFFF"/>
                </a:solidFill>
              </a:rPr>
              <a:t>tap / touch        </a:t>
            </a:r>
            <a:r>
              <a:rPr lang="en-US" sz="1600" b="1" dirty="0">
                <a:solidFill>
                  <a:srgbClr val="FFFFFF"/>
                </a:solidFill>
              </a:rPr>
              <a:t>Goal: </a:t>
            </a:r>
            <a:r>
              <a:rPr lang="en-US" sz="1600" dirty="0">
                <a:solidFill>
                  <a:srgbClr val="FFFFFF"/>
                </a:solidFill>
              </a:rPr>
              <a:t>hit floating targets for points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Tools and Technology</a:t>
            </a:r>
            <a:endParaRPr lang="en-US" sz="3400" dirty="0"/>
          </a:p>
        </p:txBody>
      </p:sp>
      <p:sp>
        <p:nvSpPr>
          <p:cNvPr id="3" name="Tool card 1"/>
          <p:cNvSpPr/>
          <p:nvPr/>
        </p:nvSpPr>
        <p:spPr>
          <a:xfrm>
            <a:off x="457200" y="1280160"/>
            <a:ext cx="1920240" cy="1508760"/>
          </a:xfrm>
          <a:prstGeom prst="roundRect">
            <a:avLst>
              <a:gd name="adj" fmla="val 7273"/>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4" name="Tool 1 circle"/>
          <p:cNvSpPr/>
          <p:nvPr/>
        </p:nvSpPr>
        <p:spPr>
          <a:xfrm>
            <a:off x="594360" y="1417320"/>
            <a:ext cx="457200" cy="457200"/>
          </a:xfrm>
          <a:prstGeom prst="ellipse">
            <a:avLst/>
          </a:prstGeom>
          <a:solidFill>
            <a:schemeClr val="accent1"/>
          </a:solidFill>
          <a:ln/>
        </p:spPr>
        <p:txBody>
          <a:bodyPr/>
          <a:lstStyle/>
          <a:p>
            <a:endParaRPr lang="en-IN"/>
          </a:p>
        </p:txBody>
      </p:sp>
      <p:pic>
        <p:nvPicPr>
          <p:cNvPr id="5" name="Image 0" descr="FaGamepad icon"/>
          <p:cNvPicPr>
            <a:picLocks noChangeAspect="1"/>
          </p:cNvPicPr>
          <p:nvPr/>
        </p:nvPicPr>
        <p:blipFill>
          <a:blip r:embed="rId3"/>
          <a:stretch>
            <a:fillRect/>
          </a:stretch>
        </p:blipFill>
        <p:spPr>
          <a:xfrm>
            <a:off x="704088" y="1527048"/>
            <a:ext cx="237744" cy="237744"/>
          </a:xfrm>
          <a:prstGeom prst="rect">
            <a:avLst/>
          </a:prstGeom>
        </p:spPr>
      </p:pic>
      <p:sp>
        <p:nvSpPr>
          <p:cNvPr id="6" name="Text 3"/>
          <p:cNvSpPr txBox="1"/>
          <p:nvPr/>
        </p:nvSpPr>
        <p:spPr>
          <a:xfrm>
            <a:off x="594360" y="1938528"/>
            <a:ext cx="1691640" cy="457200"/>
          </a:xfrm>
          <a:prstGeom prst="rect">
            <a:avLst/>
          </a:prstGeom>
          <a:noFill/>
          <a:ln/>
        </p:spPr>
        <p:txBody>
          <a:bodyPr wrap="square" lIns="0" tIns="0" rIns="0" bIns="0" rtlCol="0" anchor="t"/>
          <a:lstStyle/>
          <a:p>
            <a:pPr marL="0" indent="0">
              <a:buNone/>
            </a:pPr>
            <a:r>
              <a:rPr lang="en-US" sz="1500" b="1" dirty="0">
                <a:solidFill>
                  <a:schemeClr val="tx1"/>
                </a:solidFill>
              </a:rPr>
              <a:t>Unity 6.3 LTS</a:t>
            </a:r>
            <a:endParaRPr lang="en-US" sz="1500" dirty="0"/>
          </a:p>
        </p:txBody>
      </p:sp>
      <p:sp>
        <p:nvSpPr>
          <p:cNvPr id="7" name="Text 4"/>
          <p:cNvSpPr txBox="1"/>
          <p:nvPr/>
        </p:nvSpPr>
        <p:spPr>
          <a:xfrm>
            <a:off x="594360" y="2395728"/>
            <a:ext cx="1691640" cy="320040"/>
          </a:xfrm>
          <a:prstGeom prst="rect">
            <a:avLst/>
          </a:prstGeom>
          <a:noFill/>
          <a:ln/>
        </p:spPr>
        <p:txBody>
          <a:bodyPr wrap="square" lIns="0" tIns="0" rIns="0" bIns="0" rtlCol="0" anchor="t"/>
          <a:lstStyle/>
          <a:p>
            <a:pPr marL="0" indent="0">
              <a:buNone/>
            </a:pPr>
            <a:r>
              <a:rPr lang="en-US" sz="1200" dirty="0">
                <a:solidFill>
                  <a:schemeClr val="tx2"/>
                </a:solidFill>
              </a:rPr>
              <a:t>Game engine and scenes</a:t>
            </a:r>
            <a:endParaRPr lang="en-US" sz="1200" dirty="0"/>
          </a:p>
        </p:txBody>
      </p:sp>
      <p:sp>
        <p:nvSpPr>
          <p:cNvPr id="8" name="Tool card 2"/>
          <p:cNvSpPr/>
          <p:nvPr/>
        </p:nvSpPr>
        <p:spPr>
          <a:xfrm>
            <a:off x="2560320" y="1280160"/>
            <a:ext cx="1920240" cy="1508760"/>
          </a:xfrm>
          <a:prstGeom prst="roundRect">
            <a:avLst>
              <a:gd name="adj" fmla="val 7273"/>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9" name="Tool 2 circle"/>
          <p:cNvSpPr/>
          <p:nvPr/>
        </p:nvSpPr>
        <p:spPr>
          <a:xfrm>
            <a:off x="2697480" y="1417320"/>
            <a:ext cx="457200" cy="457200"/>
          </a:xfrm>
          <a:prstGeom prst="ellipse">
            <a:avLst/>
          </a:prstGeom>
          <a:solidFill>
            <a:schemeClr val="accent1"/>
          </a:solidFill>
          <a:ln/>
        </p:spPr>
        <p:txBody>
          <a:bodyPr/>
          <a:lstStyle/>
          <a:p>
            <a:endParaRPr lang="en-IN"/>
          </a:p>
        </p:txBody>
      </p:sp>
      <p:pic>
        <p:nvPicPr>
          <p:cNvPr id="10" name="Image 1" descr="FaCamera icon"/>
          <p:cNvPicPr>
            <a:picLocks noChangeAspect="1"/>
          </p:cNvPicPr>
          <p:nvPr/>
        </p:nvPicPr>
        <p:blipFill>
          <a:blip r:embed="rId4"/>
          <a:stretch>
            <a:fillRect/>
          </a:stretch>
        </p:blipFill>
        <p:spPr>
          <a:xfrm>
            <a:off x="2807208" y="1527048"/>
            <a:ext cx="237744" cy="237744"/>
          </a:xfrm>
          <a:prstGeom prst="rect">
            <a:avLst/>
          </a:prstGeom>
        </p:spPr>
      </p:pic>
      <p:sp>
        <p:nvSpPr>
          <p:cNvPr id="11" name="Text 7"/>
          <p:cNvSpPr txBox="1"/>
          <p:nvPr/>
        </p:nvSpPr>
        <p:spPr>
          <a:xfrm>
            <a:off x="2697480" y="1938528"/>
            <a:ext cx="1691640" cy="457200"/>
          </a:xfrm>
          <a:prstGeom prst="rect">
            <a:avLst/>
          </a:prstGeom>
          <a:noFill/>
          <a:ln/>
        </p:spPr>
        <p:txBody>
          <a:bodyPr wrap="square" lIns="0" tIns="0" rIns="0" bIns="0" rtlCol="0" anchor="t"/>
          <a:lstStyle/>
          <a:p>
            <a:pPr marL="0" indent="0">
              <a:buNone/>
            </a:pPr>
            <a:r>
              <a:rPr lang="en-US" sz="1500" b="1" dirty="0">
                <a:solidFill>
                  <a:schemeClr val="tx1"/>
                </a:solidFill>
              </a:rPr>
              <a:t>AR Foundation + ARCore</a:t>
            </a:r>
            <a:endParaRPr lang="en-US" sz="1500" dirty="0"/>
          </a:p>
        </p:txBody>
      </p:sp>
      <p:sp>
        <p:nvSpPr>
          <p:cNvPr id="12" name="Text 8"/>
          <p:cNvSpPr txBox="1"/>
          <p:nvPr/>
        </p:nvSpPr>
        <p:spPr>
          <a:xfrm>
            <a:off x="2697480" y="2395728"/>
            <a:ext cx="1691640" cy="320040"/>
          </a:xfrm>
          <a:prstGeom prst="rect">
            <a:avLst/>
          </a:prstGeom>
          <a:noFill/>
          <a:ln/>
        </p:spPr>
        <p:txBody>
          <a:bodyPr wrap="square" lIns="0" tIns="0" rIns="0" bIns="0" rtlCol="0" anchor="t"/>
          <a:lstStyle/>
          <a:p>
            <a:pPr marL="0" indent="0">
              <a:buNone/>
            </a:pPr>
            <a:r>
              <a:rPr lang="en-US" sz="1200" dirty="0">
                <a:solidFill>
                  <a:schemeClr val="tx2"/>
                </a:solidFill>
              </a:rPr>
              <a:t>Finds floors and walls</a:t>
            </a:r>
            <a:endParaRPr lang="en-US" sz="1200" dirty="0"/>
          </a:p>
        </p:txBody>
      </p:sp>
      <p:sp>
        <p:nvSpPr>
          <p:cNvPr id="13" name="Tool card 3"/>
          <p:cNvSpPr/>
          <p:nvPr/>
        </p:nvSpPr>
        <p:spPr>
          <a:xfrm>
            <a:off x="4663440" y="1280160"/>
            <a:ext cx="1920240" cy="1508760"/>
          </a:xfrm>
          <a:prstGeom prst="roundRect">
            <a:avLst>
              <a:gd name="adj" fmla="val 7273"/>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4" name="Tool 3 circle"/>
          <p:cNvSpPr/>
          <p:nvPr/>
        </p:nvSpPr>
        <p:spPr>
          <a:xfrm>
            <a:off x="4800600" y="1417320"/>
            <a:ext cx="457200" cy="457200"/>
          </a:xfrm>
          <a:prstGeom prst="ellipse">
            <a:avLst/>
          </a:prstGeom>
          <a:solidFill>
            <a:schemeClr val="accent1"/>
          </a:solidFill>
          <a:ln/>
        </p:spPr>
        <p:txBody>
          <a:bodyPr/>
          <a:lstStyle/>
          <a:p>
            <a:endParaRPr lang="en-IN"/>
          </a:p>
        </p:txBody>
      </p:sp>
      <p:pic>
        <p:nvPicPr>
          <p:cNvPr id="15" name="Image 2" descr="FaPalette icon"/>
          <p:cNvPicPr>
            <a:picLocks noChangeAspect="1"/>
          </p:cNvPicPr>
          <p:nvPr/>
        </p:nvPicPr>
        <p:blipFill>
          <a:blip r:embed="rId5"/>
          <a:stretch>
            <a:fillRect/>
          </a:stretch>
        </p:blipFill>
        <p:spPr>
          <a:xfrm>
            <a:off x="4910328" y="1527048"/>
            <a:ext cx="237744" cy="237744"/>
          </a:xfrm>
          <a:prstGeom prst="rect">
            <a:avLst/>
          </a:prstGeom>
        </p:spPr>
      </p:pic>
      <p:sp>
        <p:nvSpPr>
          <p:cNvPr id="16" name="Text 11"/>
          <p:cNvSpPr txBox="1"/>
          <p:nvPr/>
        </p:nvSpPr>
        <p:spPr>
          <a:xfrm>
            <a:off x="4800600" y="1938528"/>
            <a:ext cx="1691640" cy="457200"/>
          </a:xfrm>
          <a:prstGeom prst="rect">
            <a:avLst/>
          </a:prstGeom>
          <a:noFill/>
          <a:ln/>
        </p:spPr>
        <p:txBody>
          <a:bodyPr wrap="square" lIns="0" tIns="0" rIns="0" bIns="0" rtlCol="0" anchor="t"/>
          <a:lstStyle/>
          <a:p>
            <a:pPr marL="0" indent="0">
              <a:buNone/>
            </a:pPr>
            <a:r>
              <a:rPr lang="en-US" sz="1500" b="1" dirty="0">
                <a:solidFill>
                  <a:schemeClr val="tx1"/>
                </a:solidFill>
              </a:rPr>
              <a:t>URP</a:t>
            </a:r>
            <a:endParaRPr lang="en-US" sz="1500" dirty="0"/>
          </a:p>
        </p:txBody>
      </p:sp>
      <p:sp>
        <p:nvSpPr>
          <p:cNvPr id="17" name="Text 12"/>
          <p:cNvSpPr txBox="1"/>
          <p:nvPr/>
        </p:nvSpPr>
        <p:spPr>
          <a:xfrm>
            <a:off x="4800600" y="2395728"/>
            <a:ext cx="1691640" cy="320040"/>
          </a:xfrm>
          <a:prstGeom prst="rect">
            <a:avLst/>
          </a:prstGeom>
          <a:noFill/>
          <a:ln/>
        </p:spPr>
        <p:txBody>
          <a:bodyPr wrap="square" lIns="0" tIns="0" rIns="0" bIns="0" rtlCol="0" anchor="t"/>
          <a:lstStyle/>
          <a:p>
            <a:pPr marL="0" indent="0">
              <a:buNone/>
            </a:pPr>
            <a:r>
              <a:rPr lang="en-US" sz="1200" dirty="0">
                <a:solidFill>
                  <a:schemeClr val="tx2"/>
                </a:solidFill>
              </a:rPr>
              <a:t>Fast graphics on phones</a:t>
            </a:r>
            <a:endParaRPr lang="en-US" sz="1200" dirty="0"/>
          </a:p>
        </p:txBody>
      </p:sp>
      <p:sp>
        <p:nvSpPr>
          <p:cNvPr id="18" name="Tool card 4"/>
          <p:cNvSpPr/>
          <p:nvPr/>
        </p:nvSpPr>
        <p:spPr>
          <a:xfrm>
            <a:off x="6766560" y="1280160"/>
            <a:ext cx="1920240" cy="1508760"/>
          </a:xfrm>
          <a:prstGeom prst="roundRect">
            <a:avLst>
              <a:gd name="adj" fmla="val 7273"/>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9" name="Tool 4 circle"/>
          <p:cNvSpPr/>
          <p:nvPr/>
        </p:nvSpPr>
        <p:spPr>
          <a:xfrm>
            <a:off x="6903720" y="1417320"/>
            <a:ext cx="457200" cy="457200"/>
          </a:xfrm>
          <a:prstGeom prst="ellipse">
            <a:avLst/>
          </a:prstGeom>
          <a:solidFill>
            <a:schemeClr val="accent1"/>
          </a:solidFill>
          <a:ln/>
        </p:spPr>
        <p:txBody>
          <a:bodyPr/>
          <a:lstStyle/>
          <a:p>
            <a:endParaRPr lang="en-IN"/>
          </a:p>
        </p:txBody>
      </p:sp>
      <p:pic>
        <p:nvPicPr>
          <p:cNvPr id="20" name="Image 3" descr="FaHandPointer icon"/>
          <p:cNvPicPr>
            <a:picLocks noChangeAspect="1"/>
          </p:cNvPicPr>
          <p:nvPr/>
        </p:nvPicPr>
        <p:blipFill>
          <a:blip r:embed="rId6"/>
          <a:stretch>
            <a:fillRect/>
          </a:stretch>
        </p:blipFill>
        <p:spPr>
          <a:xfrm>
            <a:off x="7013448" y="1527048"/>
            <a:ext cx="237744" cy="237744"/>
          </a:xfrm>
          <a:prstGeom prst="rect">
            <a:avLst/>
          </a:prstGeom>
        </p:spPr>
      </p:pic>
      <p:sp>
        <p:nvSpPr>
          <p:cNvPr id="21" name="Text 15"/>
          <p:cNvSpPr txBox="1"/>
          <p:nvPr/>
        </p:nvSpPr>
        <p:spPr>
          <a:xfrm>
            <a:off x="6903720" y="1938528"/>
            <a:ext cx="1691640" cy="457200"/>
          </a:xfrm>
          <a:prstGeom prst="rect">
            <a:avLst/>
          </a:prstGeom>
          <a:noFill/>
          <a:ln/>
        </p:spPr>
        <p:txBody>
          <a:bodyPr wrap="square" lIns="0" tIns="0" rIns="0" bIns="0" rtlCol="0" anchor="t"/>
          <a:lstStyle/>
          <a:p>
            <a:pPr marL="0" indent="0">
              <a:buNone/>
            </a:pPr>
            <a:r>
              <a:rPr lang="en-US" sz="1500" b="1" dirty="0">
                <a:solidFill>
                  <a:schemeClr val="tx1"/>
                </a:solidFill>
              </a:rPr>
              <a:t>Input System</a:t>
            </a:r>
            <a:endParaRPr lang="en-US" sz="1500" dirty="0"/>
          </a:p>
        </p:txBody>
      </p:sp>
      <p:sp>
        <p:nvSpPr>
          <p:cNvPr id="22" name="Text 16"/>
          <p:cNvSpPr txBox="1"/>
          <p:nvPr/>
        </p:nvSpPr>
        <p:spPr>
          <a:xfrm>
            <a:off x="6903720" y="2395728"/>
            <a:ext cx="1691640" cy="320040"/>
          </a:xfrm>
          <a:prstGeom prst="rect">
            <a:avLst/>
          </a:prstGeom>
          <a:noFill/>
          <a:ln/>
        </p:spPr>
        <p:txBody>
          <a:bodyPr wrap="square" lIns="0" tIns="0" rIns="0" bIns="0" rtlCol="0" anchor="t"/>
          <a:lstStyle/>
          <a:p>
            <a:pPr marL="0" indent="0">
              <a:buNone/>
            </a:pPr>
            <a:r>
              <a:rPr lang="en-US" sz="1200" dirty="0">
                <a:solidFill>
                  <a:schemeClr val="tx2"/>
                </a:solidFill>
              </a:rPr>
              <a:t>Reads touch taps</a:t>
            </a:r>
            <a:endParaRPr lang="en-US" sz="1200" dirty="0"/>
          </a:p>
        </p:txBody>
      </p:sp>
      <p:sp>
        <p:nvSpPr>
          <p:cNvPr id="23" name="Tool card 5"/>
          <p:cNvSpPr/>
          <p:nvPr/>
        </p:nvSpPr>
        <p:spPr>
          <a:xfrm>
            <a:off x="457200" y="2971800"/>
            <a:ext cx="1920240" cy="1508760"/>
          </a:xfrm>
          <a:prstGeom prst="roundRect">
            <a:avLst>
              <a:gd name="adj" fmla="val 7273"/>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24" name="Tool 5 circle"/>
          <p:cNvSpPr/>
          <p:nvPr/>
        </p:nvSpPr>
        <p:spPr>
          <a:xfrm>
            <a:off x="594360" y="3108960"/>
            <a:ext cx="457200" cy="457200"/>
          </a:xfrm>
          <a:prstGeom prst="ellipse">
            <a:avLst/>
          </a:prstGeom>
          <a:solidFill>
            <a:schemeClr val="accent1"/>
          </a:solidFill>
          <a:ln/>
        </p:spPr>
        <p:txBody>
          <a:bodyPr/>
          <a:lstStyle/>
          <a:p>
            <a:endParaRPr lang="en-IN"/>
          </a:p>
        </p:txBody>
      </p:sp>
      <p:pic>
        <p:nvPicPr>
          <p:cNvPr id="25" name="Image 4" descr="FaCubes icon"/>
          <p:cNvPicPr>
            <a:picLocks noChangeAspect="1"/>
          </p:cNvPicPr>
          <p:nvPr/>
        </p:nvPicPr>
        <p:blipFill>
          <a:blip r:embed="rId7"/>
          <a:stretch>
            <a:fillRect/>
          </a:stretch>
        </p:blipFill>
        <p:spPr>
          <a:xfrm>
            <a:off x="704088" y="3218688"/>
            <a:ext cx="237744" cy="237744"/>
          </a:xfrm>
          <a:prstGeom prst="rect">
            <a:avLst/>
          </a:prstGeom>
        </p:spPr>
      </p:pic>
      <p:sp>
        <p:nvSpPr>
          <p:cNvPr id="26" name="Text 19"/>
          <p:cNvSpPr txBox="1"/>
          <p:nvPr/>
        </p:nvSpPr>
        <p:spPr>
          <a:xfrm>
            <a:off x="594360" y="3630168"/>
            <a:ext cx="1691640" cy="457200"/>
          </a:xfrm>
          <a:prstGeom prst="rect">
            <a:avLst/>
          </a:prstGeom>
          <a:noFill/>
          <a:ln/>
        </p:spPr>
        <p:txBody>
          <a:bodyPr wrap="square" lIns="0" tIns="0" rIns="0" bIns="0" rtlCol="0" anchor="t"/>
          <a:lstStyle/>
          <a:p>
            <a:pPr marL="0" indent="0">
              <a:buNone/>
            </a:pPr>
            <a:r>
              <a:rPr lang="en-US" sz="1500" b="1" dirty="0">
                <a:solidFill>
                  <a:schemeClr val="tx1"/>
                </a:solidFill>
              </a:rPr>
              <a:t>Rigidbody + Raycast</a:t>
            </a:r>
            <a:endParaRPr lang="en-US" sz="1500" dirty="0"/>
          </a:p>
        </p:txBody>
      </p:sp>
      <p:sp>
        <p:nvSpPr>
          <p:cNvPr id="27" name="Text 20"/>
          <p:cNvSpPr txBox="1"/>
          <p:nvPr/>
        </p:nvSpPr>
        <p:spPr>
          <a:xfrm>
            <a:off x="594360" y="4087368"/>
            <a:ext cx="1691640" cy="320040"/>
          </a:xfrm>
          <a:prstGeom prst="rect">
            <a:avLst/>
          </a:prstGeom>
          <a:noFill/>
          <a:ln/>
        </p:spPr>
        <p:txBody>
          <a:bodyPr wrap="square" lIns="0" tIns="0" rIns="0" bIns="0" rtlCol="0" anchor="t"/>
          <a:lstStyle/>
          <a:p>
            <a:pPr marL="0" indent="0">
              <a:buNone/>
            </a:pPr>
            <a:r>
              <a:rPr lang="en-US" sz="1200" dirty="0">
                <a:solidFill>
                  <a:schemeClr val="tx2"/>
                </a:solidFill>
              </a:rPr>
              <a:t>Physics and hit checks</a:t>
            </a:r>
            <a:endParaRPr lang="en-US" sz="1200" dirty="0"/>
          </a:p>
        </p:txBody>
      </p:sp>
      <p:sp>
        <p:nvSpPr>
          <p:cNvPr id="28" name="Tool card 6"/>
          <p:cNvSpPr/>
          <p:nvPr/>
        </p:nvSpPr>
        <p:spPr>
          <a:xfrm>
            <a:off x="2560320" y="2971800"/>
            <a:ext cx="1920240" cy="1508760"/>
          </a:xfrm>
          <a:prstGeom prst="roundRect">
            <a:avLst>
              <a:gd name="adj" fmla="val 7273"/>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29" name="Tool 6 circle"/>
          <p:cNvSpPr/>
          <p:nvPr/>
        </p:nvSpPr>
        <p:spPr>
          <a:xfrm>
            <a:off x="2697480" y="3108960"/>
            <a:ext cx="457200" cy="457200"/>
          </a:xfrm>
          <a:prstGeom prst="ellipse">
            <a:avLst/>
          </a:prstGeom>
          <a:solidFill>
            <a:schemeClr val="accent1"/>
          </a:solidFill>
          <a:ln/>
        </p:spPr>
        <p:txBody>
          <a:bodyPr/>
          <a:lstStyle/>
          <a:p>
            <a:endParaRPr lang="en-IN"/>
          </a:p>
        </p:txBody>
      </p:sp>
      <p:pic>
        <p:nvPicPr>
          <p:cNvPr id="30" name="Image 5" descr="FaFire icon"/>
          <p:cNvPicPr>
            <a:picLocks noChangeAspect="1"/>
          </p:cNvPicPr>
          <p:nvPr/>
        </p:nvPicPr>
        <p:blipFill>
          <a:blip r:embed="rId8"/>
          <a:stretch>
            <a:fillRect/>
          </a:stretch>
        </p:blipFill>
        <p:spPr>
          <a:xfrm>
            <a:off x="2807208" y="3218688"/>
            <a:ext cx="237744" cy="237744"/>
          </a:xfrm>
          <a:prstGeom prst="rect">
            <a:avLst/>
          </a:prstGeom>
        </p:spPr>
      </p:pic>
      <p:sp>
        <p:nvSpPr>
          <p:cNvPr id="31" name="Text 23"/>
          <p:cNvSpPr txBox="1"/>
          <p:nvPr/>
        </p:nvSpPr>
        <p:spPr>
          <a:xfrm>
            <a:off x="2697480" y="3630168"/>
            <a:ext cx="1691640" cy="457200"/>
          </a:xfrm>
          <a:prstGeom prst="rect">
            <a:avLst/>
          </a:prstGeom>
          <a:noFill/>
          <a:ln/>
        </p:spPr>
        <p:txBody>
          <a:bodyPr wrap="square" lIns="0" tIns="0" rIns="0" bIns="0" rtlCol="0" anchor="t"/>
          <a:lstStyle/>
          <a:p>
            <a:pPr marL="0" indent="0">
              <a:buNone/>
            </a:pPr>
            <a:r>
              <a:rPr lang="en-US" sz="1500" b="1" dirty="0">
                <a:solidFill>
                  <a:schemeClr val="tx1"/>
                </a:solidFill>
              </a:rPr>
              <a:t>Particle System</a:t>
            </a:r>
            <a:endParaRPr lang="en-US" sz="1500" dirty="0"/>
          </a:p>
        </p:txBody>
      </p:sp>
      <p:sp>
        <p:nvSpPr>
          <p:cNvPr id="32" name="Text 24"/>
          <p:cNvSpPr txBox="1"/>
          <p:nvPr/>
        </p:nvSpPr>
        <p:spPr>
          <a:xfrm>
            <a:off x="2697480" y="4087368"/>
            <a:ext cx="1691640" cy="320040"/>
          </a:xfrm>
          <a:prstGeom prst="rect">
            <a:avLst/>
          </a:prstGeom>
          <a:noFill/>
          <a:ln/>
        </p:spPr>
        <p:txBody>
          <a:bodyPr wrap="square" lIns="0" tIns="0" rIns="0" bIns="0" rtlCol="0" anchor="t"/>
          <a:lstStyle/>
          <a:p>
            <a:pPr marL="0" indent="0">
              <a:buNone/>
            </a:pPr>
            <a:r>
              <a:rPr lang="en-US" sz="1200" dirty="0">
                <a:solidFill>
                  <a:schemeClr val="tx2"/>
                </a:solidFill>
              </a:rPr>
              <a:t>Burst effect on hits</a:t>
            </a:r>
            <a:endParaRPr lang="en-US" sz="1200" dirty="0"/>
          </a:p>
        </p:txBody>
      </p:sp>
      <p:sp>
        <p:nvSpPr>
          <p:cNvPr id="33" name="Tool card 7"/>
          <p:cNvSpPr/>
          <p:nvPr/>
        </p:nvSpPr>
        <p:spPr>
          <a:xfrm>
            <a:off x="4663440" y="2971800"/>
            <a:ext cx="1920240" cy="1508760"/>
          </a:xfrm>
          <a:prstGeom prst="roundRect">
            <a:avLst>
              <a:gd name="adj" fmla="val 7273"/>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34" name="Tool 7 circle"/>
          <p:cNvSpPr/>
          <p:nvPr/>
        </p:nvSpPr>
        <p:spPr>
          <a:xfrm>
            <a:off x="4800600" y="3108960"/>
            <a:ext cx="457200" cy="457200"/>
          </a:xfrm>
          <a:prstGeom prst="ellipse">
            <a:avLst/>
          </a:prstGeom>
          <a:solidFill>
            <a:schemeClr val="accent1"/>
          </a:solidFill>
          <a:ln/>
        </p:spPr>
        <p:txBody>
          <a:bodyPr/>
          <a:lstStyle/>
          <a:p>
            <a:endParaRPr lang="en-IN"/>
          </a:p>
        </p:txBody>
      </p:sp>
      <p:pic>
        <p:nvPicPr>
          <p:cNvPr id="35" name="Image 6" descr="FaRobot icon"/>
          <p:cNvPicPr>
            <a:picLocks noChangeAspect="1"/>
          </p:cNvPicPr>
          <p:nvPr/>
        </p:nvPicPr>
        <p:blipFill>
          <a:blip r:embed="rId9"/>
          <a:stretch>
            <a:fillRect/>
          </a:stretch>
        </p:blipFill>
        <p:spPr>
          <a:xfrm>
            <a:off x="4910328" y="3218688"/>
            <a:ext cx="237744" cy="237744"/>
          </a:xfrm>
          <a:prstGeom prst="rect">
            <a:avLst/>
          </a:prstGeom>
        </p:spPr>
      </p:pic>
      <p:sp>
        <p:nvSpPr>
          <p:cNvPr id="36" name="Text 27"/>
          <p:cNvSpPr txBox="1"/>
          <p:nvPr/>
        </p:nvSpPr>
        <p:spPr>
          <a:xfrm>
            <a:off x="4800600" y="3630168"/>
            <a:ext cx="1691640" cy="457200"/>
          </a:xfrm>
          <a:prstGeom prst="rect">
            <a:avLst/>
          </a:prstGeom>
          <a:noFill/>
          <a:ln/>
        </p:spPr>
        <p:txBody>
          <a:bodyPr wrap="square" lIns="0" tIns="0" rIns="0" bIns="0" rtlCol="0" anchor="t"/>
          <a:lstStyle/>
          <a:p>
            <a:pPr marL="0" indent="0">
              <a:buNone/>
            </a:pPr>
            <a:r>
              <a:rPr lang="en-US" sz="1500" b="1" dirty="0">
                <a:solidFill>
                  <a:schemeClr val="tx1"/>
                </a:solidFill>
              </a:rPr>
              <a:t>Claude Code</a:t>
            </a:r>
            <a:endParaRPr lang="en-US" sz="1500" dirty="0"/>
          </a:p>
        </p:txBody>
      </p:sp>
      <p:sp>
        <p:nvSpPr>
          <p:cNvPr id="37" name="Text 28"/>
          <p:cNvSpPr txBox="1"/>
          <p:nvPr/>
        </p:nvSpPr>
        <p:spPr>
          <a:xfrm>
            <a:off x="4800600" y="4087368"/>
            <a:ext cx="1691640" cy="320040"/>
          </a:xfrm>
          <a:prstGeom prst="rect">
            <a:avLst/>
          </a:prstGeom>
          <a:noFill/>
          <a:ln/>
        </p:spPr>
        <p:txBody>
          <a:bodyPr wrap="square" lIns="0" tIns="0" rIns="0" bIns="0" rtlCol="0" anchor="t"/>
          <a:lstStyle/>
          <a:p>
            <a:pPr marL="0" indent="0">
              <a:buNone/>
            </a:pPr>
            <a:r>
              <a:rPr lang="en-US" sz="1200" dirty="0">
                <a:solidFill>
                  <a:schemeClr val="tx2"/>
                </a:solidFill>
              </a:rPr>
              <a:t>Helps write the C# scripts</a:t>
            </a:r>
            <a:endParaRPr lang="en-US" sz="1200" dirty="0"/>
          </a:p>
        </p:txBody>
      </p:sp>
      <p:sp>
        <p:nvSpPr>
          <p:cNvPr id="38" name="Tool card 8"/>
          <p:cNvSpPr/>
          <p:nvPr/>
        </p:nvSpPr>
        <p:spPr>
          <a:xfrm>
            <a:off x="6766560" y="2971800"/>
            <a:ext cx="1920240" cy="1508760"/>
          </a:xfrm>
          <a:prstGeom prst="roundRect">
            <a:avLst>
              <a:gd name="adj" fmla="val 7273"/>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39" name="Tool 8 circle"/>
          <p:cNvSpPr/>
          <p:nvPr/>
        </p:nvSpPr>
        <p:spPr>
          <a:xfrm>
            <a:off x="6903720" y="3108960"/>
            <a:ext cx="457200" cy="457200"/>
          </a:xfrm>
          <a:prstGeom prst="ellipse">
            <a:avLst/>
          </a:prstGeom>
          <a:solidFill>
            <a:schemeClr val="accent1"/>
          </a:solidFill>
          <a:ln/>
        </p:spPr>
        <p:txBody>
          <a:bodyPr/>
          <a:lstStyle/>
          <a:p>
            <a:endParaRPr lang="en-IN"/>
          </a:p>
        </p:txBody>
      </p:sp>
      <p:pic>
        <p:nvPicPr>
          <p:cNvPr id="40" name="Image 7" descr="FaMobileAlt icon"/>
          <p:cNvPicPr>
            <a:picLocks noChangeAspect="1"/>
          </p:cNvPicPr>
          <p:nvPr/>
        </p:nvPicPr>
        <p:blipFill>
          <a:blip r:embed="rId10"/>
          <a:stretch>
            <a:fillRect/>
          </a:stretch>
        </p:blipFill>
        <p:spPr>
          <a:xfrm>
            <a:off x="7013448" y="3218688"/>
            <a:ext cx="237744" cy="237744"/>
          </a:xfrm>
          <a:prstGeom prst="rect">
            <a:avLst/>
          </a:prstGeom>
        </p:spPr>
      </p:pic>
      <p:sp>
        <p:nvSpPr>
          <p:cNvPr id="41" name="Text 31"/>
          <p:cNvSpPr txBox="1"/>
          <p:nvPr/>
        </p:nvSpPr>
        <p:spPr>
          <a:xfrm>
            <a:off x="6903720" y="3630168"/>
            <a:ext cx="1691640" cy="457200"/>
          </a:xfrm>
          <a:prstGeom prst="rect">
            <a:avLst/>
          </a:prstGeom>
          <a:noFill/>
          <a:ln/>
        </p:spPr>
        <p:txBody>
          <a:bodyPr wrap="square" lIns="0" tIns="0" rIns="0" bIns="0" rtlCol="0" anchor="t"/>
          <a:lstStyle/>
          <a:p>
            <a:pPr marL="0" indent="0">
              <a:buNone/>
            </a:pPr>
            <a:r>
              <a:rPr lang="en-US" sz="1500" b="1" dirty="0">
                <a:solidFill>
                  <a:schemeClr val="tx1"/>
                </a:solidFill>
              </a:rPr>
              <a:t>Galaxy S23 Ultra</a:t>
            </a:r>
            <a:endParaRPr lang="en-US" sz="1500" dirty="0"/>
          </a:p>
        </p:txBody>
      </p:sp>
      <p:sp>
        <p:nvSpPr>
          <p:cNvPr id="42" name="Text 32"/>
          <p:cNvSpPr txBox="1"/>
          <p:nvPr/>
        </p:nvSpPr>
        <p:spPr>
          <a:xfrm>
            <a:off x="6903720" y="4087368"/>
            <a:ext cx="1691640" cy="320040"/>
          </a:xfrm>
          <a:prstGeom prst="rect">
            <a:avLst/>
          </a:prstGeom>
          <a:noFill/>
          <a:ln/>
        </p:spPr>
        <p:txBody>
          <a:bodyPr wrap="square" lIns="0" tIns="0" rIns="0" bIns="0" rtlCol="0" anchor="t"/>
          <a:lstStyle/>
          <a:p>
            <a:pPr marL="0" indent="0">
              <a:buNone/>
            </a:pPr>
            <a:r>
              <a:rPr lang="en-US" sz="1200" dirty="0">
                <a:solidFill>
                  <a:schemeClr val="tx2"/>
                </a:solidFill>
              </a:rPr>
              <a:t>Android test device</a:t>
            </a:r>
            <a:endParaRPr lang="en-US" sz="1200" dirty="0"/>
          </a:p>
        </p:txBody>
      </p:sp>
      <p:sp>
        <p:nvSpPr>
          <p:cNvPr id="4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Built in 7 Phases</a:t>
            </a:r>
            <a:endParaRPr lang="en-US" sz="3400" dirty="0"/>
          </a:p>
        </p:txBody>
      </p:sp>
      <p:sp>
        <p:nvSpPr>
          <p:cNvPr id="3" name="Timeline line"/>
          <p:cNvSpPr/>
          <p:nvPr/>
        </p:nvSpPr>
        <p:spPr>
          <a:xfrm>
            <a:off x="1005840" y="2011680"/>
            <a:ext cx="7132320" cy="0"/>
          </a:xfrm>
          <a:prstGeom prst="line">
            <a:avLst/>
          </a:prstGeom>
          <a:noFill/>
          <a:ln w="25400">
            <a:solidFill>
              <a:schemeClr val="accent5"/>
            </a:solidFill>
            <a:prstDash val="solid"/>
          </a:ln>
        </p:spPr>
        <p:txBody>
          <a:bodyPr/>
          <a:lstStyle/>
          <a:p>
            <a:endParaRPr lang="en-IN"/>
          </a:p>
        </p:txBody>
      </p:sp>
      <p:sp>
        <p:nvSpPr>
          <p:cNvPr id="4" name="Phase 1"/>
          <p:cNvSpPr/>
          <p:nvPr/>
        </p:nvSpPr>
        <p:spPr>
          <a:xfrm>
            <a:off x="724982"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5" name="Text 3"/>
          <p:cNvSpPr txBox="1"/>
          <p:nvPr/>
        </p:nvSpPr>
        <p:spPr>
          <a:xfrm>
            <a:off x="478094" y="2560320"/>
            <a:ext cx="1133856" cy="320040"/>
          </a:xfrm>
          <a:prstGeom prst="rect">
            <a:avLst/>
          </a:prstGeom>
          <a:noFill/>
          <a:ln/>
        </p:spPr>
        <p:txBody>
          <a:bodyPr wrap="square" lIns="0" tIns="0" rIns="0" bIns="0" rtlCol="0" anchor="t"/>
          <a:lstStyle/>
          <a:p>
            <a:pPr marL="0" indent="0" algn="ctr">
              <a:buNone/>
            </a:pPr>
            <a:r>
              <a:rPr lang="en-US" sz="1400" b="1" dirty="0">
                <a:solidFill>
                  <a:schemeClr val="tx1"/>
                </a:solidFill>
              </a:rPr>
              <a:t>Setup</a:t>
            </a:r>
            <a:endParaRPr lang="en-US" sz="1400" dirty="0"/>
          </a:p>
        </p:txBody>
      </p:sp>
      <p:sp>
        <p:nvSpPr>
          <p:cNvPr id="6" name="Text 4"/>
          <p:cNvSpPr txBox="1"/>
          <p:nvPr/>
        </p:nvSpPr>
        <p:spPr>
          <a:xfrm>
            <a:off x="496382" y="2926080"/>
            <a:ext cx="1097280" cy="685800"/>
          </a:xfrm>
          <a:prstGeom prst="rect">
            <a:avLst/>
          </a:prstGeom>
          <a:noFill/>
          <a:ln/>
        </p:spPr>
        <p:txBody>
          <a:bodyPr wrap="square" lIns="0" tIns="0" rIns="0" bIns="0" rtlCol="0" anchor="t"/>
          <a:lstStyle/>
          <a:p>
            <a:pPr marL="0" indent="0" algn="ctr">
              <a:buNone/>
            </a:pPr>
            <a:r>
              <a:rPr lang="en-US" sz="1100" dirty="0">
                <a:solidFill>
                  <a:schemeClr val="tx2"/>
                </a:solidFill>
              </a:rPr>
              <a:t>Project, AR packages, phone build</a:t>
            </a:r>
            <a:endParaRPr lang="en-US" sz="1100" dirty="0"/>
          </a:p>
        </p:txBody>
      </p:sp>
      <p:sp>
        <p:nvSpPr>
          <p:cNvPr id="7" name="Phase 2"/>
          <p:cNvSpPr/>
          <p:nvPr/>
        </p:nvSpPr>
        <p:spPr>
          <a:xfrm>
            <a:off x="1900626"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tx1"/>
                </a:solidFill>
              </a:rPr>
              <a:t>2</a:t>
            </a:r>
            <a:endParaRPr lang="en-US" sz="2200" dirty="0"/>
          </a:p>
        </p:txBody>
      </p:sp>
      <p:sp>
        <p:nvSpPr>
          <p:cNvPr id="8" name="Text 6"/>
          <p:cNvSpPr txBox="1"/>
          <p:nvPr/>
        </p:nvSpPr>
        <p:spPr>
          <a:xfrm>
            <a:off x="1653738" y="2560320"/>
            <a:ext cx="1133856" cy="320040"/>
          </a:xfrm>
          <a:prstGeom prst="rect">
            <a:avLst/>
          </a:prstGeom>
          <a:noFill/>
          <a:ln/>
        </p:spPr>
        <p:txBody>
          <a:bodyPr wrap="square" lIns="0" tIns="0" rIns="0" bIns="0" rtlCol="0" anchor="t"/>
          <a:lstStyle/>
          <a:p>
            <a:pPr marL="0" indent="0" algn="ctr">
              <a:buNone/>
            </a:pPr>
            <a:r>
              <a:rPr lang="en-US" sz="1400" b="1" dirty="0">
                <a:solidFill>
                  <a:schemeClr val="tx1"/>
                </a:solidFill>
              </a:rPr>
              <a:t>Detect</a:t>
            </a:r>
            <a:endParaRPr lang="en-US" sz="1400" dirty="0"/>
          </a:p>
        </p:txBody>
      </p:sp>
      <p:sp>
        <p:nvSpPr>
          <p:cNvPr id="9" name="Text 7"/>
          <p:cNvSpPr txBox="1"/>
          <p:nvPr/>
        </p:nvSpPr>
        <p:spPr>
          <a:xfrm>
            <a:off x="1672026" y="2926080"/>
            <a:ext cx="1097280" cy="685800"/>
          </a:xfrm>
          <a:prstGeom prst="rect">
            <a:avLst/>
          </a:prstGeom>
          <a:noFill/>
          <a:ln/>
        </p:spPr>
        <p:txBody>
          <a:bodyPr wrap="square" lIns="0" tIns="0" rIns="0" bIns="0" rtlCol="0" anchor="t"/>
          <a:lstStyle/>
          <a:p>
            <a:pPr marL="0" indent="0" algn="ctr">
              <a:buNone/>
            </a:pPr>
            <a:r>
              <a:rPr lang="en-US" sz="1100" dirty="0">
                <a:solidFill>
                  <a:schemeClr val="tx2"/>
                </a:solidFill>
              </a:rPr>
              <a:t>Planes, reticle, raycast</a:t>
            </a:r>
            <a:endParaRPr lang="en-US" sz="1100" dirty="0"/>
          </a:p>
        </p:txBody>
      </p:sp>
      <p:sp>
        <p:nvSpPr>
          <p:cNvPr id="10" name="Phase 3"/>
          <p:cNvSpPr/>
          <p:nvPr/>
        </p:nvSpPr>
        <p:spPr>
          <a:xfrm>
            <a:off x="3076270"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tx1"/>
                </a:solidFill>
              </a:rPr>
              <a:t>3</a:t>
            </a:r>
            <a:endParaRPr lang="en-US" sz="2200" dirty="0"/>
          </a:p>
        </p:txBody>
      </p:sp>
      <p:sp>
        <p:nvSpPr>
          <p:cNvPr id="11" name="Text 9"/>
          <p:cNvSpPr txBox="1"/>
          <p:nvPr/>
        </p:nvSpPr>
        <p:spPr>
          <a:xfrm>
            <a:off x="2829382" y="2560320"/>
            <a:ext cx="1133856" cy="320040"/>
          </a:xfrm>
          <a:prstGeom prst="rect">
            <a:avLst/>
          </a:prstGeom>
          <a:noFill/>
          <a:ln/>
        </p:spPr>
        <p:txBody>
          <a:bodyPr wrap="square" lIns="0" tIns="0" rIns="0" bIns="0" rtlCol="0" anchor="t"/>
          <a:lstStyle/>
          <a:p>
            <a:pPr marL="0" indent="0" algn="ctr">
              <a:buNone/>
            </a:pPr>
            <a:r>
              <a:rPr lang="en-US" sz="1400" b="1" dirty="0">
                <a:solidFill>
                  <a:schemeClr val="tx1"/>
                </a:solidFill>
              </a:rPr>
              <a:t>Targets</a:t>
            </a:r>
            <a:endParaRPr lang="en-US" sz="1400" dirty="0"/>
          </a:p>
        </p:txBody>
      </p:sp>
      <p:sp>
        <p:nvSpPr>
          <p:cNvPr id="12" name="Text 10"/>
          <p:cNvSpPr txBox="1"/>
          <p:nvPr/>
        </p:nvSpPr>
        <p:spPr>
          <a:xfrm>
            <a:off x="2847670" y="2926080"/>
            <a:ext cx="1097280" cy="685800"/>
          </a:xfrm>
          <a:prstGeom prst="rect">
            <a:avLst/>
          </a:prstGeom>
          <a:noFill/>
          <a:ln/>
        </p:spPr>
        <p:txBody>
          <a:bodyPr wrap="square" lIns="0" tIns="0" rIns="0" bIns="0" rtlCol="0" anchor="t"/>
          <a:lstStyle/>
          <a:p>
            <a:pPr marL="0" indent="0" algn="ctr">
              <a:buNone/>
            </a:pPr>
            <a:r>
              <a:rPr lang="en-US" sz="1100" dirty="0">
                <a:solidFill>
                  <a:schemeClr val="tx2"/>
                </a:solidFill>
              </a:rPr>
              <a:t>Spawn floating bullseyes</a:t>
            </a:r>
            <a:endParaRPr lang="en-US" sz="1100" dirty="0"/>
          </a:p>
        </p:txBody>
      </p:sp>
      <p:sp>
        <p:nvSpPr>
          <p:cNvPr id="13" name="Phase 4"/>
          <p:cNvSpPr/>
          <p:nvPr/>
        </p:nvSpPr>
        <p:spPr>
          <a:xfrm>
            <a:off x="4251914"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tx1"/>
                </a:solidFill>
              </a:rPr>
              <a:t>4</a:t>
            </a:r>
            <a:endParaRPr lang="en-US" sz="2200" dirty="0"/>
          </a:p>
        </p:txBody>
      </p:sp>
      <p:sp>
        <p:nvSpPr>
          <p:cNvPr id="14" name="Text 12"/>
          <p:cNvSpPr txBox="1"/>
          <p:nvPr/>
        </p:nvSpPr>
        <p:spPr>
          <a:xfrm>
            <a:off x="4005026" y="2560320"/>
            <a:ext cx="1133856" cy="320040"/>
          </a:xfrm>
          <a:prstGeom prst="rect">
            <a:avLst/>
          </a:prstGeom>
          <a:noFill/>
          <a:ln/>
        </p:spPr>
        <p:txBody>
          <a:bodyPr wrap="square" lIns="0" tIns="0" rIns="0" bIns="0" rtlCol="0" anchor="t"/>
          <a:lstStyle/>
          <a:p>
            <a:pPr marL="0" indent="0" algn="ctr">
              <a:buNone/>
            </a:pPr>
            <a:r>
              <a:rPr lang="en-US" sz="1400" b="1" dirty="0">
                <a:solidFill>
                  <a:schemeClr val="tx1"/>
                </a:solidFill>
              </a:rPr>
              <a:t>Shoot</a:t>
            </a:r>
            <a:endParaRPr lang="en-US" sz="1400" dirty="0"/>
          </a:p>
        </p:txBody>
      </p:sp>
      <p:sp>
        <p:nvSpPr>
          <p:cNvPr id="15" name="Text 13"/>
          <p:cNvSpPr txBox="1"/>
          <p:nvPr/>
        </p:nvSpPr>
        <p:spPr>
          <a:xfrm>
            <a:off x="4023314" y="2926080"/>
            <a:ext cx="1097280" cy="685800"/>
          </a:xfrm>
          <a:prstGeom prst="rect">
            <a:avLst/>
          </a:prstGeom>
          <a:noFill/>
          <a:ln/>
        </p:spPr>
        <p:txBody>
          <a:bodyPr wrap="square" lIns="0" tIns="0" rIns="0" bIns="0" rtlCol="0" anchor="t"/>
          <a:lstStyle/>
          <a:p>
            <a:pPr marL="0" indent="0" algn="ctr">
              <a:buNone/>
            </a:pPr>
            <a:r>
              <a:rPr lang="en-US" sz="1100" dirty="0">
                <a:solidFill>
                  <a:schemeClr val="tx2"/>
                </a:solidFill>
              </a:rPr>
              <a:t>Projectile and touch aim</a:t>
            </a:r>
            <a:endParaRPr lang="en-US" sz="1100" dirty="0"/>
          </a:p>
        </p:txBody>
      </p:sp>
      <p:sp>
        <p:nvSpPr>
          <p:cNvPr id="16" name="Phase 5"/>
          <p:cNvSpPr/>
          <p:nvPr/>
        </p:nvSpPr>
        <p:spPr>
          <a:xfrm>
            <a:off x="5427558"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tx1"/>
                </a:solidFill>
              </a:rPr>
              <a:t>5</a:t>
            </a:r>
            <a:endParaRPr lang="en-US" sz="2200" dirty="0"/>
          </a:p>
        </p:txBody>
      </p:sp>
      <p:sp>
        <p:nvSpPr>
          <p:cNvPr id="17" name="Text 15"/>
          <p:cNvSpPr txBox="1"/>
          <p:nvPr/>
        </p:nvSpPr>
        <p:spPr>
          <a:xfrm>
            <a:off x="5180670" y="2560320"/>
            <a:ext cx="1133856" cy="320040"/>
          </a:xfrm>
          <a:prstGeom prst="rect">
            <a:avLst/>
          </a:prstGeom>
          <a:noFill/>
          <a:ln/>
        </p:spPr>
        <p:txBody>
          <a:bodyPr wrap="square" lIns="0" tIns="0" rIns="0" bIns="0" rtlCol="0" anchor="t"/>
          <a:lstStyle/>
          <a:p>
            <a:pPr marL="0" indent="0" algn="ctr">
              <a:buNone/>
            </a:pPr>
            <a:r>
              <a:rPr lang="en-US" sz="1400" b="1" dirty="0">
                <a:solidFill>
                  <a:schemeClr val="tx1"/>
                </a:solidFill>
              </a:rPr>
              <a:t>Hits</a:t>
            </a:r>
            <a:endParaRPr lang="en-US" sz="1400" dirty="0"/>
          </a:p>
        </p:txBody>
      </p:sp>
      <p:sp>
        <p:nvSpPr>
          <p:cNvPr id="18" name="Text 16"/>
          <p:cNvSpPr txBox="1"/>
          <p:nvPr/>
        </p:nvSpPr>
        <p:spPr>
          <a:xfrm>
            <a:off x="5198958" y="2926080"/>
            <a:ext cx="1097280" cy="685800"/>
          </a:xfrm>
          <a:prstGeom prst="rect">
            <a:avLst/>
          </a:prstGeom>
          <a:noFill/>
          <a:ln/>
        </p:spPr>
        <p:txBody>
          <a:bodyPr wrap="square" lIns="0" tIns="0" rIns="0" bIns="0" rtlCol="0" anchor="t"/>
          <a:lstStyle/>
          <a:p>
            <a:pPr marL="0" indent="0" algn="ctr">
              <a:buNone/>
            </a:pPr>
            <a:r>
              <a:rPr lang="en-US" sz="1100" dirty="0">
                <a:solidFill>
                  <a:schemeClr val="tx2"/>
                </a:solidFill>
              </a:rPr>
              <a:t>Collision, score, effects</a:t>
            </a:r>
            <a:endParaRPr lang="en-US" sz="1100" dirty="0"/>
          </a:p>
        </p:txBody>
      </p:sp>
      <p:sp>
        <p:nvSpPr>
          <p:cNvPr id="19" name="Phase 6"/>
          <p:cNvSpPr/>
          <p:nvPr/>
        </p:nvSpPr>
        <p:spPr>
          <a:xfrm>
            <a:off x="6603202"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tx1"/>
                </a:solidFill>
              </a:rPr>
              <a:t>6</a:t>
            </a:r>
            <a:endParaRPr lang="en-US" sz="2200" dirty="0"/>
          </a:p>
        </p:txBody>
      </p:sp>
      <p:sp>
        <p:nvSpPr>
          <p:cNvPr id="20" name="Text 18"/>
          <p:cNvSpPr txBox="1"/>
          <p:nvPr/>
        </p:nvSpPr>
        <p:spPr>
          <a:xfrm>
            <a:off x="6356314" y="2560320"/>
            <a:ext cx="1133856" cy="320040"/>
          </a:xfrm>
          <a:prstGeom prst="rect">
            <a:avLst/>
          </a:prstGeom>
          <a:noFill/>
          <a:ln/>
        </p:spPr>
        <p:txBody>
          <a:bodyPr wrap="square" lIns="0" tIns="0" rIns="0" bIns="0" rtlCol="0" anchor="t"/>
          <a:lstStyle/>
          <a:p>
            <a:pPr marL="0" indent="0" algn="ctr">
              <a:buNone/>
            </a:pPr>
            <a:r>
              <a:rPr lang="en-US" sz="1400" b="1" dirty="0">
                <a:solidFill>
                  <a:schemeClr val="tx1"/>
                </a:solidFill>
              </a:rPr>
              <a:t>Game loop</a:t>
            </a:r>
            <a:endParaRPr lang="en-US" sz="1400" dirty="0"/>
          </a:p>
        </p:txBody>
      </p:sp>
      <p:sp>
        <p:nvSpPr>
          <p:cNvPr id="21" name="Text 19"/>
          <p:cNvSpPr txBox="1"/>
          <p:nvPr/>
        </p:nvSpPr>
        <p:spPr>
          <a:xfrm>
            <a:off x="6374602" y="2926080"/>
            <a:ext cx="1097280" cy="685800"/>
          </a:xfrm>
          <a:prstGeom prst="rect">
            <a:avLst/>
          </a:prstGeom>
          <a:noFill/>
          <a:ln/>
        </p:spPr>
        <p:txBody>
          <a:bodyPr wrap="square" lIns="0" tIns="0" rIns="0" bIns="0" rtlCol="0" anchor="t"/>
          <a:lstStyle/>
          <a:p>
            <a:pPr marL="0" indent="0" algn="ctr">
              <a:buNone/>
            </a:pPr>
            <a:r>
              <a:rPr lang="en-US" sz="1100" dirty="0">
                <a:solidFill>
                  <a:schemeClr val="tx2"/>
                </a:solidFill>
              </a:rPr>
              <a:t>Menu, timer, game over</a:t>
            </a:r>
            <a:endParaRPr lang="en-US" sz="1100" dirty="0"/>
          </a:p>
        </p:txBody>
      </p:sp>
      <p:sp>
        <p:nvSpPr>
          <p:cNvPr id="22" name="Phase 7"/>
          <p:cNvSpPr/>
          <p:nvPr/>
        </p:nvSpPr>
        <p:spPr>
          <a:xfrm>
            <a:off x="7778847" y="1691640"/>
            <a:ext cx="640080" cy="64008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tx1"/>
                </a:solidFill>
              </a:rPr>
              <a:t>7</a:t>
            </a:r>
            <a:endParaRPr lang="en-US" sz="2200" dirty="0"/>
          </a:p>
        </p:txBody>
      </p:sp>
      <p:sp>
        <p:nvSpPr>
          <p:cNvPr id="23" name="Text 21"/>
          <p:cNvSpPr txBox="1"/>
          <p:nvPr/>
        </p:nvSpPr>
        <p:spPr>
          <a:xfrm>
            <a:off x="7531959" y="2560320"/>
            <a:ext cx="1133856" cy="320040"/>
          </a:xfrm>
          <a:prstGeom prst="rect">
            <a:avLst/>
          </a:prstGeom>
          <a:noFill/>
          <a:ln/>
        </p:spPr>
        <p:txBody>
          <a:bodyPr wrap="square" lIns="0" tIns="0" rIns="0" bIns="0" rtlCol="0" anchor="t"/>
          <a:lstStyle/>
          <a:p>
            <a:pPr marL="0" indent="0" algn="ctr">
              <a:buNone/>
            </a:pPr>
            <a:r>
              <a:rPr lang="en-US" sz="1400" b="1" dirty="0">
                <a:solidFill>
                  <a:schemeClr val="tx1"/>
                </a:solidFill>
              </a:rPr>
              <a:t>Polish</a:t>
            </a:r>
            <a:endParaRPr lang="en-US" sz="1400" dirty="0"/>
          </a:p>
        </p:txBody>
      </p:sp>
      <p:sp>
        <p:nvSpPr>
          <p:cNvPr id="24" name="Text 22"/>
          <p:cNvSpPr txBox="1"/>
          <p:nvPr/>
        </p:nvSpPr>
        <p:spPr>
          <a:xfrm>
            <a:off x="7550247" y="2926080"/>
            <a:ext cx="1097280" cy="685800"/>
          </a:xfrm>
          <a:prstGeom prst="rect">
            <a:avLst/>
          </a:prstGeom>
          <a:noFill/>
          <a:ln/>
        </p:spPr>
        <p:txBody>
          <a:bodyPr wrap="square" lIns="0" tIns="0" rIns="0" bIns="0" rtlCol="0" anchor="t"/>
          <a:lstStyle/>
          <a:p>
            <a:pPr marL="0" indent="0" algn="ctr">
              <a:buNone/>
            </a:pPr>
            <a:r>
              <a:rPr lang="en-US" sz="1100" dirty="0">
                <a:solidFill>
                  <a:schemeClr val="tx2"/>
                </a:solidFill>
              </a:rPr>
              <a:t>Pause, errors, release APK</a:t>
            </a:r>
            <a:endParaRPr lang="en-US" sz="1100" dirty="0"/>
          </a:p>
        </p:txBody>
      </p:sp>
      <p:sp>
        <p:nvSpPr>
          <p:cNvPr id="25" name="Workflow banner"/>
          <p:cNvSpPr/>
          <p:nvPr/>
        </p:nvSpPr>
        <p:spPr>
          <a:xfrm>
            <a:off x="457200" y="3840480"/>
            <a:ext cx="8229600" cy="731520"/>
          </a:xfrm>
          <a:prstGeom prst="roundRect">
            <a:avLst>
              <a:gd name="adj" fmla="val 15000"/>
            </a:avLst>
          </a:prstGeom>
          <a:solidFill>
            <a:schemeClr val="bg2"/>
          </a:solidFill>
          <a:ln/>
        </p:spPr>
        <p:txBody>
          <a:bodyPr/>
          <a:lstStyle/>
          <a:p>
            <a:endParaRPr lang="en-IN"/>
          </a:p>
        </p:txBody>
      </p:sp>
      <p:sp>
        <p:nvSpPr>
          <p:cNvPr id="26" name="Workflow code circle"/>
          <p:cNvSpPr/>
          <p:nvPr/>
        </p:nvSpPr>
        <p:spPr>
          <a:xfrm>
            <a:off x="685800" y="3977640"/>
            <a:ext cx="457200" cy="457200"/>
          </a:xfrm>
          <a:prstGeom prst="ellipse">
            <a:avLst/>
          </a:prstGeom>
          <a:solidFill>
            <a:schemeClr val="accent1"/>
          </a:solidFill>
          <a:ln/>
        </p:spPr>
        <p:txBody>
          <a:bodyPr/>
          <a:lstStyle/>
          <a:p>
            <a:endParaRPr lang="en-IN"/>
          </a:p>
        </p:txBody>
      </p:sp>
      <p:pic>
        <p:nvPicPr>
          <p:cNvPr id="27" name="Image 0" descr="FaCode icon"/>
          <p:cNvPicPr>
            <a:picLocks noChangeAspect="1"/>
          </p:cNvPicPr>
          <p:nvPr/>
        </p:nvPicPr>
        <p:blipFill>
          <a:blip r:embed="rId3"/>
          <a:stretch>
            <a:fillRect/>
          </a:stretch>
        </p:blipFill>
        <p:spPr>
          <a:xfrm>
            <a:off x="795528" y="4087368"/>
            <a:ext cx="237744" cy="237744"/>
          </a:xfrm>
          <a:prstGeom prst="rect">
            <a:avLst/>
          </a:prstGeom>
        </p:spPr>
      </p:pic>
      <p:sp>
        <p:nvSpPr>
          <p:cNvPr id="28" name="Text 25"/>
          <p:cNvSpPr txBox="1"/>
          <p:nvPr/>
        </p:nvSpPr>
        <p:spPr>
          <a:xfrm>
            <a:off x="1325880" y="3840480"/>
            <a:ext cx="7223760" cy="731520"/>
          </a:xfrm>
          <a:prstGeom prst="rect">
            <a:avLst/>
          </a:prstGeom>
          <a:noFill/>
          <a:ln/>
        </p:spPr>
        <p:txBody>
          <a:bodyPr wrap="square" lIns="0" tIns="0" rIns="0" bIns="0" rtlCol="0" anchor="ctr"/>
          <a:lstStyle/>
          <a:p>
            <a:pPr marL="0" indent="0">
              <a:buNone/>
            </a:pPr>
            <a:r>
              <a:rPr lang="en-US" sz="1800" b="1" dirty="0">
                <a:solidFill>
                  <a:schemeClr val="tx1"/>
                </a:solidFill>
              </a:rPr>
              <a:t>Every phase:  write code  →  test on the phone  →  commit  →  next phase</a:t>
            </a:r>
            <a:endParaRPr lang="en-US" sz="18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How It Works</a:t>
            </a:r>
            <a:endParaRPr lang="en-US" sz="3400" dirty="0"/>
          </a:p>
        </p:txBody>
      </p:sp>
      <p:sp>
        <p:nvSpPr>
          <p:cNvPr id="3" name="Step card 1"/>
          <p:cNvSpPr/>
          <p:nvPr/>
        </p:nvSpPr>
        <p:spPr>
          <a:xfrm>
            <a:off x="457200" y="1280160"/>
            <a:ext cx="1572768" cy="2788920"/>
          </a:xfrm>
          <a:prstGeom prst="roundRect">
            <a:avLst>
              <a:gd name="adj" fmla="val 6977"/>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4" name="Step 1 circle"/>
          <p:cNvSpPr/>
          <p:nvPr/>
        </p:nvSpPr>
        <p:spPr>
          <a:xfrm>
            <a:off x="594360" y="1444752"/>
            <a:ext cx="640080" cy="640080"/>
          </a:xfrm>
          <a:prstGeom prst="ellipse">
            <a:avLst/>
          </a:prstGeom>
          <a:solidFill>
            <a:schemeClr val="accent1"/>
          </a:solidFill>
          <a:ln/>
        </p:spPr>
        <p:txBody>
          <a:bodyPr/>
          <a:lstStyle/>
          <a:p>
            <a:endParaRPr lang="en-IN"/>
          </a:p>
        </p:txBody>
      </p:sp>
      <p:pic>
        <p:nvPicPr>
          <p:cNvPr id="5" name="Image 0" descr="FaSearch icon"/>
          <p:cNvPicPr>
            <a:picLocks noChangeAspect="1"/>
          </p:cNvPicPr>
          <p:nvPr/>
        </p:nvPicPr>
        <p:blipFill>
          <a:blip r:embed="rId3"/>
          <a:stretch>
            <a:fillRect/>
          </a:stretch>
        </p:blipFill>
        <p:spPr>
          <a:xfrm>
            <a:off x="747979" y="1598371"/>
            <a:ext cx="332842" cy="332842"/>
          </a:xfrm>
          <a:prstGeom prst="rect">
            <a:avLst/>
          </a:prstGeom>
        </p:spPr>
      </p:pic>
      <p:sp>
        <p:nvSpPr>
          <p:cNvPr id="6" name="Text 3"/>
          <p:cNvSpPr txBox="1"/>
          <p:nvPr/>
        </p:nvSpPr>
        <p:spPr>
          <a:xfrm>
            <a:off x="594360" y="2240280"/>
            <a:ext cx="1280160" cy="228600"/>
          </a:xfrm>
          <a:prstGeom prst="rect">
            <a:avLst/>
          </a:prstGeom>
          <a:noFill/>
          <a:ln/>
        </p:spPr>
        <p:txBody>
          <a:bodyPr wrap="square" lIns="0" tIns="0" rIns="0" bIns="0" rtlCol="0" anchor="t"/>
          <a:lstStyle/>
          <a:p>
            <a:pPr marL="0" indent="0">
              <a:buNone/>
            </a:pPr>
            <a:r>
              <a:rPr lang="en-US" sz="1100" b="1" dirty="0">
                <a:solidFill>
                  <a:schemeClr val="accent5"/>
                </a:solidFill>
              </a:rPr>
              <a:t>STEP 1</a:t>
            </a:r>
            <a:endParaRPr lang="en-US" sz="1100" dirty="0"/>
          </a:p>
        </p:txBody>
      </p:sp>
      <p:sp>
        <p:nvSpPr>
          <p:cNvPr id="7" name="Text 4"/>
          <p:cNvSpPr txBox="1"/>
          <p:nvPr/>
        </p:nvSpPr>
        <p:spPr>
          <a:xfrm>
            <a:off x="594360" y="2487168"/>
            <a:ext cx="1325880" cy="548640"/>
          </a:xfrm>
          <a:prstGeom prst="rect">
            <a:avLst/>
          </a:prstGeom>
          <a:noFill/>
          <a:ln/>
        </p:spPr>
        <p:txBody>
          <a:bodyPr wrap="square" lIns="0" tIns="0" rIns="0" bIns="0" rtlCol="0" anchor="t"/>
          <a:lstStyle/>
          <a:p>
            <a:pPr marL="0" indent="0">
              <a:buNone/>
            </a:pPr>
            <a:r>
              <a:rPr lang="en-US" sz="1600" b="1" dirty="0">
                <a:solidFill>
                  <a:schemeClr val="tx1"/>
                </a:solidFill>
              </a:rPr>
              <a:t>Detect environment</a:t>
            </a:r>
            <a:endParaRPr lang="en-US" sz="1600" dirty="0"/>
          </a:p>
        </p:txBody>
      </p:sp>
      <p:sp>
        <p:nvSpPr>
          <p:cNvPr id="8" name="Text 5"/>
          <p:cNvSpPr txBox="1"/>
          <p:nvPr/>
        </p:nvSpPr>
        <p:spPr>
          <a:xfrm>
            <a:off x="594360" y="3108960"/>
            <a:ext cx="1325880" cy="868680"/>
          </a:xfrm>
          <a:prstGeom prst="rect">
            <a:avLst/>
          </a:prstGeom>
          <a:noFill/>
          <a:ln/>
        </p:spPr>
        <p:txBody>
          <a:bodyPr wrap="square" lIns="0" tIns="0" rIns="0" bIns="0" rtlCol="0" anchor="t"/>
          <a:lstStyle/>
          <a:p>
            <a:pPr marL="0" indent="0">
              <a:buNone/>
            </a:pPr>
            <a:r>
              <a:rPr lang="en-US" sz="1200" dirty="0">
                <a:solidFill>
                  <a:schemeClr val="tx2"/>
                </a:solidFill>
              </a:rPr>
              <a:t>ARPlaneManager finds floors and walls.</a:t>
            </a:r>
            <a:endParaRPr lang="en-US" sz="1200" dirty="0"/>
          </a:p>
        </p:txBody>
      </p:sp>
      <p:sp>
        <p:nvSpPr>
          <p:cNvPr id="9" name="Step card 2"/>
          <p:cNvSpPr/>
          <p:nvPr/>
        </p:nvSpPr>
        <p:spPr>
          <a:xfrm>
            <a:off x="2121408" y="1280160"/>
            <a:ext cx="1572768" cy="2788920"/>
          </a:xfrm>
          <a:prstGeom prst="roundRect">
            <a:avLst>
              <a:gd name="adj" fmla="val 6977"/>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0" name="Step 2 circle"/>
          <p:cNvSpPr/>
          <p:nvPr/>
        </p:nvSpPr>
        <p:spPr>
          <a:xfrm>
            <a:off x="2258568" y="1444752"/>
            <a:ext cx="640080" cy="640080"/>
          </a:xfrm>
          <a:prstGeom prst="ellipse">
            <a:avLst/>
          </a:prstGeom>
          <a:solidFill>
            <a:schemeClr val="accent2"/>
          </a:solidFill>
          <a:ln/>
        </p:spPr>
        <p:txBody>
          <a:bodyPr/>
          <a:lstStyle/>
          <a:p>
            <a:endParaRPr lang="en-IN"/>
          </a:p>
        </p:txBody>
      </p:sp>
      <p:pic>
        <p:nvPicPr>
          <p:cNvPr id="11" name="Image 1" descr="FaBullseye icon"/>
          <p:cNvPicPr>
            <a:picLocks noChangeAspect="1"/>
          </p:cNvPicPr>
          <p:nvPr/>
        </p:nvPicPr>
        <p:blipFill>
          <a:blip r:embed="rId4"/>
          <a:stretch>
            <a:fillRect/>
          </a:stretch>
        </p:blipFill>
        <p:spPr>
          <a:xfrm>
            <a:off x="2412187" y="1598371"/>
            <a:ext cx="332842" cy="332842"/>
          </a:xfrm>
          <a:prstGeom prst="rect">
            <a:avLst/>
          </a:prstGeom>
        </p:spPr>
      </p:pic>
      <p:sp>
        <p:nvSpPr>
          <p:cNvPr id="12" name="Text 8"/>
          <p:cNvSpPr txBox="1"/>
          <p:nvPr/>
        </p:nvSpPr>
        <p:spPr>
          <a:xfrm>
            <a:off x="2258568" y="2240280"/>
            <a:ext cx="1280160" cy="228600"/>
          </a:xfrm>
          <a:prstGeom prst="rect">
            <a:avLst/>
          </a:prstGeom>
          <a:noFill/>
          <a:ln/>
        </p:spPr>
        <p:txBody>
          <a:bodyPr wrap="square" lIns="0" tIns="0" rIns="0" bIns="0" rtlCol="0" anchor="t"/>
          <a:lstStyle/>
          <a:p>
            <a:pPr marL="0" indent="0">
              <a:buNone/>
            </a:pPr>
            <a:r>
              <a:rPr lang="en-US" sz="1100" b="1" dirty="0">
                <a:solidFill>
                  <a:schemeClr val="accent5"/>
                </a:solidFill>
              </a:rPr>
              <a:t>STEP 2</a:t>
            </a:r>
            <a:endParaRPr lang="en-US" sz="1100" dirty="0"/>
          </a:p>
        </p:txBody>
      </p:sp>
      <p:sp>
        <p:nvSpPr>
          <p:cNvPr id="13" name="Text 9"/>
          <p:cNvSpPr txBox="1"/>
          <p:nvPr/>
        </p:nvSpPr>
        <p:spPr>
          <a:xfrm>
            <a:off x="2258568" y="2487168"/>
            <a:ext cx="1325880" cy="548640"/>
          </a:xfrm>
          <a:prstGeom prst="rect">
            <a:avLst/>
          </a:prstGeom>
          <a:noFill/>
          <a:ln/>
        </p:spPr>
        <p:txBody>
          <a:bodyPr wrap="square" lIns="0" tIns="0" rIns="0" bIns="0" rtlCol="0" anchor="t"/>
          <a:lstStyle/>
          <a:p>
            <a:pPr marL="0" indent="0">
              <a:buNone/>
            </a:pPr>
            <a:r>
              <a:rPr lang="en-US" sz="1600" b="1" dirty="0">
                <a:solidFill>
                  <a:schemeClr val="tx1"/>
                </a:solidFill>
              </a:rPr>
              <a:t>Generate targets</a:t>
            </a:r>
            <a:endParaRPr lang="en-US" sz="1600" dirty="0"/>
          </a:p>
        </p:txBody>
      </p:sp>
      <p:sp>
        <p:nvSpPr>
          <p:cNvPr id="14" name="Text 10"/>
          <p:cNvSpPr txBox="1"/>
          <p:nvPr/>
        </p:nvSpPr>
        <p:spPr>
          <a:xfrm>
            <a:off x="2258568" y="3108960"/>
            <a:ext cx="1325880" cy="868680"/>
          </a:xfrm>
          <a:prstGeom prst="rect">
            <a:avLst/>
          </a:prstGeom>
          <a:noFill/>
          <a:ln/>
        </p:spPr>
        <p:txBody>
          <a:bodyPr wrap="square" lIns="0" tIns="0" rIns="0" bIns="0" rtlCol="0" anchor="t"/>
          <a:lstStyle/>
          <a:p>
            <a:pPr marL="0" indent="0">
              <a:buNone/>
            </a:pPr>
            <a:r>
              <a:rPr lang="en-US" sz="1200" dirty="0">
                <a:solidFill>
                  <a:schemeClr val="tx2"/>
                </a:solidFill>
              </a:rPr>
              <a:t>Bullseyes spawn in the air around you.</a:t>
            </a:r>
            <a:endParaRPr lang="en-US" sz="1200" dirty="0"/>
          </a:p>
        </p:txBody>
      </p:sp>
      <p:sp>
        <p:nvSpPr>
          <p:cNvPr id="15" name="Step card 3"/>
          <p:cNvSpPr/>
          <p:nvPr/>
        </p:nvSpPr>
        <p:spPr>
          <a:xfrm>
            <a:off x="3785616" y="1280160"/>
            <a:ext cx="1572768" cy="2788920"/>
          </a:xfrm>
          <a:prstGeom prst="roundRect">
            <a:avLst>
              <a:gd name="adj" fmla="val 6977"/>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6" name="Step 3 circle"/>
          <p:cNvSpPr/>
          <p:nvPr/>
        </p:nvSpPr>
        <p:spPr>
          <a:xfrm>
            <a:off x="3922776" y="1444752"/>
            <a:ext cx="640080" cy="640080"/>
          </a:xfrm>
          <a:prstGeom prst="ellipse">
            <a:avLst/>
          </a:prstGeom>
          <a:solidFill>
            <a:schemeClr val="accent1"/>
          </a:solidFill>
          <a:ln/>
        </p:spPr>
        <p:txBody>
          <a:bodyPr/>
          <a:lstStyle/>
          <a:p>
            <a:endParaRPr lang="en-IN"/>
          </a:p>
        </p:txBody>
      </p:sp>
      <p:pic>
        <p:nvPicPr>
          <p:cNvPr id="17" name="Image 2" descr="FaRocket icon"/>
          <p:cNvPicPr>
            <a:picLocks noChangeAspect="1"/>
          </p:cNvPicPr>
          <p:nvPr/>
        </p:nvPicPr>
        <p:blipFill>
          <a:blip r:embed="rId5"/>
          <a:stretch>
            <a:fillRect/>
          </a:stretch>
        </p:blipFill>
        <p:spPr>
          <a:xfrm>
            <a:off x="4076395" y="1598371"/>
            <a:ext cx="332842" cy="332842"/>
          </a:xfrm>
          <a:prstGeom prst="rect">
            <a:avLst/>
          </a:prstGeom>
        </p:spPr>
      </p:pic>
      <p:sp>
        <p:nvSpPr>
          <p:cNvPr id="18" name="Text 13"/>
          <p:cNvSpPr txBox="1"/>
          <p:nvPr/>
        </p:nvSpPr>
        <p:spPr>
          <a:xfrm>
            <a:off x="3922776" y="2240280"/>
            <a:ext cx="1280160" cy="228600"/>
          </a:xfrm>
          <a:prstGeom prst="rect">
            <a:avLst/>
          </a:prstGeom>
          <a:noFill/>
          <a:ln/>
        </p:spPr>
        <p:txBody>
          <a:bodyPr wrap="square" lIns="0" tIns="0" rIns="0" bIns="0" rtlCol="0" anchor="t"/>
          <a:lstStyle/>
          <a:p>
            <a:pPr marL="0" indent="0">
              <a:buNone/>
            </a:pPr>
            <a:r>
              <a:rPr lang="en-US" sz="1100" b="1" dirty="0">
                <a:solidFill>
                  <a:schemeClr val="accent5"/>
                </a:solidFill>
              </a:rPr>
              <a:t>STEP 3</a:t>
            </a:r>
            <a:endParaRPr lang="en-US" sz="1100" dirty="0"/>
          </a:p>
        </p:txBody>
      </p:sp>
      <p:sp>
        <p:nvSpPr>
          <p:cNvPr id="19" name="Text 14"/>
          <p:cNvSpPr txBox="1"/>
          <p:nvPr/>
        </p:nvSpPr>
        <p:spPr>
          <a:xfrm>
            <a:off x="3922776" y="2487168"/>
            <a:ext cx="1325880" cy="548640"/>
          </a:xfrm>
          <a:prstGeom prst="rect">
            <a:avLst/>
          </a:prstGeom>
          <a:noFill/>
          <a:ln/>
        </p:spPr>
        <p:txBody>
          <a:bodyPr wrap="square" lIns="0" tIns="0" rIns="0" bIns="0" rtlCol="0" anchor="t"/>
          <a:lstStyle/>
          <a:p>
            <a:pPr marL="0" indent="0">
              <a:buNone/>
            </a:pPr>
            <a:r>
              <a:rPr lang="en-US" sz="1600" b="1" dirty="0">
                <a:solidFill>
                  <a:schemeClr val="tx1"/>
                </a:solidFill>
              </a:rPr>
              <a:t>Create projectile</a:t>
            </a:r>
            <a:endParaRPr lang="en-US" sz="1600" dirty="0"/>
          </a:p>
        </p:txBody>
      </p:sp>
      <p:sp>
        <p:nvSpPr>
          <p:cNvPr id="20" name="Text 15"/>
          <p:cNvSpPr txBox="1"/>
          <p:nvPr/>
        </p:nvSpPr>
        <p:spPr>
          <a:xfrm>
            <a:off x="3922776" y="3108960"/>
            <a:ext cx="1325880" cy="868680"/>
          </a:xfrm>
          <a:prstGeom prst="rect">
            <a:avLst/>
          </a:prstGeom>
          <a:noFill/>
          <a:ln/>
        </p:spPr>
        <p:txBody>
          <a:bodyPr wrap="square" lIns="0" tIns="0" rIns="0" bIns="0" rtlCol="0" anchor="t"/>
          <a:lstStyle/>
          <a:p>
            <a:pPr marL="0" indent="0">
              <a:buNone/>
            </a:pPr>
            <a:r>
              <a:rPr lang="en-US" sz="1200" dirty="0">
                <a:solidFill>
                  <a:schemeClr val="tx2"/>
                </a:solidFill>
              </a:rPr>
              <a:t>A Rigidbody with gravity flies in an arc.</a:t>
            </a:r>
            <a:endParaRPr lang="en-US" sz="1200" dirty="0"/>
          </a:p>
        </p:txBody>
      </p:sp>
      <p:sp>
        <p:nvSpPr>
          <p:cNvPr id="21" name="Step card 4"/>
          <p:cNvSpPr/>
          <p:nvPr/>
        </p:nvSpPr>
        <p:spPr>
          <a:xfrm>
            <a:off x="5449824" y="1280160"/>
            <a:ext cx="1572768" cy="2788920"/>
          </a:xfrm>
          <a:prstGeom prst="roundRect">
            <a:avLst>
              <a:gd name="adj" fmla="val 6977"/>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22" name="Step 4 circle"/>
          <p:cNvSpPr/>
          <p:nvPr/>
        </p:nvSpPr>
        <p:spPr>
          <a:xfrm>
            <a:off x="5586984" y="1444752"/>
            <a:ext cx="640080" cy="640080"/>
          </a:xfrm>
          <a:prstGeom prst="ellipse">
            <a:avLst/>
          </a:prstGeom>
          <a:solidFill>
            <a:schemeClr val="accent2"/>
          </a:solidFill>
          <a:ln/>
        </p:spPr>
        <p:txBody>
          <a:bodyPr/>
          <a:lstStyle/>
          <a:p>
            <a:endParaRPr lang="en-IN"/>
          </a:p>
        </p:txBody>
      </p:sp>
      <p:pic>
        <p:nvPicPr>
          <p:cNvPr id="23" name="Image 3" descr="FaHandPointer icon"/>
          <p:cNvPicPr>
            <a:picLocks noChangeAspect="1"/>
          </p:cNvPicPr>
          <p:nvPr/>
        </p:nvPicPr>
        <p:blipFill>
          <a:blip r:embed="rId6"/>
          <a:stretch>
            <a:fillRect/>
          </a:stretch>
        </p:blipFill>
        <p:spPr>
          <a:xfrm>
            <a:off x="5740603" y="1598371"/>
            <a:ext cx="332842" cy="332842"/>
          </a:xfrm>
          <a:prstGeom prst="rect">
            <a:avLst/>
          </a:prstGeom>
        </p:spPr>
      </p:pic>
      <p:sp>
        <p:nvSpPr>
          <p:cNvPr id="24" name="Text 18"/>
          <p:cNvSpPr txBox="1"/>
          <p:nvPr/>
        </p:nvSpPr>
        <p:spPr>
          <a:xfrm>
            <a:off x="5586984" y="2240280"/>
            <a:ext cx="1280160" cy="228600"/>
          </a:xfrm>
          <a:prstGeom prst="rect">
            <a:avLst/>
          </a:prstGeom>
          <a:noFill/>
          <a:ln/>
        </p:spPr>
        <p:txBody>
          <a:bodyPr wrap="square" lIns="0" tIns="0" rIns="0" bIns="0" rtlCol="0" anchor="t"/>
          <a:lstStyle/>
          <a:p>
            <a:pPr marL="0" indent="0">
              <a:buNone/>
            </a:pPr>
            <a:r>
              <a:rPr lang="en-US" sz="1100" b="1" dirty="0">
                <a:solidFill>
                  <a:schemeClr val="accent5"/>
                </a:solidFill>
              </a:rPr>
              <a:t>STEP 4</a:t>
            </a:r>
            <a:endParaRPr lang="en-US" sz="1100" dirty="0"/>
          </a:p>
        </p:txBody>
      </p:sp>
      <p:sp>
        <p:nvSpPr>
          <p:cNvPr id="25" name="Text 19"/>
          <p:cNvSpPr txBox="1"/>
          <p:nvPr/>
        </p:nvSpPr>
        <p:spPr>
          <a:xfrm>
            <a:off x="5586984" y="2487168"/>
            <a:ext cx="1325880" cy="548640"/>
          </a:xfrm>
          <a:prstGeom prst="rect">
            <a:avLst/>
          </a:prstGeom>
          <a:noFill/>
          <a:ln/>
        </p:spPr>
        <p:txBody>
          <a:bodyPr wrap="square" lIns="0" tIns="0" rIns="0" bIns="0" rtlCol="0" anchor="t"/>
          <a:lstStyle/>
          <a:p>
            <a:pPr marL="0" indent="0">
              <a:buNone/>
            </a:pPr>
            <a:r>
              <a:rPr lang="en-US" sz="1600" b="1" dirty="0">
                <a:solidFill>
                  <a:schemeClr val="tx1"/>
                </a:solidFill>
              </a:rPr>
              <a:t>Aim with touch</a:t>
            </a:r>
            <a:endParaRPr lang="en-US" sz="1600" dirty="0"/>
          </a:p>
        </p:txBody>
      </p:sp>
      <p:sp>
        <p:nvSpPr>
          <p:cNvPr id="26" name="Text 20"/>
          <p:cNvSpPr txBox="1"/>
          <p:nvPr/>
        </p:nvSpPr>
        <p:spPr>
          <a:xfrm>
            <a:off x="5586984" y="3108960"/>
            <a:ext cx="1325880" cy="868680"/>
          </a:xfrm>
          <a:prstGeom prst="rect">
            <a:avLst/>
          </a:prstGeom>
          <a:noFill/>
          <a:ln/>
        </p:spPr>
        <p:txBody>
          <a:bodyPr wrap="square" lIns="0" tIns="0" rIns="0" bIns="0" rtlCol="0" anchor="t"/>
          <a:lstStyle/>
          <a:p>
            <a:pPr marL="0" indent="0">
              <a:buNone/>
            </a:pPr>
            <a:r>
              <a:rPr lang="en-US" sz="1200" dirty="0">
                <a:solidFill>
                  <a:schemeClr val="tx2"/>
                </a:solidFill>
              </a:rPr>
              <a:t>Your tap sets the shot direction.</a:t>
            </a:r>
            <a:endParaRPr lang="en-US" sz="1200" dirty="0"/>
          </a:p>
        </p:txBody>
      </p:sp>
      <p:sp>
        <p:nvSpPr>
          <p:cNvPr id="27" name="Step card 5"/>
          <p:cNvSpPr/>
          <p:nvPr/>
        </p:nvSpPr>
        <p:spPr>
          <a:xfrm>
            <a:off x="7114032" y="1280160"/>
            <a:ext cx="1572768" cy="2788920"/>
          </a:xfrm>
          <a:prstGeom prst="roundRect">
            <a:avLst>
              <a:gd name="adj" fmla="val 6977"/>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28" name="Step 5 circle"/>
          <p:cNvSpPr/>
          <p:nvPr/>
        </p:nvSpPr>
        <p:spPr>
          <a:xfrm>
            <a:off x="7251192" y="1444752"/>
            <a:ext cx="640080" cy="640080"/>
          </a:xfrm>
          <a:prstGeom prst="ellipse">
            <a:avLst/>
          </a:prstGeom>
          <a:solidFill>
            <a:schemeClr val="accent1"/>
          </a:solidFill>
          <a:ln/>
        </p:spPr>
        <p:txBody>
          <a:bodyPr/>
          <a:lstStyle/>
          <a:p>
            <a:endParaRPr lang="en-IN"/>
          </a:p>
        </p:txBody>
      </p:sp>
      <p:pic>
        <p:nvPicPr>
          <p:cNvPr id="29" name="Image 4" descr="FaCheckCircle icon"/>
          <p:cNvPicPr>
            <a:picLocks noChangeAspect="1"/>
          </p:cNvPicPr>
          <p:nvPr/>
        </p:nvPicPr>
        <p:blipFill>
          <a:blip r:embed="rId7"/>
          <a:stretch>
            <a:fillRect/>
          </a:stretch>
        </p:blipFill>
        <p:spPr>
          <a:xfrm>
            <a:off x="7404811" y="1598371"/>
            <a:ext cx="332842" cy="332842"/>
          </a:xfrm>
          <a:prstGeom prst="rect">
            <a:avLst/>
          </a:prstGeom>
        </p:spPr>
      </p:pic>
      <p:sp>
        <p:nvSpPr>
          <p:cNvPr id="30" name="Text 23"/>
          <p:cNvSpPr txBox="1"/>
          <p:nvPr/>
        </p:nvSpPr>
        <p:spPr>
          <a:xfrm>
            <a:off x="7251192" y="2240280"/>
            <a:ext cx="1280160" cy="228600"/>
          </a:xfrm>
          <a:prstGeom prst="rect">
            <a:avLst/>
          </a:prstGeom>
          <a:noFill/>
          <a:ln/>
        </p:spPr>
        <p:txBody>
          <a:bodyPr wrap="square" lIns="0" tIns="0" rIns="0" bIns="0" rtlCol="0" anchor="t"/>
          <a:lstStyle/>
          <a:p>
            <a:pPr marL="0" indent="0">
              <a:buNone/>
            </a:pPr>
            <a:r>
              <a:rPr lang="en-US" sz="1100" b="1" dirty="0">
                <a:solidFill>
                  <a:schemeClr val="accent5"/>
                </a:solidFill>
              </a:rPr>
              <a:t>STEP 5</a:t>
            </a:r>
            <a:endParaRPr lang="en-US" sz="1100" dirty="0"/>
          </a:p>
        </p:txBody>
      </p:sp>
      <p:sp>
        <p:nvSpPr>
          <p:cNvPr id="31" name="Text 24"/>
          <p:cNvSpPr txBox="1"/>
          <p:nvPr/>
        </p:nvSpPr>
        <p:spPr>
          <a:xfrm>
            <a:off x="7251192" y="2487168"/>
            <a:ext cx="1325880" cy="548640"/>
          </a:xfrm>
          <a:prstGeom prst="rect">
            <a:avLst/>
          </a:prstGeom>
          <a:noFill/>
          <a:ln/>
        </p:spPr>
        <p:txBody>
          <a:bodyPr wrap="square" lIns="0" tIns="0" rIns="0" bIns="0" rtlCol="0" anchor="t"/>
          <a:lstStyle/>
          <a:p>
            <a:pPr marL="0" indent="0">
              <a:buNone/>
            </a:pPr>
            <a:r>
              <a:rPr lang="en-US" sz="1600" b="1" dirty="0">
                <a:solidFill>
                  <a:schemeClr val="tx1"/>
                </a:solidFill>
              </a:rPr>
              <a:t>Detect hits</a:t>
            </a:r>
            <a:endParaRPr lang="en-US" sz="1600" dirty="0"/>
          </a:p>
        </p:txBody>
      </p:sp>
      <p:sp>
        <p:nvSpPr>
          <p:cNvPr id="32" name="Text 25"/>
          <p:cNvSpPr txBox="1"/>
          <p:nvPr/>
        </p:nvSpPr>
        <p:spPr>
          <a:xfrm>
            <a:off x="7251192" y="3108960"/>
            <a:ext cx="1325880" cy="868680"/>
          </a:xfrm>
          <a:prstGeom prst="rect">
            <a:avLst/>
          </a:prstGeom>
          <a:noFill/>
          <a:ln/>
        </p:spPr>
        <p:txBody>
          <a:bodyPr wrap="square" lIns="0" tIns="0" rIns="0" bIns="0" rtlCol="0" anchor="t"/>
          <a:lstStyle/>
          <a:p>
            <a:pPr marL="0" indent="0">
              <a:buNone/>
            </a:pPr>
            <a:r>
              <a:rPr lang="en-US" sz="1200" dirty="0">
                <a:solidFill>
                  <a:schemeClr val="tx2"/>
                </a:solidFill>
              </a:rPr>
              <a:t>Collisions give points and effects.</a:t>
            </a:r>
            <a:endParaRPr lang="en-US" sz="1200" dirty="0"/>
          </a:p>
        </p:txBody>
      </p:sp>
      <p:sp>
        <p:nvSpPr>
          <p:cNvPr id="33" name="Loop banner"/>
          <p:cNvSpPr/>
          <p:nvPr/>
        </p:nvSpPr>
        <p:spPr>
          <a:xfrm>
            <a:off x="457200" y="4224528"/>
            <a:ext cx="8229600" cy="411480"/>
          </a:xfrm>
          <a:prstGeom prst="roundRect">
            <a:avLst>
              <a:gd name="adj" fmla="val 26667"/>
            </a:avLst>
          </a:prstGeom>
          <a:solidFill>
            <a:schemeClr val="tx1"/>
          </a:solidFill>
          <a:ln/>
        </p:spPr>
        <p:txBody>
          <a:bodyPr wrap="square" lIns="0" tIns="0" rIns="0" bIns="0" rtlCol="0" anchor="ctr"/>
          <a:lstStyle/>
          <a:p>
            <a:pPr marL="0" indent="0" algn="ctr">
              <a:buNone/>
            </a:pPr>
            <a:r>
              <a:rPr lang="en-US" sz="1400" b="1" dirty="0">
                <a:solidFill>
                  <a:srgbClr val="FFFFFF"/>
                </a:solidFill>
              </a:rPr>
              <a:t>This loop runs for a 60 second round</a:t>
            </a:r>
            <a:endParaRPr lang="en-US" sz="1400" dirty="0"/>
          </a:p>
        </p:txBody>
      </p:sp>
      <p:sp>
        <p:nvSpPr>
          <p:cNvPr id="3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Step 1: Seeing the Room</a:t>
            </a:r>
            <a:endParaRPr lang="en-US" sz="3400" dirty="0"/>
          </a:p>
        </p:txBody>
      </p:sp>
      <p:sp>
        <p:nvSpPr>
          <p:cNvPr id="3" name="Diagram panel"/>
          <p:cNvSpPr/>
          <p:nvPr/>
        </p:nvSpPr>
        <p:spPr>
          <a:xfrm>
            <a:off x="457200" y="1188720"/>
            <a:ext cx="4389120" cy="3200400"/>
          </a:xfrm>
          <a:prstGeom prst="roundRect">
            <a:avLst>
              <a:gd name="adj" fmla="val 3429"/>
            </a:avLst>
          </a:prstGeom>
          <a:solidFill>
            <a:schemeClr val="bg2"/>
          </a:solidFill>
          <a:ln/>
        </p:spPr>
        <p:txBody>
          <a:bodyPr/>
          <a:lstStyle/>
          <a:p>
            <a:endParaRPr lang="en-IN"/>
          </a:p>
        </p:txBody>
      </p:sp>
      <p:pic>
        <p:nvPicPr>
          <p:cNvPr id="4" name="Image 0" descr="Phone camera"/>
          <p:cNvPicPr>
            <a:picLocks noChangeAspect="1"/>
          </p:cNvPicPr>
          <p:nvPr/>
        </p:nvPicPr>
        <p:blipFill>
          <a:blip r:embed="rId3"/>
          <a:stretch>
            <a:fillRect/>
          </a:stretch>
        </p:blipFill>
        <p:spPr>
          <a:xfrm>
            <a:off x="777240" y="1371600"/>
            <a:ext cx="502920" cy="502920"/>
          </a:xfrm>
          <a:prstGeom prst="rect">
            <a:avLst/>
          </a:prstGeom>
        </p:spPr>
      </p:pic>
      <p:sp>
        <p:nvSpPr>
          <p:cNvPr id="5" name="Text 2"/>
          <p:cNvSpPr txBox="1"/>
          <p:nvPr/>
        </p:nvSpPr>
        <p:spPr>
          <a:xfrm>
            <a:off x="1371600" y="1508760"/>
            <a:ext cx="914400" cy="274320"/>
          </a:xfrm>
          <a:prstGeom prst="rect">
            <a:avLst/>
          </a:prstGeom>
          <a:noFill/>
          <a:ln/>
        </p:spPr>
        <p:txBody>
          <a:bodyPr wrap="square" lIns="0" tIns="0" rIns="0" bIns="0" rtlCol="0" anchor="t"/>
          <a:lstStyle/>
          <a:p>
            <a:pPr marL="0" indent="0">
              <a:buNone/>
            </a:pPr>
            <a:r>
              <a:rPr lang="en-US" sz="1200" b="1" dirty="0">
                <a:solidFill>
                  <a:schemeClr val="tx1"/>
                </a:solidFill>
              </a:rPr>
              <a:t>Camera</a:t>
            </a:r>
            <a:endParaRPr lang="en-US" sz="1200" dirty="0"/>
          </a:p>
        </p:txBody>
      </p:sp>
      <p:sp>
        <p:nvSpPr>
          <p:cNvPr id="6" name="Floor plane"/>
          <p:cNvSpPr/>
          <p:nvPr/>
        </p:nvSpPr>
        <p:spPr>
          <a:xfrm>
            <a:off x="640080" y="2697480"/>
            <a:ext cx="4023360" cy="1554480"/>
          </a:xfrm>
          <a:custGeom>
            <a:avLst/>
            <a:gdLst/>
            <a:ahLst/>
            <a:cxnLst/>
            <a:rect l="l" t="t" r="r" b="b"/>
            <a:pathLst>
              <a:path w="4023360" h="1554480">
                <a:moveTo>
                  <a:pt x="822960" y="0"/>
                </a:moveTo>
                <a:lnTo>
                  <a:pt x="3291840" y="0"/>
                </a:lnTo>
                <a:lnTo>
                  <a:pt x="4023360" y="1554480"/>
                </a:lnTo>
                <a:lnTo>
                  <a:pt x="0" y="1554480"/>
                </a:lnTo>
                <a:close/>
              </a:path>
            </a:pathLst>
          </a:custGeom>
          <a:solidFill>
            <a:srgbClr val="FFC83D">
              <a:alpha val="65000"/>
            </a:srgbClr>
          </a:solidFill>
          <a:ln w="19050">
            <a:solidFill>
              <a:srgbClr val="0B1B2B"/>
            </a:solidFill>
            <a:prstDash val="solid"/>
          </a:ln>
        </p:spPr>
        <p:txBody>
          <a:bodyPr/>
          <a:lstStyle/>
          <a:p>
            <a:endParaRPr lang="en-IN"/>
          </a:p>
        </p:txBody>
      </p:sp>
      <p:sp>
        <p:nvSpPr>
          <p:cNvPr id="7" name="Ray"/>
          <p:cNvSpPr/>
          <p:nvPr/>
        </p:nvSpPr>
        <p:spPr>
          <a:xfrm>
            <a:off x="1234440" y="1920240"/>
            <a:ext cx="1417320" cy="1600200"/>
          </a:xfrm>
          <a:prstGeom prst="line">
            <a:avLst/>
          </a:prstGeom>
          <a:noFill/>
          <a:ln w="25400">
            <a:solidFill>
              <a:schemeClr val="tx2"/>
            </a:solidFill>
            <a:prstDash val="dash"/>
            <a:tailEnd type="triangle"/>
          </a:ln>
        </p:spPr>
        <p:txBody>
          <a:bodyPr/>
          <a:lstStyle/>
          <a:p>
            <a:endParaRPr lang="en-IN"/>
          </a:p>
        </p:txBody>
      </p:sp>
      <p:sp>
        <p:nvSpPr>
          <p:cNvPr id="8" name="Reticle ring"/>
          <p:cNvSpPr/>
          <p:nvPr/>
        </p:nvSpPr>
        <p:spPr>
          <a:xfrm>
            <a:off x="2240280" y="3401568"/>
            <a:ext cx="822960" cy="310896"/>
          </a:xfrm>
          <a:prstGeom prst="ellipse">
            <a:avLst/>
          </a:prstGeom>
          <a:solidFill>
            <a:srgbClr val="00E5FF"/>
          </a:solidFill>
          <a:ln/>
        </p:spPr>
        <p:txBody>
          <a:bodyPr/>
          <a:lstStyle/>
          <a:p>
            <a:endParaRPr lang="en-IN"/>
          </a:p>
        </p:txBody>
      </p:sp>
      <p:sp>
        <p:nvSpPr>
          <p:cNvPr id="9" name="Reticle inner"/>
          <p:cNvSpPr/>
          <p:nvPr/>
        </p:nvSpPr>
        <p:spPr>
          <a:xfrm>
            <a:off x="2423160" y="3474720"/>
            <a:ext cx="457200" cy="164592"/>
          </a:xfrm>
          <a:prstGeom prst="ellipse">
            <a:avLst/>
          </a:prstGeom>
          <a:solidFill>
            <a:srgbClr val="0B1B2B"/>
          </a:solidFill>
          <a:ln/>
        </p:spPr>
        <p:txBody>
          <a:bodyPr/>
          <a:lstStyle/>
          <a:p>
            <a:endParaRPr lang="en-IN"/>
          </a:p>
        </p:txBody>
      </p:sp>
      <p:sp>
        <p:nvSpPr>
          <p:cNvPr id="10" name="Text 7"/>
          <p:cNvSpPr txBox="1"/>
          <p:nvPr/>
        </p:nvSpPr>
        <p:spPr>
          <a:xfrm>
            <a:off x="3200400" y="3456432"/>
            <a:ext cx="1097280" cy="274320"/>
          </a:xfrm>
          <a:prstGeom prst="rect">
            <a:avLst/>
          </a:prstGeom>
          <a:noFill/>
          <a:ln/>
        </p:spPr>
        <p:txBody>
          <a:bodyPr wrap="square" lIns="0" tIns="0" rIns="0" bIns="0" rtlCol="0" anchor="t"/>
          <a:lstStyle/>
          <a:p>
            <a:pPr marL="0" indent="0">
              <a:buNone/>
            </a:pPr>
            <a:r>
              <a:rPr lang="en-US" sz="1200" b="1" dirty="0">
                <a:solidFill>
                  <a:schemeClr val="tx1"/>
                </a:solidFill>
              </a:rPr>
              <a:t>Reticle</a:t>
            </a:r>
            <a:endParaRPr lang="en-US" sz="1200" dirty="0"/>
          </a:p>
        </p:txBody>
      </p:sp>
      <p:sp>
        <p:nvSpPr>
          <p:cNvPr id="11" name="Text 8"/>
          <p:cNvSpPr txBox="1"/>
          <p:nvPr/>
        </p:nvSpPr>
        <p:spPr>
          <a:xfrm>
            <a:off x="914400" y="3977640"/>
            <a:ext cx="1645920" cy="274320"/>
          </a:xfrm>
          <a:prstGeom prst="rect">
            <a:avLst/>
          </a:prstGeom>
          <a:noFill/>
          <a:ln/>
        </p:spPr>
        <p:txBody>
          <a:bodyPr wrap="square" lIns="0" tIns="0" rIns="0" bIns="0" rtlCol="0" anchor="t"/>
          <a:lstStyle/>
          <a:p>
            <a:pPr marL="0" indent="0">
              <a:buNone/>
            </a:pPr>
            <a:r>
              <a:rPr lang="en-US" sz="1200" dirty="0">
                <a:solidFill>
                  <a:schemeClr val="tx1"/>
                </a:solidFill>
              </a:rPr>
              <a:t>Horizontal plane</a:t>
            </a:r>
            <a:endParaRPr lang="en-US" sz="1200" dirty="0"/>
          </a:p>
        </p:txBody>
      </p:sp>
      <p:sp>
        <p:nvSpPr>
          <p:cNvPr id="12" name="Seeing 1 circle"/>
          <p:cNvSpPr/>
          <p:nvPr/>
        </p:nvSpPr>
        <p:spPr>
          <a:xfrm>
            <a:off x="5166360" y="1234440"/>
            <a:ext cx="566928" cy="566928"/>
          </a:xfrm>
          <a:prstGeom prst="ellipse">
            <a:avLst/>
          </a:prstGeom>
          <a:solidFill>
            <a:schemeClr val="accent1"/>
          </a:solidFill>
          <a:ln/>
        </p:spPr>
        <p:txBody>
          <a:bodyPr/>
          <a:lstStyle/>
          <a:p>
            <a:endParaRPr lang="en-IN"/>
          </a:p>
        </p:txBody>
      </p:sp>
      <p:pic>
        <p:nvPicPr>
          <p:cNvPr id="13" name="Image 1" descr="FaVectorSquare icon"/>
          <p:cNvPicPr>
            <a:picLocks noChangeAspect="1"/>
          </p:cNvPicPr>
          <p:nvPr/>
        </p:nvPicPr>
        <p:blipFill>
          <a:blip r:embed="rId4"/>
          <a:stretch>
            <a:fillRect/>
          </a:stretch>
        </p:blipFill>
        <p:spPr>
          <a:xfrm>
            <a:off x="5302423" y="1370503"/>
            <a:ext cx="294803" cy="294803"/>
          </a:xfrm>
          <a:prstGeom prst="rect">
            <a:avLst/>
          </a:prstGeom>
        </p:spPr>
      </p:pic>
      <p:sp>
        <p:nvSpPr>
          <p:cNvPr id="14" name="Text 10"/>
          <p:cNvSpPr txBox="1"/>
          <p:nvPr/>
        </p:nvSpPr>
        <p:spPr>
          <a:xfrm>
            <a:off x="5897880" y="1207008"/>
            <a:ext cx="2788920" cy="274320"/>
          </a:xfrm>
          <a:prstGeom prst="rect">
            <a:avLst/>
          </a:prstGeom>
          <a:noFill/>
          <a:ln/>
        </p:spPr>
        <p:txBody>
          <a:bodyPr wrap="square" lIns="0" tIns="0" rIns="0" bIns="0" rtlCol="0" anchor="t"/>
          <a:lstStyle/>
          <a:p>
            <a:pPr marL="0" indent="0">
              <a:buNone/>
            </a:pPr>
            <a:r>
              <a:rPr lang="en-US" sz="1600" b="1" dirty="0">
                <a:solidFill>
                  <a:schemeClr val="tx1"/>
                </a:solidFill>
              </a:rPr>
              <a:t>Plane detection</a:t>
            </a:r>
            <a:endParaRPr lang="en-US" sz="1600" dirty="0"/>
          </a:p>
        </p:txBody>
      </p:sp>
      <p:sp>
        <p:nvSpPr>
          <p:cNvPr id="15" name="Text 11"/>
          <p:cNvSpPr txBox="1"/>
          <p:nvPr/>
        </p:nvSpPr>
        <p:spPr>
          <a:xfrm>
            <a:off x="5897880" y="1508760"/>
            <a:ext cx="2788920" cy="685800"/>
          </a:xfrm>
          <a:prstGeom prst="rect">
            <a:avLst/>
          </a:prstGeom>
          <a:noFill/>
          <a:ln/>
        </p:spPr>
        <p:txBody>
          <a:bodyPr wrap="square" lIns="0" tIns="0" rIns="0" bIns="0" rtlCol="0" anchor="t"/>
          <a:lstStyle/>
          <a:p>
            <a:pPr marL="0" indent="0">
              <a:buNone/>
            </a:pPr>
            <a:r>
              <a:rPr lang="en-US" sz="1300" dirty="0">
                <a:solidFill>
                  <a:schemeClr val="tx2"/>
                </a:solidFill>
              </a:rPr>
              <a:t>ARPlaneManager finds horizontal and vertical surfaces.</a:t>
            </a:r>
            <a:endParaRPr lang="en-US" sz="1300" dirty="0"/>
          </a:p>
        </p:txBody>
      </p:sp>
      <p:sp>
        <p:nvSpPr>
          <p:cNvPr id="16" name="Seeing 2 circle"/>
          <p:cNvSpPr/>
          <p:nvPr/>
        </p:nvSpPr>
        <p:spPr>
          <a:xfrm>
            <a:off x="5166360" y="2331720"/>
            <a:ext cx="566928" cy="566928"/>
          </a:xfrm>
          <a:prstGeom prst="ellipse">
            <a:avLst/>
          </a:prstGeom>
          <a:solidFill>
            <a:schemeClr val="accent1"/>
          </a:solidFill>
          <a:ln/>
        </p:spPr>
        <p:txBody>
          <a:bodyPr/>
          <a:lstStyle/>
          <a:p>
            <a:endParaRPr lang="en-IN"/>
          </a:p>
        </p:txBody>
      </p:sp>
      <p:pic>
        <p:nvPicPr>
          <p:cNvPr id="17" name="Image 2" descr="FaCrosshairs icon"/>
          <p:cNvPicPr>
            <a:picLocks noChangeAspect="1"/>
          </p:cNvPicPr>
          <p:nvPr/>
        </p:nvPicPr>
        <p:blipFill>
          <a:blip r:embed="rId5"/>
          <a:stretch>
            <a:fillRect/>
          </a:stretch>
        </p:blipFill>
        <p:spPr>
          <a:xfrm>
            <a:off x="5302423" y="2467783"/>
            <a:ext cx="294803" cy="294803"/>
          </a:xfrm>
          <a:prstGeom prst="rect">
            <a:avLst/>
          </a:prstGeom>
        </p:spPr>
      </p:pic>
      <p:sp>
        <p:nvSpPr>
          <p:cNvPr id="18" name="Text 13"/>
          <p:cNvSpPr txBox="1"/>
          <p:nvPr/>
        </p:nvSpPr>
        <p:spPr>
          <a:xfrm>
            <a:off x="5897880" y="2304288"/>
            <a:ext cx="2788920" cy="274320"/>
          </a:xfrm>
          <a:prstGeom prst="rect">
            <a:avLst/>
          </a:prstGeom>
          <a:noFill/>
          <a:ln/>
        </p:spPr>
        <p:txBody>
          <a:bodyPr wrap="square" lIns="0" tIns="0" rIns="0" bIns="0" rtlCol="0" anchor="t"/>
          <a:lstStyle/>
          <a:p>
            <a:pPr marL="0" indent="0">
              <a:buNone/>
            </a:pPr>
            <a:r>
              <a:rPr lang="en-US" sz="1600" b="1" dirty="0">
                <a:solidFill>
                  <a:schemeClr val="tx1"/>
                </a:solidFill>
              </a:rPr>
              <a:t>Raycast</a:t>
            </a:r>
            <a:endParaRPr lang="en-US" sz="1600" dirty="0"/>
          </a:p>
        </p:txBody>
      </p:sp>
      <p:sp>
        <p:nvSpPr>
          <p:cNvPr id="19" name="Text 14"/>
          <p:cNvSpPr txBox="1"/>
          <p:nvPr/>
        </p:nvSpPr>
        <p:spPr>
          <a:xfrm>
            <a:off x="5897880" y="2606040"/>
            <a:ext cx="2788920" cy="685800"/>
          </a:xfrm>
          <a:prstGeom prst="rect">
            <a:avLst/>
          </a:prstGeom>
          <a:noFill/>
          <a:ln/>
        </p:spPr>
        <p:txBody>
          <a:bodyPr wrap="square" lIns="0" tIns="0" rIns="0" bIns="0" rtlCol="0" anchor="t"/>
          <a:lstStyle/>
          <a:p>
            <a:pPr marL="0" indent="0">
              <a:buNone/>
            </a:pPr>
            <a:r>
              <a:rPr lang="en-US" sz="1300" dirty="0">
                <a:solidFill>
                  <a:schemeClr val="tx2"/>
                </a:solidFill>
              </a:rPr>
              <a:t>A ray from the screen centre finds where it meets a plane.</a:t>
            </a:r>
            <a:endParaRPr lang="en-US" sz="1300" dirty="0"/>
          </a:p>
        </p:txBody>
      </p:sp>
      <p:sp>
        <p:nvSpPr>
          <p:cNvPr id="20" name="Seeing 3 circle"/>
          <p:cNvSpPr/>
          <p:nvPr/>
        </p:nvSpPr>
        <p:spPr>
          <a:xfrm>
            <a:off x="5166360" y="3429000"/>
            <a:ext cx="566928" cy="566928"/>
          </a:xfrm>
          <a:prstGeom prst="ellipse">
            <a:avLst/>
          </a:prstGeom>
          <a:solidFill>
            <a:schemeClr val="accent1"/>
          </a:solidFill>
          <a:ln/>
        </p:spPr>
        <p:txBody>
          <a:bodyPr/>
          <a:lstStyle/>
          <a:p>
            <a:endParaRPr lang="en-IN"/>
          </a:p>
        </p:txBody>
      </p:sp>
      <p:pic>
        <p:nvPicPr>
          <p:cNvPr id="21" name="Image 3" descr="FaBullseye icon"/>
          <p:cNvPicPr>
            <a:picLocks noChangeAspect="1"/>
          </p:cNvPicPr>
          <p:nvPr/>
        </p:nvPicPr>
        <p:blipFill>
          <a:blip r:embed="rId6"/>
          <a:stretch>
            <a:fillRect/>
          </a:stretch>
        </p:blipFill>
        <p:spPr>
          <a:xfrm>
            <a:off x="5302423" y="3565063"/>
            <a:ext cx="294803" cy="294803"/>
          </a:xfrm>
          <a:prstGeom prst="rect">
            <a:avLst/>
          </a:prstGeom>
        </p:spPr>
      </p:pic>
      <p:sp>
        <p:nvSpPr>
          <p:cNvPr id="22" name="Text 16"/>
          <p:cNvSpPr txBox="1"/>
          <p:nvPr/>
        </p:nvSpPr>
        <p:spPr>
          <a:xfrm>
            <a:off x="5897880" y="3401568"/>
            <a:ext cx="2788920" cy="274320"/>
          </a:xfrm>
          <a:prstGeom prst="rect">
            <a:avLst/>
          </a:prstGeom>
          <a:noFill/>
          <a:ln/>
        </p:spPr>
        <p:txBody>
          <a:bodyPr wrap="square" lIns="0" tIns="0" rIns="0" bIns="0" rtlCol="0" anchor="t"/>
          <a:lstStyle/>
          <a:p>
            <a:pPr marL="0" indent="0">
              <a:buNone/>
            </a:pPr>
            <a:r>
              <a:rPr lang="en-US" sz="1600" b="1" dirty="0">
                <a:solidFill>
                  <a:schemeClr val="tx1"/>
                </a:solidFill>
              </a:rPr>
              <a:t>Reticle</a:t>
            </a:r>
            <a:endParaRPr lang="en-US" sz="1600" dirty="0"/>
          </a:p>
        </p:txBody>
      </p:sp>
      <p:sp>
        <p:nvSpPr>
          <p:cNvPr id="23" name="Text 17"/>
          <p:cNvSpPr txBox="1"/>
          <p:nvPr/>
        </p:nvSpPr>
        <p:spPr>
          <a:xfrm>
            <a:off x="5897880" y="3703320"/>
            <a:ext cx="2788920" cy="685800"/>
          </a:xfrm>
          <a:prstGeom prst="rect">
            <a:avLst/>
          </a:prstGeom>
          <a:noFill/>
          <a:ln/>
        </p:spPr>
        <p:txBody>
          <a:bodyPr wrap="square" lIns="0" tIns="0" rIns="0" bIns="0" rtlCol="0" anchor="t"/>
          <a:lstStyle/>
          <a:p>
            <a:pPr marL="0" indent="0">
              <a:buNone/>
            </a:pPr>
            <a:r>
              <a:rPr lang="en-US" sz="1300" dirty="0">
                <a:solidFill>
                  <a:schemeClr val="tx2"/>
                </a:solidFill>
              </a:rPr>
              <a:t>The cyan ring shows where the ray lands.</a:t>
            </a:r>
            <a:endParaRPr lang="en-US" sz="1300" dirty="0"/>
          </a:p>
        </p:txBody>
      </p:sp>
      <p:sp>
        <p:nvSpPr>
          <p:cNvPr id="24" name="Text 18"/>
          <p:cNvSpPr txBox="1"/>
          <p:nvPr/>
        </p:nvSpPr>
        <p:spPr>
          <a:xfrm>
            <a:off x="5166360" y="4206240"/>
            <a:ext cx="3520440" cy="411480"/>
          </a:xfrm>
          <a:prstGeom prst="rect">
            <a:avLst/>
          </a:prstGeom>
          <a:noFill/>
          <a:ln/>
        </p:spPr>
        <p:txBody>
          <a:bodyPr wrap="square" lIns="0" tIns="0" rIns="0" bIns="0" rtlCol="0" anchor="t"/>
          <a:lstStyle/>
          <a:p>
            <a:pPr marL="0" indent="0">
              <a:buNone/>
            </a:pPr>
            <a:r>
              <a:rPr lang="en-US" sz="1200" i="1" dirty="0">
                <a:solidFill>
                  <a:schemeClr val="accent5"/>
                </a:solidFill>
              </a:rPr>
              <a:t>Tip: plain white surfaces are hard to detect, so scan textured floors and tables.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Step 2: Spawning Targets</a:t>
            </a:r>
            <a:endParaRPr lang="en-US" sz="3400" dirty="0"/>
          </a:p>
        </p:txBody>
      </p:sp>
      <p:sp>
        <p:nvSpPr>
          <p:cNvPr id="3" name="Spawn zone"/>
          <p:cNvSpPr/>
          <p:nvPr/>
        </p:nvSpPr>
        <p:spPr>
          <a:xfrm>
            <a:off x="531978" y="1965960"/>
            <a:ext cx="4239564" cy="2194560"/>
          </a:xfrm>
          <a:custGeom>
            <a:avLst/>
            <a:gdLst/>
            <a:ahLst/>
            <a:cxnLst/>
            <a:rect l="l" t="t" r="r" b="b"/>
            <a:pathLst>
              <a:path w="4239564" h="2194560">
                <a:moveTo>
                  <a:pt x="0" y="1626566"/>
                </a:moveTo>
                <a:lnTo>
                  <a:pt x="57570" y="1443976"/>
                </a:lnTo>
                <a:lnTo>
                  <a:pt x="130835" y="1267099"/>
                </a:lnTo>
                <a:lnTo>
                  <a:pt x="219237" y="1097280"/>
                </a:lnTo>
                <a:lnTo>
                  <a:pt x="322104" y="935812"/>
                </a:lnTo>
                <a:lnTo>
                  <a:pt x="438652" y="783924"/>
                </a:lnTo>
                <a:lnTo>
                  <a:pt x="567994" y="642772"/>
                </a:lnTo>
                <a:lnTo>
                  <a:pt x="709146" y="513430"/>
                </a:lnTo>
                <a:lnTo>
                  <a:pt x="861034" y="396882"/>
                </a:lnTo>
                <a:lnTo>
                  <a:pt x="1022502" y="294015"/>
                </a:lnTo>
                <a:lnTo>
                  <a:pt x="1192321" y="205613"/>
                </a:lnTo>
                <a:lnTo>
                  <a:pt x="1369198" y="132348"/>
                </a:lnTo>
                <a:lnTo>
                  <a:pt x="1551788" y="74778"/>
                </a:lnTo>
                <a:lnTo>
                  <a:pt x="1738701" y="33340"/>
                </a:lnTo>
                <a:lnTo>
                  <a:pt x="1928514" y="8351"/>
                </a:lnTo>
                <a:lnTo>
                  <a:pt x="2119782" y="0"/>
                </a:lnTo>
                <a:lnTo>
                  <a:pt x="2311051" y="8351"/>
                </a:lnTo>
                <a:lnTo>
                  <a:pt x="2500864" y="33340"/>
                </a:lnTo>
                <a:lnTo>
                  <a:pt x="2687776" y="74778"/>
                </a:lnTo>
                <a:lnTo>
                  <a:pt x="2870366" y="132348"/>
                </a:lnTo>
                <a:lnTo>
                  <a:pt x="3047243" y="205613"/>
                </a:lnTo>
                <a:lnTo>
                  <a:pt x="3217062" y="294015"/>
                </a:lnTo>
                <a:lnTo>
                  <a:pt x="3378530" y="396882"/>
                </a:lnTo>
                <a:lnTo>
                  <a:pt x="3530418" y="513430"/>
                </a:lnTo>
                <a:lnTo>
                  <a:pt x="3671570" y="642772"/>
                </a:lnTo>
                <a:lnTo>
                  <a:pt x="3800913" y="783924"/>
                </a:lnTo>
                <a:lnTo>
                  <a:pt x="3917460" y="935812"/>
                </a:lnTo>
                <a:lnTo>
                  <a:pt x="4020327" y="1097280"/>
                </a:lnTo>
                <a:lnTo>
                  <a:pt x="4108729" y="1267099"/>
                </a:lnTo>
                <a:lnTo>
                  <a:pt x="4181994" y="1443976"/>
                </a:lnTo>
                <a:lnTo>
                  <a:pt x="4239564" y="1626566"/>
                </a:lnTo>
                <a:lnTo>
                  <a:pt x="2914700" y="1981562"/>
                </a:lnTo>
                <a:lnTo>
                  <a:pt x="2893112" y="1913091"/>
                </a:lnTo>
                <a:lnTo>
                  <a:pt x="2865637" y="1846762"/>
                </a:lnTo>
                <a:lnTo>
                  <a:pt x="2832486" y="1783080"/>
                </a:lnTo>
                <a:lnTo>
                  <a:pt x="2793912" y="1722530"/>
                </a:lnTo>
                <a:lnTo>
                  <a:pt x="2750206" y="1665572"/>
                </a:lnTo>
                <a:lnTo>
                  <a:pt x="2701703" y="1612639"/>
                </a:lnTo>
                <a:lnTo>
                  <a:pt x="2648771" y="1564136"/>
                </a:lnTo>
                <a:lnTo>
                  <a:pt x="2591813" y="1520431"/>
                </a:lnTo>
                <a:lnTo>
                  <a:pt x="2531262" y="1481856"/>
                </a:lnTo>
                <a:lnTo>
                  <a:pt x="2467580" y="1448705"/>
                </a:lnTo>
                <a:lnTo>
                  <a:pt x="2401251" y="1421231"/>
                </a:lnTo>
                <a:lnTo>
                  <a:pt x="2332780" y="1399642"/>
                </a:lnTo>
                <a:lnTo>
                  <a:pt x="2262688" y="1384103"/>
                </a:lnTo>
                <a:lnTo>
                  <a:pt x="2191508" y="1374732"/>
                </a:lnTo>
                <a:lnTo>
                  <a:pt x="2119782" y="1371600"/>
                </a:lnTo>
                <a:lnTo>
                  <a:pt x="2048056" y="1374732"/>
                </a:lnTo>
                <a:lnTo>
                  <a:pt x="1976877" y="1384103"/>
                </a:lnTo>
                <a:lnTo>
                  <a:pt x="1906784" y="1399642"/>
                </a:lnTo>
                <a:lnTo>
                  <a:pt x="1838313" y="1421231"/>
                </a:lnTo>
                <a:lnTo>
                  <a:pt x="1771984" y="1448705"/>
                </a:lnTo>
                <a:lnTo>
                  <a:pt x="1708302" y="1481856"/>
                </a:lnTo>
                <a:lnTo>
                  <a:pt x="1647752" y="1520431"/>
                </a:lnTo>
                <a:lnTo>
                  <a:pt x="1590794" y="1564136"/>
                </a:lnTo>
                <a:lnTo>
                  <a:pt x="1537862" y="1612639"/>
                </a:lnTo>
                <a:lnTo>
                  <a:pt x="1489358" y="1665572"/>
                </a:lnTo>
                <a:lnTo>
                  <a:pt x="1445653" y="1722530"/>
                </a:lnTo>
                <a:lnTo>
                  <a:pt x="1407078" y="1783080"/>
                </a:lnTo>
                <a:lnTo>
                  <a:pt x="1373927" y="1846762"/>
                </a:lnTo>
                <a:lnTo>
                  <a:pt x="1346453" y="1913091"/>
                </a:lnTo>
                <a:lnTo>
                  <a:pt x="1324864" y="1981562"/>
                </a:lnTo>
                <a:close/>
              </a:path>
            </a:pathLst>
          </a:custGeom>
          <a:solidFill>
            <a:srgbClr val="00B8D9">
              <a:alpha val="35000"/>
            </a:srgbClr>
          </a:solidFill>
          <a:ln w="19050">
            <a:solidFill>
              <a:srgbClr val="00B8D9"/>
            </a:solidFill>
            <a:prstDash val="solid"/>
          </a:ln>
        </p:spPr>
        <p:txBody>
          <a:bodyPr/>
          <a:lstStyle/>
          <a:p>
            <a:endParaRPr lang="en-IN"/>
          </a:p>
        </p:txBody>
      </p:sp>
      <p:sp>
        <p:nvSpPr>
          <p:cNvPr id="4" name="Forward line"/>
          <p:cNvSpPr/>
          <p:nvPr/>
        </p:nvSpPr>
        <p:spPr>
          <a:xfrm>
            <a:off x="2651760" y="1965960"/>
            <a:ext cx="0" cy="2194560"/>
          </a:xfrm>
          <a:prstGeom prst="line">
            <a:avLst/>
          </a:prstGeom>
          <a:noFill/>
          <a:ln w="15875">
            <a:solidFill>
              <a:schemeClr val="tx2"/>
            </a:solidFill>
            <a:prstDash val="dash"/>
          </a:ln>
        </p:spPr>
        <p:txBody>
          <a:bodyPr/>
          <a:lstStyle/>
          <a:p>
            <a:endParaRPr lang="en-IN"/>
          </a:p>
        </p:txBody>
      </p:sp>
      <p:sp>
        <p:nvSpPr>
          <p:cNvPr id="5" name="Spawned target 1 outer"/>
          <p:cNvSpPr/>
          <p:nvPr/>
        </p:nvSpPr>
        <p:spPr>
          <a:xfrm>
            <a:off x="1058207" y="2796887"/>
            <a:ext cx="329184" cy="329184"/>
          </a:xfrm>
          <a:prstGeom prst="ellipse">
            <a:avLst/>
          </a:prstGeom>
          <a:solidFill>
            <a:srgbClr val="D9232D"/>
          </a:solidFill>
          <a:ln/>
        </p:spPr>
        <p:txBody>
          <a:bodyPr/>
          <a:lstStyle/>
          <a:p>
            <a:endParaRPr lang="en-IN"/>
          </a:p>
        </p:txBody>
      </p:sp>
      <p:sp>
        <p:nvSpPr>
          <p:cNvPr id="6" name="Spawned target 1 ring"/>
          <p:cNvSpPr/>
          <p:nvPr/>
        </p:nvSpPr>
        <p:spPr>
          <a:xfrm>
            <a:off x="1114168" y="2852849"/>
            <a:ext cx="217261" cy="217261"/>
          </a:xfrm>
          <a:prstGeom prst="ellipse">
            <a:avLst/>
          </a:prstGeom>
          <a:solidFill>
            <a:srgbClr val="FFFFFF"/>
          </a:solidFill>
          <a:ln/>
        </p:spPr>
        <p:txBody>
          <a:bodyPr/>
          <a:lstStyle/>
          <a:p>
            <a:endParaRPr lang="en-IN"/>
          </a:p>
        </p:txBody>
      </p:sp>
      <p:sp>
        <p:nvSpPr>
          <p:cNvPr id="7" name="Spawned target 1 centre"/>
          <p:cNvSpPr/>
          <p:nvPr/>
        </p:nvSpPr>
        <p:spPr>
          <a:xfrm>
            <a:off x="1176713" y="2915394"/>
            <a:ext cx="92172" cy="92172"/>
          </a:xfrm>
          <a:prstGeom prst="ellipse">
            <a:avLst/>
          </a:prstGeom>
          <a:solidFill>
            <a:srgbClr val="FFA500"/>
          </a:solidFill>
          <a:ln/>
        </p:spPr>
        <p:txBody>
          <a:bodyPr/>
          <a:lstStyle/>
          <a:p>
            <a:endParaRPr lang="en-IN"/>
          </a:p>
        </p:txBody>
      </p:sp>
      <p:sp>
        <p:nvSpPr>
          <p:cNvPr id="8" name="Spawned target 2 outer"/>
          <p:cNvSpPr/>
          <p:nvPr/>
        </p:nvSpPr>
        <p:spPr>
          <a:xfrm>
            <a:off x="2174771" y="2830048"/>
            <a:ext cx="329184" cy="329184"/>
          </a:xfrm>
          <a:prstGeom prst="ellipse">
            <a:avLst/>
          </a:prstGeom>
          <a:solidFill>
            <a:srgbClr val="D9232D"/>
          </a:solidFill>
          <a:ln/>
        </p:spPr>
        <p:txBody>
          <a:bodyPr/>
          <a:lstStyle/>
          <a:p>
            <a:endParaRPr lang="en-IN"/>
          </a:p>
        </p:txBody>
      </p:sp>
      <p:sp>
        <p:nvSpPr>
          <p:cNvPr id="9" name="Spawned target 2 ring"/>
          <p:cNvSpPr/>
          <p:nvPr/>
        </p:nvSpPr>
        <p:spPr>
          <a:xfrm>
            <a:off x="2230733" y="2886009"/>
            <a:ext cx="217261" cy="217261"/>
          </a:xfrm>
          <a:prstGeom prst="ellipse">
            <a:avLst/>
          </a:prstGeom>
          <a:solidFill>
            <a:srgbClr val="FFFFFF"/>
          </a:solidFill>
          <a:ln/>
        </p:spPr>
        <p:txBody>
          <a:bodyPr/>
          <a:lstStyle/>
          <a:p>
            <a:endParaRPr lang="en-IN"/>
          </a:p>
        </p:txBody>
      </p:sp>
      <p:sp>
        <p:nvSpPr>
          <p:cNvPr id="10" name="Spawned target 2 centre"/>
          <p:cNvSpPr/>
          <p:nvPr/>
        </p:nvSpPr>
        <p:spPr>
          <a:xfrm>
            <a:off x="2293278" y="2948554"/>
            <a:ext cx="92172" cy="92172"/>
          </a:xfrm>
          <a:prstGeom prst="ellipse">
            <a:avLst/>
          </a:prstGeom>
          <a:solidFill>
            <a:srgbClr val="FFA500"/>
          </a:solidFill>
          <a:ln/>
        </p:spPr>
        <p:txBody>
          <a:bodyPr/>
          <a:lstStyle/>
          <a:p>
            <a:endParaRPr lang="en-IN"/>
          </a:p>
        </p:txBody>
      </p:sp>
      <p:sp>
        <p:nvSpPr>
          <p:cNvPr id="11" name="Spawned target 3 outer"/>
          <p:cNvSpPr/>
          <p:nvPr/>
        </p:nvSpPr>
        <p:spPr>
          <a:xfrm>
            <a:off x="2998363" y="2088124"/>
            <a:ext cx="329184" cy="329184"/>
          </a:xfrm>
          <a:prstGeom prst="ellipse">
            <a:avLst/>
          </a:prstGeom>
          <a:solidFill>
            <a:srgbClr val="D9232D"/>
          </a:solidFill>
          <a:ln/>
        </p:spPr>
        <p:txBody>
          <a:bodyPr/>
          <a:lstStyle/>
          <a:p>
            <a:endParaRPr lang="en-IN"/>
          </a:p>
        </p:txBody>
      </p:sp>
      <p:sp>
        <p:nvSpPr>
          <p:cNvPr id="12" name="Spawned target 3 ring"/>
          <p:cNvSpPr/>
          <p:nvPr/>
        </p:nvSpPr>
        <p:spPr>
          <a:xfrm>
            <a:off x="3054324" y="2144085"/>
            <a:ext cx="217261" cy="217261"/>
          </a:xfrm>
          <a:prstGeom prst="ellipse">
            <a:avLst/>
          </a:prstGeom>
          <a:solidFill>
            <a:srgbClr val="FFFFFF"/>
          </a:solidFill>
          <a:ln/>
        </p:spPr>
        <p:txBody>
          <a:bodyPr/>
          <a:lstStyle/>
          <a:p>
            <a:endParaRPr lang="en-IN"/>
          </a:p>
        </p:txBody>
      </p:sp>
      <p:sp>
        <p:nvSpPr>
          <p:cNvPr id="13" name="Spawned target 3 centre"/>
          <p:cNvSpPr/>
          <p:nvPr/>
        </p:nvSpPr>
        <p:spPr>
          <a:xfrm>
            <a:off x="3116869" y="2206630"/>
            <a:ext cx="92172" cy="92172"/>
          </a:xfrm>
          <a:prstGeom prst="ellipse">
            <a:avLst/>
          </a:prstGeom>
          <a:solidFill>
            <a:srgbClr val="FFA500"/>
          </a:solidFill>
          <a:ln/>
        </p:spPr>
        <p:txBody>
          <a:bodyPr/>
          <a:lstStyle/>
          <a:p>
            <a:endParaRPr lang="en-IN"/>
          </a:p>
        </p:txBody>
      </p:sp>
      <p:sp>
        <p:nvSpPr>
          <p:cNvPr id="14" name="Spawned target 4 outer"/>
          <p:cNvSpPr/>
          <p:nvPr/>
        </p:nvSpPr>
        <p:spPr>
          <a:xfrm>
            <a:off x="3333550" y="2987250"/>
            <a:ext cx="329184" cy="329184"/>
          </a:xfrm>
          <a:prstGeom prst="ellipse">
            <a:avLst/>
          </a:prstGeom>
          <a:solidFill>
            <a:srgbClr val="D9232D"/>
          </a:solidFill>
          <a:ln/>
        </p:spPr>
        <p:txBody>
          <a:bodyPr/>
          <a:lstStyle/>
          <a:p>
            <a:endParaRPr lang="en-IN"/>
          </a:p>
        </p:txBody>
      </p:sp>
      <p:sp>
        <p:nvSpPr>
          <p:cNvPr id="15" name="Spawned target 4 ring"/>
          <p:cNvSpPr/>
          <p:nvPr/>
        </p:nvSpPr>
        <p:spPr>
          <a:xfrm>
            <a:off x="3389511" y="3043211"/>
            <a:ext cx="217261" cy="217261"/>
          </a:xfrm>
          <a:prstGeom prst="ellipse">
            <a:avLst/>
          </a:prstGeom>
          <a:solidFill>
            <a:srgbClr val="FFFFFF"/>
          </a:solidFill>
          <a:ln/>
        </p:spPr>
        <p:txBody>
          <a:bodyPr/>
          <a:lstStyle/>
          <a:p>
            <a:endParaRPr lang="en-IN"/>
          </a:p>
        </p:txBody>
      </p:sp>
      <p:sp>
        <p:nvSpPr>
          <p:cNvPr id="16" name="Spawned target 4 centre"/>
          <p:cNvSpPr/>
          <p:nvPr/>
        </p:nvSpPr>
        <p:spPr>
          <a:xfrm>
            <a:off x="3452056" y="3105756"/>
            <a:ext cx="92172" cy="92172"/>
          </a:xfrm>
          <a:prstGeom prst="ellipse">
            <a:avLst/>
          </a:prstGeom>
          <a:solidFill>
            <a:srgbClr val="FFA500"/>
          </a:solidFill>
          <a:ln/>
        </p:spPr>
        <p:txBody>
          <a:bodyPr/>
          <a:lstStyle/>
          <a:p>
            <a:endParaRPr lang="en-IN"/>
          </a:p>
        </p:txBody>
      </p:sp>
      <p:sp>
        <p:nvSpPr>
          <p:cNvPr id="17" name="Spawned target 5 outer"/>
          <p:cNvSpPr/>
          <p:nvPr/>
        </p:nvSpPr>
        <p:spPr>
          <a:xfrm>
            <a:off x="921805" y="3487311"/>
            <a:ext cx="329184" cy="329184"/>
          </a:xfrm>
          <a:prstGeom prst="ellipse">
            <a:avLst/>
          </a:prstGeom>
          <a:solidFill>
            <a:srgbClr val="D9232D"/>
          </a:solidFill>
          <a:ln/>
        </p:spPr>
        <p:txBody>
          <a:bodyPr/>
          <a:lstStyle/>
          <a:p>
            <a:endParaRPr lang="en-IN"/>
          </a:p>
        </p:txBody>
      </p:sp>
      <p:sp>
        <p:nvSpPr>
          <p:cNvPr id="18" name="Spawned target 5 ring"/>
          <p:cNvSpPr/>
          <p:nvPr/>
        </p:nvSpPr>
        <p:spPr>
          <a:xfrm>
            <a:off x="977766" y="3543272"/>
            <a:ext cx="217261" cy="217261"/>
          </a:xfrm>
          <a:prstGeom prst="ellipse">
            <a:avLst/>
          </a:prstGeom>
          <a:solidFill>
            <a:srgbClr val="FFFFFF"/>
          </a:solidFill>
          <a:ln/>
        </p:spPr>
        <p:txBody>
          <a:bodyPr/>
          <a:lstStyle/>
          <a:p>
            <a:endParaRPr lang="en-IN"/>
          </a:p>
        </p:txBody>
      </p:sp>
      <p:sp>
        <p:nvSpPr>
          <p:cNvPr id="19" name="Spawned target 5 centre"/>
          <p:cNvSpPr/>
          <p:nvPr/>
        </p:nvSpPr>
        <p:spPr>
          <a:xfrm>
            <a:off x="1040311" y="3605817"/>
            <a:ext cx="92172" cy="92172"/>
          </a:xfrm>
          <a:prstGeom prst="ellipse">
            <a:avLst/>
          </a:prstGeom>
          <a:solidFill>
            <a:srgbClr val="FFA500"/>
          </a:solidFill>
          <a:ln/>
        </p:spPr>
        <p:txBody>
          <a:bodyPr/>
          <a:lstStyle/>
          <a:p>
            <a:endParaRPr lang="en-IN"/>
          </a:p>
        </p:txBody>
      </p:sp>
      <p:sp>
        <p:nvSpPr>
          <p:cNvPr id="20" name="Player"/>
          <p:cNvSpPr/>
          <p:nvPr/>
        </p:nvSpPr>
        <p:spPr>
          <a:xfrm>
            <a:off x="2523744" y="4032504"/>
            <a:ext cx="256032" cy="256032"/>
          </a:xfrm>
          <a:prstGeom prst="ellipse">
            <a:avLst/>
          </a:prstGeom>
          <a:solidFill>
            <a:schemeClr val="tx1"/>
          </a:solidFill>
          <a:ln/>
        </p:spPr>
        <p:txBody>
          <a:bodyPr/>
          <a:lstStyle/>
          <a:p>
            <a:endParaRPr lang="en-IN"/>
          </a:p>
        </p:txBody>
      </p:sp>
      <p:sp>
        <p:nvSpPr>
          <p:cNvPr id="21" name="Text 19"/>
          <p:cNvSpPr txBox="1"/>
          <p:nvPr/>
        </p:nvSpPr>
        <p:spPr>
          <a:xfrm>
            <a:off x="2194560" y="4343400"/>
            <a:ext cx="914400" cy="256032"/>
          </a:xfrm>
          <a:prstGeom prst="rect">
            <a:avLst/>
          </a:prstGeom>
          <a:noFill/>
          <a:ln/>
        </p:spPr>
        <p:txBody>
          <a:bodyPr wrap="square" lIns="0" tIns="0" rIns="0" bIns="0" rtlCol="0" anchor="t"/>
          <a:lstStyle/>
          <a:p>
            <a:pPr marL="0" indent="0" algn="ctr">
              <a:buNone/>
            </a:pPr>
            <a:r>
              <a:rPr lang="en-US" sz="1200" b="1" dirty="0">
                <a:solidFill>
                  <a:schemeClr val="tx1"/>
                </a:solidFill>
              </a:rPr>
              <a:t>You</a:t>
            </a:r>
            <a:endParaRPr lang="en-US" sz="1200" dirty="0"/>
          </a:p>
        </p:txBody>
      </p:sp>
      <p:sp>
        <p:nvSpPr>
          <p:cNvPr id="22" name="Text 20"/>
          <p:cNvSpPr txBox="1"/>
          <p:nvPr/>
        </p:nvSpPr>
        <p:spPr>
          <a:xfrm>
            <a:off x="2194560" y="1691640"/>
            <a:ext cx="914400" cy="256032"/>
          </a:xfrm>
          <a:prstGeom prst="rect">
            <a:avLst/>
          </a:prstGeom>
          <a:noFill/>
          <a:ln/>
        </p:spPr>
        <p:txBody>
          <a:bodyPr wrap="square" lIns="0" tIns="0" rIns="0" bIns="0" rtlCol="0" anchor="t"/>
          <a:lstStyle/>
          <a:p>
            <a:pPr marL="0" indent="0" algn="ctr">
              <a:buNone/>
            </a:pPr>
            <a:r>
              <a:rPr lang="en-US" sz="1200" b="1" dirty="0">
                <a:solidFill>
                  <a:schemeClr val="tx1"/>
                </a:solidFill>
              </a:rPr>
              <a:t>4 m</a:t>
            </a:r>
            <a:endParaRPr lang="en-US" sz="1200" dirty="0"/>
          </a:p>
        </p:txBody>
      </p:sp>
      <p:sp>
        <p:nvSpPr>
          <p:cNvPr id="23" name="Text 21"/>
          <p:cNvSpPr txBox="1"/>
          <p:nvPr/>
        </p:nvSpPr>
        <p:spPr>
          <a:xfrm>
            <a:off x="2286000" y="3429000"/>
            <a:ext cx="731520" cy="256032"/>
          </a:xfrm>
          <a:prstGeom prst="rect">
            <a:avLst/>
          </a:prstGeom>
          <a:noFill/>
          <a:ln/>
        </p:spPr>
        <p:txBody>
          <a:bodyPr wrap="square" lIns="0" tIns="0" rIns="0" bIns="0" rtlCol="0" anchor="t"/>
          <a:lstStyle/>
          <a:p>
            <a:pPr marL="0" indent="0" algn="ctr">
              <a:buNone/>
            </a:pPr>
            <a:r>
              <a:rPr lang="en-US" sz="1200" b="1" dirty="0">
                <a:solidFill>
                  <a:schemeClr val="tx1"/>
                </a:solidFill>
              </a:rPr>
              <a:t>1.5 m</a:t>
            </a:r>
            <a:endParaRPr lang="en-US" sz="1200" dirty="0"/>
          </a:p>
        </p:txBody>
      </p:sp>
      <p:sp>
        <p:nvSpPr>
          <p:cNvPr id="24" name="Text 22"/>
          <p:cNvSpPr txBox="1"/>
          <p:nvPr/>
        </p:nvSpPr>
        <p:spPr>
          <a:xfrm>
            <a:off x="457200" y="3154680"/>
            <a:ext cx="731520" cy="256032"/>
          </a:xfrm>
          <a:prstGeom prst="rect">
            <a:avLst/>
          </a:prstGeom>
          <a:noFill/>
          <a:ln/>
        </p:spPr>
        <p:txBody>
          <a:bodyPr wrap="square" lIns="0" tIns="0" rIns="0" bIns="0" rtlCol="0" anchor="t"/>
          <a:lstStyle/>
          <a:p>
            <a:pPr marL="0" indent="0">
              <a:buNone/>
            </a:pPr>
            <a:r>
              <a:rPr lang="en-US" sz="1200" b="1" dirty="0">
                <a:solidFill>
                  <a:schemeClr val="tx1"/>
                </a:solidFill>
              </a:rPr>
              <a:t>±75°</a:t>
            </a:r>
            <a:endParaRPr lang="en-US" sz="1200" dirty="0"/>
          </a:p>
        </p:txBody>
      </p:sp>
      <p:sp>
        <p:nvSpPr>
          <p:cNvPr id="25" name="Rule 1 circle"/>
          <p:cNvSpPr/>
          <p:nvPr/>
        </p:nvSpPr>
        <p:spPr>
          <a:xfrm>
            <a:off x="5394960" y="1417320"/>
            <a:ext cx="384048" cy="384048"/>
          </a:xfrm>
          <a:prstGeom prst="ellipse">
            <a:avLst/>
          </a:prstGeom>
          <a:solidFill>
            <a:schemeClr val="accent4"/>
          </a:solidFill>
          <a:ln/>
        </p:spPr>
        <p:txBody>
          <a:bodyPr/>
          <a:lstStyle/>
          <a:p>
            <a:endParaRPr lang="en-IN"/>
          </a:p>
        </p:txBody>
      </p:sp>
      <p:pic>
        <p:nvPicPr>
          <p:cNvPr id="26" name="Image 0" descr="FaCheckCircle icon"/>
          <p:cNvPicPr>
            <a:picLocks noChangeAspect="1"/>
          </p:cNvPicPr>
          <p:nvPr/>
        </p:nvPicPr>
        <p:blipFill>
          <a:blip r:embed="rId3"/>
          <a:stretch>
            <a:fillRect/>
          </a:stretch>
        </p:blipFill>
        <p:spPr>
          <a:xfrm>
            <a:off x="5487132" y="1509492"/>
            <a:ext cx="199705" cy="199705"/>
          </a:xfrm>
          <a:prstGeom prst="rect">
            <a:avLst/>
          </a:prstGeom>
        </p:spPr>
      </p:pic>
      <p:sp>
        <p:nvSpPr>
          <p:cNvPr id="27" name="Text 24"/>
          <p:cNvSpPr txBox="1"/>
          <p:nvPr/>
        </p:nvSpPr>
        <p:spPr>
          <a:xfrm>
            <a:off x="5943600" y="1399032"/>
            <a:ext cx="2743200" cy="457200"/>
          </a:xfrm>
          <a:prstGeom prst="rect">
            <a:avLst/>
          </a:prstGeom>
          <a:noFill/>
          <a:ln/>
        </p:spPr>
        <p:txBody>
          <a:bodyPr wrap="square" lIns="0" tIns="0" rIns="0" bIns="0" rtlCol="0" anchor="ctr"/>
          <a:lstStyle/>
          <a:p>
            <a:pPr marL="0" indent="0">
              <a:buNone/>
            </a:pPr>
            <a:r>
              <a:rPr lang="en-US" sz="1500" dirty="0">
                <a:solidFill>
                  <a:schemeClr val="tx1"/>
                </a:solidFill>
              </a:rPr>
              <a:t>5 targets at once (Normal mode)</a:t>
            </a:r>
            <a:endParaRPr lang="en-US" sz="1500" dirty="0"/>
          </a:p>
        </p:txBody>
      </p:sp>
      <p:sp>
        <p:nvSpPr>
          <p:cNvPr id="28" name="Rule 2 circle"/>
          <p:cNvSpPr/>
          <p:nvPr/>
        </p:nvSpPr>
        <p:spPr>
          <a:xfrm>
            <a:off x="5394960" y="2075688"/>
            <a:ext cx="384048" cy="384048"/>
          </a:xfrm>
          <a:prstGeom prst="ellipse">
            <a:avLst/>
          </a:prstGeom>
          <a:solidFill>
            <a:schemeClr val="accent4"/>
          </a:solidFill>
          <a:ln/>
        </p:spPr>
        <p:txBody>
          <a:bodyPr/>
          <a:lstStyle/>
          <a:p>
            <a:endParaRPr lang="en-IN"/>
          </a:p>
        </p:txBody>
      </p:sp>
      <p:pic>
        <p:nvPicPr>
          <p:cNvPr id="29" name="Image 1" descr="FaCheckCircle icon"/>
          <p:cNvPicPr>
            <a:picLocks noChangeAspect="1"/>
          </p:cNvPicPr>
          <p:nvPr/>
        </p:nvPicPr>
        <p:blipFill>
          <a:blip r:embed="rId3"/>
          <a:stretch>
            <a:fillRect/>
          </a:stretch>
        </p:blipFill>
        <p:spPr>
          <a:xfrm>
            <a:off x="5487132" y="2167860"/>
            <a:ext cx="199705" cy="199705"/>
          </a:xfrm>
          <a:prstGeom prst="rect">
            <a:avLst/>
          </a:prstGeom>
        </p:spPr>
      </p:pic>
      <p:sp>
        <p:nvSpPr>
          <p:cNvPr id="30" name="Text 26"/>
          <p:cNvSpPr txBox="1"/>
          <p:nvPr/>
        </p:nvSpPr>
        <p:spPr>
          <a:xfrm>
            <a:off x="5943600" y="2057400"/>
            <a:ext cx="2743200" cy="457200"/>
          </a:xfrm>
          <a:prstGeom prst="rect">
            <a:avLst/>
          </a:prstGeom>
          <a:noFill/>
          <a:ln/>
        </p:spPr>
        <p:txBody>
          <a:bodyPr wrap="square" lIns="0" tIns="0" rIns="0" bIns="0" rtlCol="0" anchor="ctr"/>
          <a:lstStyle/>
          <a:p>
            <a:pPr marL="0" indent="0">
              <a:buNone/>
            </a:pPr>
            <a:r>
              <a:rPr lang="en-US" sz="1500" dirty="0">
                <a:solidFill>
                  <a:schemeClr val="tx1"/>
                </a:solidFill>
              </a:rPr>
              <a:t>1.5 to 4 m away, at mixed heights</a:t>
            </a:r>
            <a:endParaRPr lang="en-US" sz="1500" dirty="0"/>
          </a:p>
        </p:txBody>
      </p:sp>
      <p:sp>
        <p:nvSpPr>
          <p:cNvPr id="31" name="Rule 3 circle"/>
          <p:cNvSpPr/>
          <p:nvPr/>
        </p:nvSpPr>
        <p:spPr>
          <a:xfrm>
            <a:off x="5394960" y="2734056"/>
            <a:ext cx="384048" cy="384048"/>
          </a:xfrm>
          <a:prstGeom prst="ellipse">
            <a:avLst/>
          </a:prstGeom>
          <a:solidFill>
            <a:schemeClr val="accent4"/>
          </a:solidFill>
          <a:ln/>
        </p:spPr>
        <p:txBody>
          <a:bodyPr/>
          <a:lstStyle/>
          <a:p>
            <a:endParaRPr lang="en-IN"/>
          </a:p>
        </p:txBody>
      </p:sp>
      <p:pic>
        <p:nvPicPr>
          <p:cNvPr id="32" name="Image 2" descr="FaCheckCircle icon"/>
          <p:cNvPicPr>
            <a:picLocks noChangeAspect="1"/>
          </p:cNvPicPr>
          <p:nvPr/>
        </p:nvPicPr>
        <p:blipFill>
          <a:blip r:embed="rId3"/>
          <a:stretch>
            <a:fillRect/>
          </a:stretch>
        </p:blipFill>
        <p:spPr>
          <a:xfrm>
            <a:off x="5487132" y="2826228"/>
            <a:ext cx="199705" cy="199705"/>
          </a:xfrm>
          <a:prstGeom prst="rect">
            <a:avLst/>
          </a:prstGeom>
        </p:spPr>
      </p:pic>
      <p:sp>
        <p:nvSpPr>
          <p:cNvPr id="33" name="Text 28"/>
          <p:cNvSpPr txBox="1"/>
          <p:nvPr/>
        </p:nvSpPr>
        <p:spPr>
          <a:xfrm>
            <a:off x="5943600" y="2715768"/>
            <a:ext cx="2743200" cy="457200"/>
          </a:xfrm>
          <a:prstGeom prst="rect">
            <a:avLst/>
          </a:prstGeom>
          <a:noFill/>
          <a:ln/>
        </p:spPr>
        <p:txBody>
          <a:bodyPr wrap="square" lIns="0" tIns="0" rIns="0" bIns="0" rtlCol="0" anchor="ctr"/>
          <a:lstStyle/>
          <a:p>
            <a:pPr marL="0" indent="0">
              <a:buNone/>
            </a:pPr>
            <a:r>
              <a:rPr lang="en-US" sz="1500" dirty="0">
                <a:solidFill>
                  <a:schemeClr val="tx1"/>
                </a:solidFill>
              </a:rPr>
              <a:t>At least 0.7 m apart</a:t>
            </a:r>
            <a:endParaRPr lang="en-US" sz="1500" dirty="0"/>
          </a:p>
        </p:txBody>
      </p:sp>
      <p:sp>
        <p:nvSpPr>
          <p:cNvPr id="34" name="Rule 4 circle"/>
          <p:cNvSpPr/>
          <p:nvPr/>
        </p:nvSpPr>
        <p:spPr>
          <a:xfrm>
            <a:off x="5394960" y="3392424"/>
            <a:ext cx="384048" cy="384048"/>
          </a:xfrm>
          <a:prstGeom prst="ellipse">
            <a:avLst/>
          </a:prstGeom>
          <a:solidFill>
            <a:schemeClr val="accent4"/>
          </a:solidFill>
          <a:ln/>
        </p:spPr>
        <p:txBody>
          <a:bodyPr/>
          <a:lstStyle/>
          <a:p>
            <a:endParaRPr lang="en-IN"/>
          </a:p>
        </p:txBody>
      </p:sp>
      <p:pic>
        <p:nvPicPr>
          <p:cNvPr id="35" name="Image 3" descr="FaCheckCircle icon"/>
          <p:cNvPicPr>
            <a:picLocks noChangeAspect="1"/>
          </p:cNvPicPr>
          <p:nvPr/>
        </p:nvPicPr>
        <p:blipFill>
          <a:blip r:embed="rId3"/>
          <a:stretch>
            <a:fillRect/>
          </a:stretch>
        </p:blipFill>
        <p:spPr>
          <a:xfrm>
            <a:off x="5487132" y="3484596"/>
            <a:ext cx="199705" cy="199705"/>
          </a:xfrm>
          <a:prstGeom prst="rect">
            <a:avLst/>
          </a:prstGeom>
        </p:spPr>
      </p:pic>
      <p:sp>
        <p:nvSpPr>
          <p:cNvPr id="36" name="Text 30"/>
          <p:cNvSpPr txBox="1"/>
          <p:nvPr/>
        </p:nvSpPr>
        <p:spPr>
          <a:xfrm>
            <a:off x="5943600" y="3374136"/>
            <a:ext cx="2743200" cy="457200"/>
          </a:xfrm>
          <a:prstGeom prst="rect">
            <a:avLst/>
          </a:prstGeom>
          <a:noFill/>
          <a:ln/>
        </p:spPr>
        <p:txBody>
          <a:bodyPr wrap="square" lIns="0" tIns="0" rIns="0" bIns="0" rtlCol="0" anchor="ctr"/>
          <a:lstStyle/>
          <a:p>
            <a:pPr marL="0" indent="0">
              <a:buNone/>
            </a:pPr>
            <a:r>
              <a:rPr lang="en-US" sz="1500" dirty="0">
                <a:solidFill>
                  <a:schemeClr val="tx1"/>
                </a:solidFill>
              </a:rPr>
              <a:t>Bob, drift and face you</a:t>
            </a:r>
            <a:endParaRPr lang="en-US" sz="1500" dirty="0"/>
          </a:p>
        </p:txBody>
      </p:sp>
      <p:sp>
        <p:nvSpPr>
          <p:cNvPr id="37" name="Rule 5 circle"/>
          <p:cNvSpPr/>
          <p:nvPr/>
        </p:nvSpPr>
        <p:spPr>
          <a:xfrm>
            <a:off x="5394960" y="4050792"/>
            <a:ext cx="384048" cy="384048"/>
          </a:xfrm>
          <a:prstGeom prst="ellipse">
            <a:avLst/>
          </a:prstGeom>
          <a:solidFill>
            <a:schemeClr val="accent4"/>
          </a:solidFill>
          <a:ln/>
        </p:spPr>
        <p:txBody>
          <a:bodyPr/>
          <a:lstStyle/>
          <a:p>
            <a:endParaRPr lang="en-IN"/>
          </a:p>
        </p:txBody>
      </p:sp>
      <p:pic>
        <p:nvPicPr>
          <p:cNvPr id="38" name="Image 4" descr="FaCheckCircle icon"/>
          <p:cNvPicPr>
            <a:picLocks noChangeAspect="1"/>
          </p:cNvPicPr>
          <p:nvPr/>
        </p:nvPicPr>
        <p:blipFill>
          <a:blip r:embed="rId3"/>
          <a:stretch>
            <a:fillRect/>
          </a:stretch>
        </p:blipFill>
        <p:spPr>
          <a:xfrm>
            <a:off x="5487132" y="4142964"/>
            <a:ext cx="199705" cy="199705"/>
          </a:xfrm>
          <a:prstGeom prst="rect">
            <a:avLst/>
          </a:prstGeom>
        </p:spPr>
      </p:pic>
      <p:sp>
        <p:nvSpPr>
          <p:cNvPr id="39" name="Text 32"/>
          <p:cNvSpPr txBox="1"/>
          <p:nvPr/>
        </p:nvSpPr>
        <p:spPr>
          <a:xfrm>
            <a:off x="5943600" y="4032504"/>
            <a:ext cx="2743200" cy="457200"/>
          </a:xfrm>
          <a:prstGeom prst="rect">
            <a:avLst/>
          </a:prstGeom>
          <a:noFill/>
          <a:ln/>
        </p:spPr>
        <p:txBody>
          <a:bodyPr wrap="square" lIns="0" tIns="0" rIns="0" bIns="0" rtlCol="0" anchor="ctr"/>
          <a:lstStyle/>
          <a:p>
            <a:pPr marL="0" indent="0">
              <a:buNone/>
            </a:pPr>
            <a:r>
              <a:rPr lang="en-US" sz="1500" dirty="0">
                <a:solidFill>
                  <a:schemeClr val="tx1"/>
                </a:solidFill>
              </a:rPr>
              <a:t>Live 20 seconds, then respawn elsewhere</a:t>
            </a:r>
            <a:endParaRPr lang="en-US" sz="1500" dirty="0"/>
          </a:p>
        </p:txBody>
      </p:sp>
      <p:sp>
        <p:nvSpPr>
          <p:cNvPr id="4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Steps 3 &amp; 4: Aim and Shoot</a:t>
            </a:r>
            <a:endParaRPr lang="en-US" sz="3400" dirty="0"/>
          </a:p>
        </p:txBody>
      </p:sp>
      <p:sp>
        <p:nvSpPr>
          <p:cNvPr id="3" name="Arc panel"/>
          <p:cNvSpPr/>
          <p:nvPr/>
        </p:nvSpPr>
        <p:spPr>
          <a:xfrm>
            <a:off x="457200" y="1188720"/>
            <a:ext cx="8229600" cy="2103120"/>
          </a:xfrm>
          <a:prstGeom prst="roundRect">
            <a:avLst>
              <a:gd name="adj" fmla="val 5217"/>
            </a:avLst>
          </a:prstGeom>
          <a:solidFill>
            <a:schemeClr val="bg2"/>
          </a:solidFill>
          <a:ln/>
        </p:spPr>
        <p:txBody>
          <a:bodyPr/>
          <a:lstStyle/>
          <a:p>
            <a:endParaRPr lang="en-IN"/>
          </a:p>
        </p:txBody>
      </p:sp>
      <p:pic>
        <p:nvPicPr>
          <p:cNvPr id="4" name="Image 0" descr="Phone"/>
          <p:cNvPicPr>
            <a:picLocks noChangeAspect="1"/>
          </p:cNvPicPr>
          <p:nvPr/>
        </p:nvPicPr>
        <p:blipFill>
          <a:blip r:embed="rId3"/>
          <a:stretch>
            <a:fillRect/>
          </a:stretch>
        </p:blipFill>
        <p:spPr>
          <a:xfrm>
            <a:off x="685800" y="1600200"/>
            <a:ext cx="457200" cy="457200"/>
          </a:xfrm>
          <a:prstGeom prst="rect">
            <a:avLst/>
          </a:prstGeom>
        </p:spPr>
      </p:pic>
      <p:sp>
        <p:nvSpPr>
          <p:cNvPr id="5" name="Arc dot"/>
          <p:cNvSpPr/>
          <p:nvPr/>
        </p:nvSpPr>
        <p:spPr>
          <a:xfrm>
            <a:off x="1325880" y="1965960"/>
            <a:ext cx="91440" cy="91440"/>
          </a:xfrm>
          <a:prstGeom prst="ellipse">
            <a:avLst/>
          </a:prstGeom>
          <a:solidFill>
            <a:srgbClr val="FF9F1C"/>
          </a:solidFill>
          <a:ln/>
        </p:spPr>
        <p:txBody>
          <a:bodyPr/>
          <a:lstStyle/>
          <a:p>
            <a:endParaRPr lang="en-IN"/>
          </a:p>
        </p:txBody>
      </p:sp>
      <p:sp>
        <p:nvSpPr>
          <p:cNvPr id="6" name="Arc dot"/>
          <p:cNvSpPr/>
          <p:nvPr/>
        </p:nvSpPr>
        <p:spPr>
          <a:xfrm>
            <a:off x="1636776" y="1863838"/>
            <a:ext cx="91440" cy="91440"/>
          </a:xfrm>
          <a:prstGeom prst="ellipse">
            <a:avLst/>
          </a:prstGeom>
          <a:solidFill>
            <a:srgbClr val="FF9F1C"/>
          </a:solidFill>
          <a:ln/>
        </p:spPr>
        <p:txBody>
          <a:bodyPr/>
          <a:lstStyle/>
          <a:p>
            <a:endParaRPr lang="en-IN"/>
          </a:p>
        </p:txBody>
      </p:sp>
      <p:sp>
        <p:nvSpPr>
          <p:cNvPr id="7" name="Arc dot"/>
          <p:cNvSpPr/>
          <p:nvPr/>
        </p:nvSpPr>
        <p:spPr>
          <a:xfrm>
            <a:off x="1947672" y="1775097"/>
            <a:ext cx="91440" cy="91440"/>
          </a:xfrm>
          <a:prstGeom prst="ellipse">
            <a:avLst/>
          </a:prstGeom>
          <a:solidFill>
            <a:srgbClr val="FF9F1C"/>
          </a:solidFill>
          <a:ln/>
        </p:spPr>
        <p:txBody>
          <a:bodyPr/>
          <a:lstStyle/>
          <a:p>
            <a:endParaRPr lang="en-IN"/>
          </a:p>
        </p:txBody>
      </p:sp>
      <p:sp>
        <p:nvSpPr>
          <p:cNvPr id="8" name="Arc dot"/>
          <p:cNvSpPr/>
          <p:nvPr/>
        </p:nvSpPr>
        <p:spPr>
          <a:xfrm>
            <a:off x="2258568" y="1699739"/>
            <a:ext cx="91440" cy="91440"/>
          </a:xfrm>
          <a:prstGeom prst="ellipse">
            <a:avLst/>
          </a:prstGeom>
          <a:solidFill>
            <a:srgbClr val="FF9F1C"/>
          </a:solidFill>
          <a:ln/>
        </p:spPr>
        <p:txBody>
          <a:bodyPr/>
          <a:lstStyle/>
          <a:p>
            <a:endParaRPr lang="en-IN"/>
          </a:p>
        </p:txBody>
      </p:sp>
      <p:sp>
        <p:nvSpPr>
          <p:cNvPr id="9" name="Arc dot"/>
          <p:cNvSpPr/>
          <p:nvPr/>
        </p:nvSpPr>
        <p:spPr>
          <a:xfrm>
            <a:off x="2569464" y="1637763"/>
            <a:ext cx="91440" cy="91440"/>
          </a:xfrm>
          <a:prstGeom prst="ellipse">
            <a:avLst/>
          </a:prstGeom>
          <a:solidFill>
            <a:srgbClr val="FF9F1C"/>
          </a:solidFill>
          <a:ln/>
        </p:spPr>
        <p:txBody>
          <a:bodyPr/>
          <a:lstStyle/>
          <a:p>
            <a:endParaRPr lang="en-IN"/>
          </a:p>
        </p:txBody>
      </p:sp>
      <p:sp>
        <p:nvSpPr>
          <p:cNvPr id="10" name="Arc dot"/>
          <p:cNvSpPr/>
          <p:nvPr/>
        </p:nvSpPr>
        <p:spPr>
          <a:xfrm>
            <a:off x="2880360" y="1589170"/>
            <a:ext cx="91440" cy="91440"/>
          </a:xfrm>
          <a:prstGeom prst="ellipse">
            <a:avLst/>
          </a:prstGeom>
          <a:solidFill>
            <a:srgbClr val="FF9F1C"/>
          </a:solidFill>
          <a:ln/>
        </p:spPr>
        <p:txBody>
          <a:bodyPr/>
          <a:lstStyle/>
          <a:p>
            <a:endParaRPr lang="en-IN"/>
          </a:p>
        </p:txBody>
      </p:sp>
      <p:sp>
        <p:nvSpPr>
          <p:cNvPr id="11" name="Arc dot"/>
          <p:cNvSpPr/>
          <p:nvPr/>
        </p:nvSpPr>
        <p:spPr>
          <a:xfrm>
            <a:off x="3191256" y="1553958"/>
            <a:ext cx="91440" cy="91440"/>
          </a:xfrm>
          <a:prstGeom prst="ellipse">
            <a:avLst/>
          </a:prstGeom>
          <a:solidFill>
            <a:srgbClr val="FF9F1C"/>
          </a:solidFill>
          <a:ln/>
        </p:spPr>
        <p:txBody>
          <a:bodyPr/>
          <a:lstStyle/>
          <a:p>
            <a:endParaRPr lang="en-IN"/>
          </a:p>
        </p:txBody>
      </p:sp>
      <p:sp>
        <p:nvSpPr>
          <p:cNvPr id="12" name="Arc dot"/>
          <p:cNvSpPr/>
          <p:nvPr/>
        </p:nvSpPr>
        <p:spPr>
          <a:xfrm>
            <a:off x="3502152" y="1532129"/>
            <a:ext cx="91440" cy="91440"/>
          </a:xfrm>
          <a:prstGeom prst="ellipse">
            <a:avLst/>
          </a:prstGeom>
          <a:solidFill>
            <a:srgbClr val="FF9F1C"/>
          </a:solidFill>
          <a:ln/>
        </p:spPr>
        <p:txBody>
          <a:bodyPr/>
          <a:lstStyle/>
          <a:p>
            <a:endParaRPr lang="en-IN"/>
          </a:p>
        </p:txBody>
      </p:sp>
      <p:sp>
        <p:nvSpPr>
          <p:cNvPr id="13" name="Arc dot"/>
          <p:cNvSpPr/>
          <p:nvPr/>
        </p:nvSpPr>
        <p:spPr>
          <a:xfrm>
            <a:off x="3813048" y="1523682"/>
            <a:ext cx="91440" cy="91440"/>
          </a:xfrm>
          <a:prstGeom prst="ellipse">
            <a:avLst/>
          </a:prstGeom>
          <a:solidFill>
            <a:srgbClr val="FF9F1C"/>
          </a:solidFill>
          <a:ln/>
        </p:spPr>
        <p:txBody>
          <a:bodyPr/>
          <a:lstStyle/>
          <a:p>
            <a:endParaRPr lang="en-IN"/>
          </a:p>
        </p:txBody>
      </p:sp>
      <p:sp>
        <p:nvSpPr>
          <p:cNvPr id="14" name="Arc dot"/>
          <p:cNvSpPr/>
          <p:nvPr/>
        </p:nvSpPr>
        <p:spPr>
          <a:xfrm>
            <a:off x="4123944" y="1528617"/>
            <a:ext cx="91440" cy="91440"/>
          </a:xfrm>
          <a:prstGeom prst="ellipse">
            <a:avLst/>
          </a:prstGeom>
          <a:solidFill>
            <a:srgbClr val="FF9F1C"/>
          </a:solidFill>
          <a:ln/>
        </p:spPr>
        <p:txBody>
          <a:bodyPr/>
          <a:lstStyle/>
          <a:p>
            <a:endParaRPr lang="en-IN"/>
          </a:p>
        </p:txBody>
      </p:sp>
      <p:sp>
        <p:nvSpPr>
          <p:cNvPr id="15" name="Arc dot"/>
          <p:cNvSpPr/>
          <p:nvPr/>
        </p:nvSpPr>
        <p:spPr>
          <a:xfrm>
            <a:off x="4434840" y="1546934"/>
            <a:ext cx="91440" cy="91440"/>
          </a:xfrm>
          <a:prstGeom prst="ellipse">
            <a:avLst/>
          </a:prstGeom>
          <a:solidFill>
            <a:srgbClr val="FF9F1C"/>
          </a:solidFill>
          <a:ln/>
        </p:spPr>
        <p:txBody>
          <a:bodyPr/>
          <a:lstStyle/>
          <a:p>
            <a:endParaRPr lang="en-IN"/>
          </a:p>
        </p:txBody>
      </p:sp>
      <p:sp>
        <p:nvSpPr>
          <p:cNvPr id="16" name="Arc dot"/>
          <p:cNvSpPr/>
          <p:nvPr/>
        </p:nvSpPr>
        <p:spPr>
          <a:xfrm>
            <a:off x="4745736" y="1578634"/>
            <a:ext cx="91440" cy="91440"/>
          </a:xfrm>
          <a:prstGeom prst="ellipse">
            <a:avLst/>
          </a:prstGeom>
          <a:solidFill>
            <a:srgbClr val="FF9F1C"/>
          </a:solidFill>
          <a:ln/>
        </p:spPr>
        <p:txBody>
          <a:bodyPr/>
          <a:lstStyle/>
          <a:p>
            <a:endParaRPr lang="en-IN"/>
          </a:p>
        </p:txBody>
      </p:sp>
      <p:sp>
        <p:nvSpPr>
          <p:cNvPr id="17" name="Arc dot"/>
          <p:cNvSpPr/>
          <p:nvPr/>
        </p:nvSpPr>
        <p:spPr>
          <a:xfrm>
            <a:off x="5056632" y="1623716"/>
            <a:ext cx="91440" cy="91440"/>
          </a:xfrm>
          <a:prstGeom prst="ellipse">
            <a:avLst/>
          </a:prstGeom>
          <a:solidFill>
            <a:srgbClr val="FF9F1C"/>
          </a:solidFill>
          <a:ln/>
        </p:spPr>
        <p:txBody>
          <a:bodyPr/>
          <a:lstStyle/>
          <a:p>
            <a:endParaRPr lang="en-IN"/>
          </a:p>
        </p:txBody>
      </p:sp>
      <p:sp>
        <p:nvSpPr>
          <p:cNvPr id="18" name="Arc dot"/>
          <p:cNvSpPr/>
          <p:nvPr/>
        </p:nvSpPr>
        <p:spPr>
          <a:xfrm>
            <a:off x="5367528" y="1682180"/>
            <a:ext cx="91440" cy="91440"/>
          </a:xfrm>
          <a:prstGeom prst="ellipse">
            <a:avLst/>
          </a:prstGeom>
          <a:solidFill>
            <a:srgbClr val="FF9F1C"/>
          </a:solidFill>
          <a:ln/>
        </p:spPr>
        <p:txBody>
          <a:bodyPr/>
          <a:lstStyle/>
          <a:p>
            <a:endParaRPr lang="en-IN"/>
          </a:p>
        </p:txBody>
      </p:sp>
      <p:sp>
        <p:nvSpPr>
          <p:cNvPr id="19" name="Arc dot"/>
          <p:cNvSpPr/>
          <p:nvPr/>
        </p:nvSpPr>
        <p:spPr>
          <a:xfrm>
            <a:off x="5678424" y="1754026"/>
            <a:ext cx="91440" cy="91440"/>
          </a:xfrm>
          <a:prstGeom prst="ellipse">
            <a:avLst/>
          </a:prstGeom>
          <a:solidFill>
            <a:srgbClr val="FF9F1C"/>
          </a:solidFill>
          <a:ln/>
        </p:spPr>
        <p:txBody>
          <a:bodyPr/>
          <a:lstStyle/>
          <a:p>
            <a:endParaRPr lang="en-IN"/>
          </a:p>
        </p:txBody>
      </p:sp>
      <p:sp>
        <p:nvSpPr>
          <p:cNvPr id="20" name="Arc dot"/>
          <p:cNvSpPr/>
          <p:nvPr/>
        </p:nvSpPr>
        <p:spPr>
          <a:xfrm>
            <a:off x="5989320" y="1839254"/>
            <a:ext cx="91440" cy="91440"/>
          </a:xfrm>
          <a:prstGeom prst="ellipse">
            <a:avLst/>
          </a:prstGeom>
          <a:solidFill>
            <a:srgbClr val="FF9F1C"/>
          </a:solidFill>
          <a:ln/>
        </p:spPr>
        <p:txBody>
          <a:bodyPr/>
          <a:lstStyle/>
          <a:p>
            <a:endParaRPr lang="en-IN"/>
          </a:p>
        </p:txBody>
      </p:sp>
      <p:sp>
        <p:nvSpPr>
          <p:cNvPr id="21" name="Arc dot"/>
          <p:cNvSpPr/>
          <p:nvPr/>
        </p:nvSpPr>
        <p:spPr>
          <a:xfrm>
            <a:off x="6300216" y="1937865"/>
            <a:ext cx="91440" cy="91440"/>
          </a:xfrm>
          <a:prstGeom prst="ellipse">
            <a:avLst/>
          </a:prstGeom>
          <a:solidFill>
            <a:srgbClr val="FF9F1C"/>
          </a:solidFill>
          <a:ln/>
        </p:spPr>
        <p:txBody>
          <a:bodyPr/>
          <a:lstStyle/>
          <a:p>
            <a:endParaRPr lang="en-IN"/>
          </a:p>
        </p:txBody>
      </p:sp>
      <p:sp>
        <p:nvSpPr>
          <p:cNvPr id="22" name="Arc dot"/>
          <p:cNvSpPr/>
          <p:nvPr/>
        </p:nvSpPr>
        <p:spPr>
          <a:xfrm>
            <a:off x="6611112" y="2049858"/>
            <a:ext cx="91440" cy="91440"/>
          </a:xfrm>
          <a:prstGeom prst="ellipse">
            <a:avLst/>
          </a:prstGeom>
          <a:solidFill>
            <a:srgbClr val="FF9F1C"/>
          </a:solidFill>
          <a:ln/>
        </p:spPr>
        <p:txBody>
          <a:bodyPr/>
          <a:lstStyle/>
          <a:p>
            <a:endParaRPr lang="en-IN"/>
          </a:p>
        </p:txBody>
      </p:sp>
      <p:sp>
        <p:nvSpPr>
          <p:cNvPr id="23" name="Arc target outer"/>
          <p:cNvSpPr/>
          <p:nvPr/>
        </p:nvSpPr>
        <p:spPr>
          <a:xfrm>
            <a:off x="7063740" y="2125980"/>
            <a:ext cx="502920" cy="502920"/>
          </a:xfrm>
          <a:prstGeom prst="ellipse">
            <a:avLst/>
          </a:prstGeom>
          <a:solidFill>
            <a:srgbClr val="D9232D"/>
          </a:solidFill>
          <a:ln/>
        </p:spPr>
        <p:txBody>
          <a:bodyPr/>
          <a:lstStyle/>
          <a:p>
            <a:endParaRPr lang="en-IN"/>
          </a:p>
        </p:txBody>
      </p:sp>
      <p:sp>
        <p:nvSpPr>
          <p:cNvPr id="24" name="Arc target ring"/>
          <p:cNvSpPr/>
          <p:nvPr/>
        </p:nvSpPr>
        <p:spPr>
          <a:xfrm>
            <a:off x="7149236" y="2211476"/>
            <a:ext cx="331927" cy="331927"/>
          </a:xfrm>
          <a:prstGeom prst="ellipse">
            <a:avLst/>
          </a:prstGeom>
          <a:solidFill>
            <a:srgbClr val="FFFFFF"/>
          </a:solidFill>
          <a:ln/>
        </p:spPr>
        <p:txBody>
          <a:bodyPr/>
          <a:lstStyle/>
          <a:p>
            <a:endParaRPr lang="en-IN"/>
          </a:p>
        </p:txBody>
      </p:sp>
      <p:sp>
        <p:nvSpPr>
          <p:cNvPr id="25" name="Arc target centre"/>
          <p:cNvSpPr/>
          <p:nvPr/>
        </p:nvSpPr>
        <p:spPr>
          <a:xfrm>
            <a:off x="7244791" y="2307031"/>
            <a:ext cx="140818" cy="140818"/>
          </a:xfrm>
          <a:prstGeom prst="ellipse">
            <a:avLst/>
          </a:prstGeom>
          <a:solidFill>
            <a:srgbClr val="FFA500"/>
          </a:solidFill>
          <a:ln/>
        </p:spPr>
        <p:txBody>
          <a:bodyPr/>
          <a:lstStyle/>
          <a:p>
            <a:endParaRPr lang="en-IN"/>
          </a:p>
        </p:txBody>
      </p:sp>
      <p:sp>
        <p:nvSpPr>
          <p:cNvPr id="26" name="Text 23"/>
          <p:cNvSpPr txBox="1"/>
          <p:nvPr/>
        </p:nvSpPr>
        <p:spPr>
          <a:xfrm>
            <a:off x="822960" y="2286000"/>
            <a:ext cx="1737360" cy="274320"/>
          </a:xfrm>
          <a:prstGeom prst="rect">
            <a:avLst/>
          </a:prstGeom>
          <a:noFill/>
          <a:ln/>
        </p:spPr>
        <p:txBody>
          <a:bodyPr wrap="square" lIns="0" tIns="0" rIns="0" bIns="0" rtlCol="0" anchor="t"/>
          <a:lstStyle/>
          <a:p>
            <a:pPr marL="0" indent="0">
              <a:buNone/>
            </a:pPr>
            <a:r>
              <a:rPr lang="en-US" sz="1200" b="1" dirty="0">
                <a:solidFill>
                  <a:schemeClr val="tx1"/>
                </a:solidFill>
              </a:rPr>
              <a:t>Launch at 10 m/s</a:t>
            </a:r>
            <a:endParaRPr lang="en-US" sz="1200" dirty="0"/>
          </a:p>
        </p:txBody>
      </p:sp>
      <p:sp>
        <p:nvSpPr>
          <p:cNvPr id="27" name="Gravity arrow"/>
          <p:cNvSpPr/>
          <p:nvPr/>
        </p:nvSpPr>
        <p:spPr>
          <a:xfrm>
            <a:off x="3895344" y="1691640"/>
            <a:ext cx="0" cy="548640"/>
          </a:xfrm>
          <a:prstGeom prst="line">
            <a:avLst/>
          </a:prstGeom>
          <a:noFill/>
          <a:ln w="25400">
            <a:solidFill>
              <a:schemeClr val="accent3"/>
            </a:solidFill>
            <a:prstDash val="solid"/>
            <a:tailEnd type="triangle"/>
          </a:ln>
        </p:spPr>
        <p:txBody>
          <a:bodyPr/>
          <a:lstStyle/>
          <a:p>
            <a:endParaRPr lang="en-IN"/>
          </a:p>
        </p:txBody>
      </p:sp>
      <p:sp>
        <p:nvSpPr>
          <p:cNvPr id="28" name="Text 25"/>
          <p:cNvSpPr txBox="1"/>
          <p:nvPr/>
        </p:nvSpPr>
        <p:spPr>
          <a:xfrm>
            <a:off x="4023360" y="2011680"/>
            <a:ext cx="1828800" cy="274320"/>
          </a:xfrm>
          <a:prstGeom prst="rect">
            <a:avLst/>
          </a:prstGeom>
          <a:noFill/>
          <a:ln/>
        </p:spPr>
        <p:txBody>
          <a:bodyPr wrap="square" lIns="0" tIns="0" rIns="0" bIns="0" rtlCol="0" anchor="t"/>
          <a:lstStyle/>
          <a:p>
            <a:pPr marL="0" indent="0">
              <a:buNone/>
            </a:pPr>
            <a:r>
              <a:rPr lang="en-US" sz="1200" b="1" dirty="0">
                <a:solidFill>
                  <a:schemeClr val="accent3"/>
                </a:solidFill>
              </a:rPr>
              <a:t>Gravity −9.81 m/s²</a:t>
            </a:r>
            <a:endParaRPr lang="en-US" sz="1200" dirty="0"/>
          </a:p>
        </p:txBody>
      </p:sp>
      <p:sp>
        <p:nvSpPr>
          <p:cNvPr id="29" name="Text 26"/>
          <p:cNvSpPr txBox="1"/>
          <p:nvPr/>
        </p:nvSpPr>
        <p:spPr>
          <a:xfrm>
            <a:off x="3931920" y="2880360"/>
            <a:ext cx="4480560" cy="274320"/>
          </a:xfrm>
          <a:prstGeom prst="rect">
            <a:avLst/>
          </a:prstGeom>
          <a:noFill/>
          <a:ln/>
        </p:spPr>
        <p:txBody>
          <a:bodyPr wrap="square" lIns="0" tIns="0" rIns="0" bIns="0" rtlCol="0" anchor="t"/>
          <a:lstStyle/>
          <a:p>
            <a:pPr marL="0" indent="0" algn="r">
              <a:buNone/>
            </a:pPr>
            <a:r>
              <a:rPr lang="en-US" sz="1200" i="1" dirty="0">
                <a:solidFill>
                  <a:schemeClr val="accent5"/>
                </a:solidFill>
              </a:rPr>
              <a:t>At 4 m the shot drops about 0.8 m from gravity</a:t>
            </a:r>
            <a:endParaRPr lang="en-US" sz="1200" dirty="0"/>
          </a:p>
        </p:txBody>
      </p:sp>
      <p:sp>
        <p:nvSpPr>
          <p:cNvPr id="30" name="Info card 1"/>
          <p:cNvSpPr/>
          <p:nvPr/>
        </p:nvSpPr>
        <p:spPr>
          <a:xfrm>
            <a:off x="457200" y="3520440"/>
            <a:ext cx="2560320" cy="1097280"/>
          </a:xfrm>
          <a:prstGeom prst="roundRect">
            <a:avLst>
              <a:gd name="adj" fmla="val 10000"/>
            </a:avLst>
          </a:prstGeom>
          <a:solidFill>
            <a:schemeClr val="tx1"/>
          </a:solidFill>
          <a:ln/>
          <a:effectLst>
            <a:outerShdw blurRad="76200" dist="25400" dir="5400000" algn="bl" rotWithShape="0">
              <a:srgbClr val="000000">
                <a:alpha val="14000"/>
              </a:srgbClr>
            </a:outerShdw>
          </a:effectLst>
        </p:spPr>
        <p:txBody>
          <a:bodyPr/>
          <a:lstStyle/>
          <a:p>
            <a:endParaRPr lang="en-IN"/>
          </a:p>
        </p:txBody>
      </p:sp>
      <p:sp>
        <p:nvSpPr>
          <p:cNvPr id="31" name="Text 28"/>
          <p:cNvSpPr txBox="1"/>
          <p:nvPr/>
        </p:nvSpPr>
        <p:spPr>
          <a:xfrm>
            <a:off x="640080" y="3630168"/>
            <a:ext cx="2194560" cy="274320"/>
          </a:xfrm>
          <a:prstGeom prst="rect">
            <a:avLst/>
          </a:prstGeom>
          <a:noFill/>
          <a:ln/>
        </p:spPr>
        <p:txBody>
          <a:bodyPr wrap="square" lIns="0" tIns="0" rIns="0" bIns="0" rtlCol="0" anchor="t"/>
          <a:lstStyle/>
          <a:p>
            <a:pPr marL="0" indent="0">
              <a:buNone/>
            </a:pPr>
            <a:r>
              <a:rPr lang="en-US" sz="1600" b="1" dirty="0">
                <a:solidFill>
                  <a:srgbClr val="FFC83D"/>
                </a:solidFill>
              </a:rPr>
              <a:t>Tap sets direction</a:t>
            </a:r>
            <a:endParaRPr lang="en-US" sz="1600" dirty="0"/>
          </a:p>
        </p:txBody>
      </p:sp>
      <p:sp>
        <p:nvSpPr>
          <p:cNvPr id="32" name="Text 29"/>
          <p:cNvSpPr txBox="1"/>
          <p:nvPr/>
        </p:nvSpPr>
        <p:spPr>
          <a:xfrm>
            <a:off x="640080" y="3950208"/>
            <a:ext cx="2194560" cy="594360"/>
          </a:xfrm>
          <a:prstGeom prst="rect">
            <a:avLst/>
          </a:prstGeom>
          <a:noFill/>
          <a:ln/>
        </p:spPr>
        <p:txBody>
          <a:bodyPr wrap="square" lIns="0" tIns="0" rIns="0" bIns="0" rtlCol="0" anchor="t"/>
          <a:lstStyle/>
          <a:p>
            <a:pPr marL="0" indent="0">
              <a:buNone/>
            </a:pPr>
            <a:r>
              <a:rPr lang="en-US" sz="1300" dirty="0">
                <a:solidFill>
                  <a:srgbClr val="FFFFFF"/>
                </a:solidFill>
              </a:rPr>
              <a:t>A ray from the camera through your finger, plus 3° lift.</a:t>
            </a:r>
            <a:endParaRPr lang="en-US" sz="1300" dirty="0"/>
          </a:p>
        </p:txBody>
      </p:sp>
      <p:sp>
        <p:nvSpPr>
          <p:cNvPr id="33" name="Info card 2"/>
          <p:cNvSpPr/>
          <p:nvPr/>
        </p:nvSpPr>
        <p:spPr>
          <a:xfrm>
            <a:off x="3291840" y="3520440"/>
            <a:ext cx="2560320" cy="1097280"/>
          </a:xfrm>
          <a:prstGeom prst="roundRect">
            <a:avLst>
              <a:gd name="adj" fmla="val 10000"/>
            </a:avLst>
          </a:prstGeom>
          <a:solidFill>
            <a:schemeClr val="tx1"/>
          </a:solidFill>
          <a:ln/>
          <a:effectLst>
            <a:outerShdw blurRad="76200" dist="25400" dir="5400000" algn="bl" rotWithShape="0">
              <a:srgbClr val="000000">
                <a:alpha val="14000"/>
              </a:srgbClr>
            </a:outerShdw>
          </a:effectLst>
        </p:spPr>
        <p:txBody>
          <a:bodyPr/>
          <a:lstStyle/>
          <a:p>
            <a:endParaRPr lang="en-IN"/>
          </a:p>
        </p:txBody>
      </p:sp>
      <p:sp>
        <p:nvSpPr>
          <p:cNvPr id="34" name="Text 31"/>
          <p:cNvSpPr txBox="1"/>
          <p:nvPr/>
        </p:nvSpPr>
        <p:spPr>
          <a:xfrm>
            <a:off x="3474720" y="3630168"/>
            <a:ext cx="2194560" cy="274320"/>
          </a:xfrm>
          <a:prstGeom prst="rect">
            <a:avLst/>
          </a:prstGeom>
          <a:noFill/>
          <a:ln/>
        </p:spPr>
        <p:txBody>
          <a:bodyPr wrap="square" lIns="0" tIns="0" rIns="0" bIns="0" rtlCol="0" anchor="t"/>
          <a:lstStyle/>
          <a:p>
            <a:pPr marL="0" indent="0">
              <a:buNone/>
            </a:pPr>
            <a:r>
              <a:rPr lang="en-US" sz="1600" b="1" dirty="0">
                <a:solidFill>
                  <a:srgbClr val="FFC83D"/>
                </a:solidFill>
              </a:rPr>
              <a:t>Physics does the rest</a:t>
            </a:r>
            <a:endParaRPr lang="en-US" sz="1600" dirty="0"/>
          </a:p>
        </p:txBody>
      </p:sp>
      <p:sp>
        <p:nvSpPr>
          <p:cNvPr id="35" name="Text 32"/>
          <p:cNvSpPr txBox="1"/>
          <p:nvPr/>
        </p:nvSpPr>
        <p:spPr>
          <a:xfrm>
            <a:off x="3474720" y="3950208"/>
            <a:ext cx="2194560" cy="594360"/>
          </a:xfrm>
          <a:prstGeom prst="rect">
            <a:avLst/>
          </a:prstGeom>
          <a:noFill/>
          <a:ln/>
        </p:spPr>
        <p:txBody>
          <a:bodyPr wrap="square" lIns="0" tIns="0" rIns="0" bIns="0" rtlCol="0" anchor="t"/>
          <a:lstStyle/>
          <a:p>
            <a:pPr marL="0" indent="0">
              <a:buNone/>
            </a:pPr>
            <a:r>
              <a:rPr lang="en-US" sz="1300" dirty="0">
                <a:solidFill>
                  <a:srgbClr val="FFFFFF"/>
                </a:solidFill>
              </a:rPr>
              <a:t>A Rigidbody with gravity makes the curved path.</a:t>
            </a:r>
            <a:endParaRPr lang="en-US" sz="1300" dirty="0"/>
          </a:p>
        </p:txBody>
      </p:sp>
      <p:sp>
        <p:nvSpPr>
          <p:cNvPr id="36" name="Info card 3"/>
          <p:cNvSpPr/>
          <p:nvPr/>
        </p:nvSpPr>
        <p:spPr>
          <a:xfrm>
            <a:off x="6126480" y="3520440"/>
            <a:ext cx="2560320" cy="1097280"/>
          </a:xfrm>
          <a:prstGeom prst="roundRect">
            <a:avLst>
              <a:gd name="adj" fmla="val 10000"/>
            </a:avLst>
          </a:prstGeom>
          <a:solidFill>
            <a:schemeClr val="tx1"/>
          </a:solidFill>
          <a:ln/>
          <a:effectLst>
            <a:outerShdw blurRad="76200" dist="25400" dir="5400000" algn="bl" rotWithShape="0">
              <a:srgbClr val="000000">
                <a:alpha val="14000"/>
              </a:srgbClr>
            </a:outerShdw>
          </a:effectLst>
        </p:spPr>
        <p:txBody>
          <a:bodyPr/>
          <a:lstStyle/>
          <a:p>
            <a:endParaRPr lang="en-IN"/>
          </a:p>
        </p:txBody>
      </p:sp>
      <p:sp>
        <p:nvSpPr>
          <p:cNvPr id="37" name="Text 34"/>
          <p:cNvSpPr txBox="1"/>
          <p:nvPr/>
        </p:nvSpPr>
        <p:spPr>
          <a:xfrm>
            <a:off x="6309360" y="3630168"/>
            <a:ext cx="2194560" cy="274320"/>
          </a:xfrm>
          <a:prstGeom prst="rect">
            <a:avLst/>
          </a:prstGeom>
          <a:noFill/>
          <a:ln/>
        </p:spPr>
        <p:txBody>
          <a:bodyPr wrap="square" lIns="0" tIns="0" rIns="0" bIns="0" rtlCol="0" anchor="t"/>
          <a:lstStyle/>
          <a:p>
            <a:pPr marL="0" indent="0">
              <a:buNone/>
            </a:pPr>
            <a:r>
              <a:rPr lang="en-US" sz="1600" b="1" dirty="0">
                <a:solidFill>
                  <a:srgbClr val="FFC83D"/>
                </a:solidFill>
              </a:rPr>
              <a:t>The maths</a:t>
            </a:r>
            <a:endParaRPr lang="en-US" sz="1600" dirty="0"/>
          </a:p>
        </p:txBody>
      </p:sp>
      <p:sp>
        <p:nvSpPr>
          <p:cNvPr id="38" name="Text 35"/>
          <p:cNvSpPr txBox="1"/>
          <p:nvPr/>
        </p:nvSpPr>
        <p:spPr>
          <a:xfrm>
            <a:off x="6309360" y="3950208"/>
            <a:ext cx="2194560" cy="594360"/>
          </a:xfrm>
          <a:prstGeom prst="rect">
            <a:avLst/>
          </a:prstGeom>
          <a:noFill/>
          <a:ln/>
        </p:spPr>
        <p:txBody>
          <a:bodyPr wrap="square" lIns="0" tIns="0" rIns="0" bIns="0" rtlCol="0" anchor="t"/>
          <a:lstStyle/>
          <a:p>
            <a:pPr marL="0" indent="0">
              <a:buNone/>
            </a:pPr>
            <a:r>
              <a:rPr lang="en-US" sz="1300" dirty="0">
                <a:solidFill>
                  <a:srgbClr val="FFFFFF"/>
                </a:solidFill>
              </a:rPr>
              <a:t>y = x·tanθ − g·x² / (2v²cos²θ)</a:t>
            </a:r>
            <a:endParaRPr lang="en-US" sz="1300" dirty="0"/>
          </a:p>
        </p:txBody>
      </p:sp>
      <p:sp>
        <p:nvSpPr>
          <p:cNvPr id="3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Step 5: Hits and Score</a:t>
            </a:r>
            <a:endParaRPr lang="en-US" sz="3400" dirty="0"/>
          </a:p>
        </p:txBody>
      </p:sp>
      <p:sp>
        <p:nvSpPr>
          <p:cNvPr id="3" name="Score target outer"/>
          <p:cNvSpPr/>
          <p:nvPr/>
        </p:nvSpPr>
        <p:spPr>
          <a:xfrm>
            <a:off x="868680" y="1371600"/>
            <a:ext cx="2651760" cy="2651760"/>
          </a:xfrm>
          <a:prstGeom prst="ellipse">
            <a:avLst/>
          </a:prstGeom>
          <a:solidFill>
            <a:srgbClr val="D9232D"/>
          </a:solidFill>
          <a:ln/>
        </p:spPr>
        <p:txBody>
          <a:bodyPr/>
          <a:lstStyle/>
          <a:p>
            <a:endParaRPr lang="en-IN"/>
          </a:p>
        </p:txBody>
      </p:sp>
      <p:sp>
        <p:nvSpPr>
          <p:cNvPr id="4" name="Score target ring"/>
          <p:cNvSpPr/>
          <p:nvPr/>
        </p:nvSpPr>
        <p:spPr>
          <a:xfrm>
            <a:off x="1319479" y="1822399"/>
            <a:ext cx="1750162" cy="1750162"/>
          </a:xfrm>
          <a:prstGeom prst="ellipse">
            <a:avLst/>
          </a:prstGeom>
          <a:solidFill>
            <a:srgbClr val="FFFFFF"/>
          </a:solidFill>
          <a:ln/>
        </p:spPr>
        <p:txBody>
          <a:bodyPr/>
          <a:lstStyle/>
          <a:p>
            <a:endParaRPr lang="en-IN"/>
          </a:p>
        </p:txBody>
      </p:sp>
      <p:sp>
        <p:nvSpPr>
          <p:cNvPr id="5" name="Score target centre"/>
          <p:cNvSpPr/>
          <p:nvPr/>
        </p:nvSpPr>
        <p:spPr>
          <a:xfrm>
            <a:off x="1823314" y="2326234"/>
            <a:ext cx="742493" cy="742493"/>
          </a:xfrm>
          <a:prstGeom prst="ellipse">
            <a:avLst/>
          </a:prstGeom>
          <a:solidFill>
            <a:srgbClr val="FFA500"/>
          </a:solidFill>
          <a:ln/>
        </p:spPr>
        <p:txBody>
          <a:bodyPr/>
          <a:lstStyle/>
          <a:p>
            <a:endParaRPr lang="en-IN"/>
          </a:p>
        </p:txBody>
      </p:sp>
      <p:sp>
        <p:nvSpPr>
          <p:cNvPr id="6" name="Text 4"/>
          <p:cNvSpPr txBox="1"/>
          <p:nvPr/>
        </p:nvSpPr>
        <p:spPr>
          <a:xfrm>
            <a:off x="1828800" y="2532888"/>
            <a:ext cx="731520" cy="329184"/>
          </a:xfrm>
          <a:prstGeom prst="rect">
            <a:avLst/>
          </a:prstGeom>
          <a:noFill/>
          <a:ln/>
        </p:spPr>
        <p:txBody>
          <a:bodyPr wrap="square" lIns="0" tIns="0" rIns="0" bIns="0" rtlCol="0" anchor="t"/>
          <a:lstStyle/>
          <a:p>
            <a:pPr marL="0" indent="0" algn="ctr">
              <a:buNone/>
            </a:pPr>
            <a:r>
              <a:rPr lang="en-US" sz="2000" b="1" dirty="0">
                <a:solidFill>
                  <a:schemeClr val="tx1"/>
                </a:solidFill>
              </a:rPr>
              <a:t>25</a:t>
            </a:r>
            <a:endParaRPr lang="en-US" sz="2000" dirty="0"/>
          </a:p>
        </p:txBody>
      </p:sp>
      <p:sp>
        <p:nvSpPr>
          <p:cNvPr id="7" name="Text 5"/>
          <p:cNvSpPr txBox="1"/>
          <p:nvPr/>
        </p:nvSpPr>
        <p:spPr>
          <a:xfrm>
            <a:off x="1828800" y="1937156"/>
            <a:ext cx="731520" cy="274320"/>
          </a:xfrm>
          <a:prstGeom prst="rect">
            <a:avLst/>
          </a:prstGeom>
          <a:noFill/>
          <a:ln/>
        </p:spPr>
        <p:txBody>
          <a:bodyPr wrap="square" lIns="0" tIns="0" rIns="0" bIns="0" rtlCol="0" anchor="t"/>
          <a:lstStyle/>
          <a:p>
            <a:pPr marL="0" indent="0" algn="ctr">
              <a:buNone/>
            </a:pPr>
            <a:r>
              <a:rPr lang="en-US" sz="1600" b="1" dirty="0">
                <a:solidFill>
                  <a:schemeClr val="tx1"/>
                </a:solidFill>
              </a:rPr>
              <a:t>10</a:t>
            </a:r>
            <a:endParaRPr lang="en-US" sz="1600" dirty="0"/>
          </a:p>
        </p:txBody>
      </p:sp>
      <p:sp>
        <p:nvSpPr>
          <p:cNvPr id="8" name="Text 6"/>
          <p:cNvSpPr txBox="1"/>
          <p:nvPr/>
        </p:nvSpPr>
        <p:spPr>
          <a:xfrm>
            <a:off x="1828800" y="3660800"/>
            <a:ext cx="731520" cy="274320"/>
          </a:xfrm>
          <a:prstGeom prst="rect">
            <a:avLst/>
          </a:prstGeom>
          <a:noFill/>
          <a:ln/>
        </p:spPr>
        <p:txBody>
          <a:bodyPr wrap="square" lIns="0" tIns="0" rIns="0" bIns="0" rtlCol="0" anchor="t"/>
          <a:lstStyle/>
          <a:p>
            <a:pPr marL="0" indent="0" algn="ctr">
              <a:buNone/>
            </a:pPr>
            <a:r>
              <a:rPr lang="en-US" sz="1600" b="1" dirty="0">
                <a:solidFill>
                  <a:srgbClr val="FFFFFF"/>
                </a:solidFill>
              </a:rPr>
              <a:t>10</a:t>
            </a:r>
            <a:endParaRPr lang="en-US" sz="1600" dirty="0"/>
          </a:p>
        </p:txBody>
      </p:sp>
      <p:sp>
        <p:nvSpPr>
          <p:cNvPr id="9" name="Text 7"/>
          <p:cNvSpPr txBox="1"/>
          <p:nvPr/>
        </p:nvSpPr>
        <p:spPr>
          <a:xfrm>
            <a:off x="457200" y="4251960"/>
            <a:ext cx="3474720" cy="274320"/>
          </a:xfrm>
          <a:prstGeom prst="rect">
            <a:avLst/>
          </a:prstGeom>
          <a:noFill/>
          <a:ln/>
        </p:spPr>
        <p:txBody>
          <a:bodyPr wrap="square" lIns="0" tIns="0" rIns="0" bIns="0" rtlCol="0" anchor="t"/>
          <a:lstStyle/>
          <a:p>
            <a:pPr marL="0" indent="0" algn="ctr">
              <a:buNone/>
            </a:pPr>
            <a:r>
              <a:rPr lang="en-US" sz="1400" b="1" dirty="0">
                <a:solidFill>
                  <a:schemeClr val="tx1"/>
                </a:solidFill>
              </a:rPr>
              <a:t>Centre hit = 25 points, any ring = 10</a:t>
            </a:r>
            <a:endParaRPr lang="en-US" sz="1400" dirty="0"/>
          </a:p>
        </p:txBody>
      </p:sp>
      <p:sp>
        <p:nvSpPr>
          <p:cNvPr id="10" name="Hit rule 1 circle"/>
          <p:cNvSpPr/>
          <p:nvPr/>
        </p:nvSpPr>
        <p:spPr>
          <a:xfrm>
            <a:off x="4389120" y="1325880"/>
            <a:ext cx="530352" cy="530352"/>
          </a:xfrm>
          <a:prstGeom prst="ellipse">
            <a:avLst/>
          </a:prstGeom>
          <a:solidFill>
            <a:schemeClr val="accent1"/>
          </a:solidFill>
          <a:ln/>
        </p:spPr>
        <p:txBody>
          <a:bodyPr/>
          <a:lstStyle/>
          <a:p>
            <a:endParaRPr lang="en-IN"/>
          </a:p>
        </p:txBody>
      </p:sp>
      <p:pic>
        <p:nvPicPr>
          <p:cNvPr id="11" name="Image 0" descr="FaLayerGroup icon"/>
          <p:cNvPicPr>
            <a:picLocks noChangeAspect="1"/>
          </p:cNvPicPr>
          <p:nvPr/>
        </p:nvPicPr>
        <p:blipFill>
          <a:blip r:embed="rId3"/>
          <a:stretch>
            <a:fillRect/>
          </a:stretch>
        </p:blipFill>
        <p:spPr>
          <a:xfrm>
            <a:off x="4516404" y="1453164"/>
            <a:ext cx="275783" cy="275783"/>
          </a:xfrm>
          <a:prstGeom prst="rect">
            <a:avLst/>
          </a:prstGeom>
        </p:spPr>
      </p:pic>
      <p:sp>
        <p:nvSpPr>
          <p:cNvPr id="12" name="Text 9"/>
          <p:cNvSpPr txBox="1"/>
          <p:nvPr/>
        </p:nvSpPr>
        <p:spPr>
          <a:xfrm>
            <a:off x="5074920" y="1289304"/>
            <a:ext cx="3611880" cy="640080"/>
          </a:xfrm>
          <a:prstGeom prst="rect">
            <a:avLst/>
          </a:prstGeom>
          <a:noFill/>
          <a:ln/>
        </p:spPr>
        <p:txBody>
          <a:bodyPr wrap="square" lIns="0" tIns="0" rIns="0" bIns="0" rtlCol="0" anchor="ctr"/>
          <a:lstStyle/>
          <a:p>
            <a:pPr marL="0" indent="0">
              <a:buNone/>
            </a:pPr>
            <a:r>
              <a:rPr lang="en-US" sz="1400" dirty="0">
                <a:solidFill>
                  <a:schemeClr val="tx1"/>
                </a:solidFill>
              </a:rPr>
              <a:t>Shots only collide with the Target layer, so planes never block them.</a:t>
            </a:r>
            <a:endParaRPr lang="en-US" sz="1400" dirty="0"/>
          </a:p>
        </p:txBody>
      </p:sp>
      <p:sp>
        <p:nvSpPr>
          <p:cNvPr id="13" name="Hit rule 2 circle"/>
          <p:cNvSpPr/>
          <p:nvPr/>
        </p:nvSpPr>
        <p:spPr>
          <a:xfrm>
            <a:off x="4389120" y="2103120"/>
            <a:ext cx="530352" cy="530352"/>
          </a:xfrm>
          <a:prstGeom prst="ellipse">
            <a:avLst/>
          </a:prstGeom>
          <a:solidFill>
            <a:schemeClr val="accent1"/>
          </a:solidFill>
          <a:ln/>
        </p:spPr>
        <p:txBody>
          <a:bodyPr/>
          <a:lstStyle/>
          <a:p>
            <a:endParaRPr lang="en-IN"/>
          </a:p>
        </p:txBody>
      </p:sp>
      <p:pic>
        <p:nvPicPr>
          <p:cNvPr id="14" name="Image 1" descr="FaBolt icon"/>
          <p:cNvPicPr>
            <a:picLocks noChangeAspect="1"/>
          </p:cNvPicPr>
          <p:nvPr/>
        </p:nvPicPr>
        <p:blipFill>
          <a:blip r:embed="rId4"/>
          <a:stretch>
            <a:fillRect/>
          </a:stretch>
        </p:blipFill>
        <p:spPr>
          <a:xfrm>
            <a:off x="4516404" y="2230404"/>
            <a:ext cx="275783" cy="275783"/>
          </a:xfrm>
          <a:prstGeom prst="rect">
            <a:avLst/>
          </a:prstGeom>
        </p:spPr>
      </p:pic>
      <p:sp>
        <p:nvSpPr>
          <p:cNvPr id="15" name="Text 11"/>
          <p:cNvSpPr txBox="1"/>
          <p:nvPr/>
        </p:nvSpPr>
        <p:spPr>
          <a:xfrm>
            <a:off x="5074920" y="2066544"/>
            <a:ext cx="3611880" cy="640080"/>
          </a:xfrm>
          <a:prstGeom prst="rect">
            <a:avLst/>
          </a:prstGeom>
          <a:noFill/>
          <a:ln/>
        </p:spPr>
        <p:txBody>
          <a:bodyPr wrap="square" lIns="0" tIns="0" rIns="0" bIns="0" rtlCol="0" anchor="ctr"/>
          <a:lstStyle/>
          <a:p>
            <a:pPr marL="0" indent="0">
              <a:buNone/>
            </a:pPr>
            <a:r>
              <a:rPr lang="en-US" sz="1400" dirty="0">
                <a:solidFill>
                  <a:schemeClr val="tx1"/>
                </a:solidFill>
              </a:rPr>
              <a:t>A sphere-cast every frame stops fast shots passing through.</a:t>
            </a:r>
            <a:endParaRPr lang="en-US" sz="1400" dirty="0"/>
          </a:p>
        </p:txBody>
      </p:sp>
      <p:sp>
        <p:nvSpPr>
          <p:cNvPr id="16" name="Hit rule 3 circle"/>
          <p:cNvSpPr/>
          <p:nvPr/>
        </p:nvSpPr>
        <p:spPr>
          <a:xfrm>
            <a:off x="4389120" y="2880360"/>
            <a:ext cx="530352" cy="530352"/>
          </a:xfrm>
          <a:prstGeom prst="ellipse">
            <a:avLst/>
          </a:prstGeom>
          <a:solidFill>
            <a:schemeClr val="accent1"/>
          </a:solidFill>
          <a:ln/>
        </p:spPr>
        <p:txBody>
          <a:bodyPr/>
          <a:lstStyle/>
          <a:p>
            <a:endParaRPr lang="en-IN"/>
          </a:p>
        </p:txBody>
      </p:sp>
      <p:pic>
        <p:nvPicPr>
          <p:cNvPr id="17" name="Image 2" descr="FaCheckCircle icon"/>
          <p:cNvPicPr>
            <a:picLocks noChangeAspect="1"/>
          </p:cNvPicPr>
          <p:nvPr/>
        </p:nvPicPr>
        <p:blipFill>
          <a:blip r:embed="rId5"/>
          <a:stretch>
            <a:fillRect/>
          </a:stretch>
        </p:blipFill>
        <p:spPr>
          <a:xfrm>
            <a:off x="4516404" y="3007644"/>
            <a:ext cx="275783" cy="275783"/>
          </a:xfrm>
          <a:prstGeom prst="rect">
            <a:avLst/>
          </a:prstGeom>
        </p:spPr>
      </p:pic>
      <p:sp>
        <p:nvSpPr>
          <p:cNvPr id="18" name="Text 13"/>
          <p:cNvSpPr txBox="1"/>
          <p:nvPr/>
        </p:nvSpPr>
        <p:spPr>
          <a:xfrm>
            <a:off x="5074920" y="2843784"/>
            <a:ext cx="3611880" cy="640080"/>
          </a:xfrm>
          <a:prstGeom prst="rect">
            <a:avLst/>
          </a:prstGeom>
          <a:noFill/>
          <a:ln/>
        </p:spPr>
        <p:txBody>
          <a:bodyPr wrap="square" lIns="0" tIns="0" rIns="0" bIns="0" rtlCol="0" anchor="ctr"/>
          <a:lstStyle/>
          <a:p>
            <a:pPr marL="0" indent="0">
              <a:buNone/>
            </a:pPr>
            <a:r>
              <a:rPr lang="en-US" sz="1400" dirty="0">
                <a:solidFill>
                  <a:schemeClr val="tx1"/>
                </a:solidFill>
              </a:rPr>
              <a:t>One hit per shot, and a target can only score once.</a:t>
            </a:r>
            <a:endParaRPr lang="en-US" sz="1400" dirty="0"/>
          </a:p>
        </p:txBody>
      </p:sp>
      <p:sp>
        <p:nvSpPr>
          <p:cNvPr id="19" name="Hit rule 4 circle"/>
          <p:cNvSpPr/>
          <p:nvPr/>
        </p:nvSpPr>
        <p:spPr>
          <a:xfrm>
            <a:off x="4389120" y="3657600"/>
            <a:ext cx="530352" cy="530352"/>
          </a:xfrm>
          <a:prstGeom prst="ellipse">
            <a:avLst/>
          </a:prstGeom>
          <a:solidFill>
            <a:schemeClr val="accent1"/>
          </a:solidFill>
          <a:ln/>
        </p:spPr>
        <p:txBody>
          <a:bodyPr/>
          <a:lstStyle/>
          <a:p>
            <a:endParaRPr lang="en-IN"/>
          </a:p>
        </p:txBody>
      </p:sp>
      <p:pic>
        <p:nvPicPr>
          <p:cNvPr id="20" name="Image 3" descr="FaFire icon"/>
          <p:cNvPicPr>
            <a:picLocks noChangeAspect="1"/>
          </p:cNvPicPr>
          <p:nvPr/>
        </p:nvPicPr>
        <p:blipFill>
          <a:blip r:embed="rId6"/>
          <a:stretch>
            <a:fillRect/>
          </a:stretch>
        </p:blipFill>
        <p:spPr>
          <a:xfrm>
            <a:off x="4516404" y="3784884"/>
            <a:ext cx="275783" cy="275783"/>
          </a:xfrm>
          <a:prstGeom prst="rect">
            <a:avLst/>
          </a:prstGeom>
        </p:spPr>
      </p:pic>
      <p:sp>
        <p:nvSpPr>
          <p:cNvPr id="21" name="Text 15"/>
          <p:cNvSpPr txBox="1"/>
          <p:nvPr/>
        </p:nvSpPr>
        <p:spPr>
          <a:xfrm>
            <a:off x="5074920" y="3621024"/>
            <a:ext cx="3611880" cy="640080"/>
          </a:xfrm>
          <a:prstGeom prst="rect">
            <a:avLst/>
          </a:prstGeom>
          <a:noFill/>
          <a:ln/>
        </p:spPr>
        <p:txBody>
          <a:bodyPr wrap="square" lIns="0" tIns="0" rIns="0" bIns="0" rtlCol="0" anchor="ctr"/>
          <a:lstStyle/>
          <a:p>
            <a:pPr marL="0" indent="0">
              <a:buNone/>
            </a:pPr>
            <a:r>
              <a:rPr lang="en-US" sz="1400" dirty="0">
                <a:solidFill>
                  <a:schemeClr val="tx1"/>
                </a:solidFill>
              </a:rPr>
              <a:t>A hit gives a burst of particles, a pop sound and points.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The Game Loop</a:t>
            </a:r>
            <a:endParaRPr lang="en-US" sz="3400" dirty="0"/>
          </a:p>
        </p:txBody>
      </p:sp>
      <p:sp>
        <p:nvSpPr>
          <p:cNvPr id="3" name="State Menu"/>
          <p:cNvSpPr/>
          <p:nvPr/>
        </p:nvSpPr>
        <p:spPr>
          <a:xfrm>
            <a:off x="457200" y="1783080"/>
            <a:ext cx="2194560" cy="1280160"/>
          </a:xfrm>
          <a:prstGeom prst="roundRect">
            <a:avLst>
              <a:gd name="adj" fmla="val 10000"/>
            </a:avLst>
          </a:prstGeom>
          <a:solidFill>
            <a:schemeClr val="accent1"/>
          </a:solidFill>
          <a:ln/>
          <a:effectLst>
            <a:outerShdw blurRad="76200" dist="25400" dir="5400000" algn="bl" rotWithShape="0">
              <a:srgbClr val="000000">
                <a:alpha val="14000"/>
              </a:srgbClr>
            </a:outerShdw>
          </a:effectLst>
        </p:spPr>
        <p:txBody>
          <a:bodyPr/>
          <a:lstStyle/>
          <a:p>
            <a:endParaRPr lang="en-IN"/>
          </a:p>
        </p:txBody>
      </p:sp>
      <p:sp>
        <p:nvSpPr>
          <p:cNvPr id="4" name="Text 2"/>
          <p:cNvSpPr txBox="1"/>
          <p:nvPr/>
        </p:nvSpPr>
        <p:spPr>
          <a:xfrm>
            <a:off x="594360" y="1920240"/>
            <a:ext cx="1920240" cy="365760"/>
          </a:xfrm>
          <a:prstGeom prst="rect">
            <a:avLst/>
          </a:prstGeom>
          <a:noFill/>
          <a:ln/>
        </p:spPr>
        <p:txBody>
          <a:bodyPr wrap="square" lIns="0" tIns="0" rIns="0" bIns="0" rtlCol="0" anchor="t"/>
          <a:lstStyle/>
          <a:p>
            <a:pPr marL="0" indent="0" algn="ctr">
              <a:buNone/>
            </a:pPr>
            <a:r>
              <a:rPr lang="en-US" sz="2000" b="1" dirty="0">
                <a:solidFill>
                  <a:schemeClr val="tx1"/>
                </a:solidFill>
              </a:rPr>
              <a:t>Menu</a:t>
            </a:r>
            <a:endParaRPr lang="en-US" sz="2000" dirty="0"/>
          </a:p>
        </p:txBody>
      </p:sp>
      <p:sp>
        <p:nvSpPr>
          <p:cNvPr id="5" name="Text 3"/>
          <p:cNvSpPr txBox="1"/>
          <p:nvPr/>
        </p:nvSpPr>
        <p:spPr>
          <a:xfrm>
            <a:off x="594360" y="2377440"/>
            <a:ext cx="1920240" cy="594360"/>
          </a:xfrm>
          <a:prstGeom prst="rect">
            <a:avLst/>
          </a:prstGeom>
          <a:noFill/>
          <a:ln/>
        </p:spPr>
        <p:txBody>
          <a:bodyPr wrap="square" lIns="0" tIns="0" rIns="0" bIns="0" rtlCol="0" anchor="t"/>
          <a:lstStyle/>
          <a:p>
            <a:pPr marL="0" indent="0" algn="ctr">
              <a:buNone/>
            </a:pPr>
            <a:r>
              <a:rPr lang="en-US" sz="1300" dirty="0">
                <a:solidFill>
                  <a:schemeClr val="tx1"/>
                </a:solidFill>
              </a:rPr>
              <a:t>Scan the room, pick a difficulty</a:t>
            </a:r>
            <a:endParaRPr lang="en-US" sz="1300" dirty="0"/>
          </a:p>
        </p:txBody>
      </p:sp>
      <p:sp>
        <p:nvSpPr>
          <p:cNvPr id="6" name="State Playing"/>
          <p:cNvSpPr/>
          <p:nvPr/>
        </p:nvSpPr>
        <p:spPr>
          <a:xfrm>
            <a:off x="3474720" y="1783080"/>
            <a:ext cx="2194560" cy="1280160"/>
          </a:xfrm>
          <a:prstGeom prst="roundRect">
            <a:avLst>
              <a:gd name="adj" fmla="val 10000"/>
            </a:avLst>
          </a:prstGeom>
          <a:solidFill>
            <a:schemeClr val="accent2"/>
          </a:solidFill>
          <a:ln/>
          <a:effectLst>
            <a:outerShdw blurRad="76200" dist="25400" dir="5400000" algn="bl" rotWithShape="0">
              <a:srgbClr val="000000">
                <a:alpha val="14000"/>
              </a:srgbClr>
            </a:outerShdw>
          </a:effectLst>
        </p:spPr>
        <p:txBody>
          <a:bodyPr/>
          <a:lstStyle/>
          <a:p>
            <a:endParaRPr lang="en-IN"/>
          </a:p>
        </p:txBody>
      </p:sp>
      <p:sp>
        <p:nvSpPr>
          <p:cNvPr id="7" name="Text 5"/>
          <p:cNvSpPr txBox="1"/>
          <p:nvPr/>
        </p:nvSpPr>
        <p:spPr>
          <a:xfrm>
            <a:off x="3611880" y="1920240"/>
            <a:ext cx="1920240" cy="365760"/>
          </a:xfrm>
          <a:prstGeom prst="rect">
            <a:avLst/>
          </a:prstGeom>
          <a:noFill/>
          <a:ln/>
        </p:spPr>
        <p:txBody>
          <a:bodyPr wrap="square" lIns="0" tIns="0" rIns="0" bIns="0" rtlCol="0" anchor="t"/>
          <a:lstStyle/>
          <a:p>
            <a:pPr marL="0" indent="0" algn="ctr">
              <a:buNone/>
            </a:pPr>
            <a:r>
              <a:rPr lang="en-US" sz="2000" b="1" dirty="0">
                <a:solidFill>
                  <a:schemeClr val="tx1"/>
                </a:solidFill>
              </a:rPr>
              <a:t>Playing</a:t>
            </a:r>
            <a:endParaRPr lang="en-US" sz="2000" dirty="0"/>
          </a:p>
        </p:txBody>
      </p:sp>
      <p:sp>
        <p:nvSpPr>
          <p:cNvPr id="8" name="Text 6"/>
          <p:cNvSpPr txBox="1"/>
          <p:nvPr/>
        </p:nvSpPr>
        <p:spPr>
          <a:xfrm>
            <a:off x="3611880" y="2377440"/>
            <a:ext cx="1920240" cy="594360"/>
          </a:xfrm>
          <a:prstGeom prst="rect">
            <a:avLst/>
          </a:prstGeom>
          <a:noFill/>
          <a:ln/>
        </p:spPr>
        <p:txBody>
          <a:bodyPr wrap="square" lIns="0" tIns="0" rIns="0" bIns="0" rtlCol="0" anchor="t"/>
          <a:lstStyle/>
          <a:p>
            <a:pPr marL="0" indent="0" algn="ctr">
              <a:buNone/>
            </a:pPr>
            <a:r>
              <a:rPr lang="en-US" sz="1300" dirty="0">
                <a:solidFill>
                  <a:schemeClr val="tx1"/>
                </a:solidFill>
              </a:rPr>
              <a:t>60 s round, score and timer</a:t>
            </a:r>
            <a:endParaRPr lang="en-US" sz="1300" dirty="0"/>
          </a:p>
        </p:txBody>
      </p:sp>
      <p:sp>
        <p:nvSpPr>
          <p:cNvPr id="9" name="State Game Over"/>
          <p:cNvSpPr/>
          <p:nvPr/>
        </p:nvSpPr>
        <p:spPr>
          <a:xfrm>
            <a:off x="6492240" y="1783080"/>
            <a:ext cx="2194560" cy="1280160"/>
          </a:xfrm>
          <a:prstGeom prst="roundRect">
            <a:avLst>
              <a:gd name="adj" fmla="val 10000"/>
            </a:avLst>
          </a:prstGeom>
          <a:solidFill>
            <a:schemeClr val="accent3"/>
          </a:solidFill>
          <a:ln/>
          <a:effectLst>
            <a:outerShdw blurRad="76200" dist="25400" dir="5400000" algn="bl" rotWithShape="0">
              <a:srgbClr val="000000">
                <a:alpha val="14000"/>
              </a:srgbClr>
            </a:outerShdw>
          </a:effectLst>
        </p:spPr>
        <p:txBody>
          <a:bodyPr/>
          <a:lstStyle/>
          <a:p>
            <a:endParaRPr lang="en-IN"/>
          </a:p>
        </p:txBody>
      </p:sp>
      <p:sp>
        <p:nvSpPr>
          <p:cNvPr id="10" name="Text 8"/>
          <p:cNvSpPr txBox="1"/>
          <p:nvPr/>
        </p:nvSpPr>
        <p:spPr>
          <a:xfrm>
            <a:off x="6629400" y="1920240"/>
            <a:ext cx="1920240" cy="365760"/>
          </a:xfrm>
          <a:prstGeom prst="rect">
            <a:avLst/>
          </a:prstGeom>
          <a:noFill/>
          <a:ln/>
        </p:spPr>
        <p:txBody>
          <a:bodyPr wrap="square" lIns="0" tIns="0" rIns="0" bIns="0" rtlCol="0" anchor="t"/>
          <a:lstStyle/>
          <a:p>
            <a:pPr marL="0" indent="0" algn="ctr">
              <a:buNone/>
            </a:pPr>
            <a:r>
              <a:rPr lang="en-US" sz="2000" b="1" dirty="0">
                <a:solidFill>
                  <a:srgbClr val="FFFFFF"/>
                </a:solidFill>
              </a:rPr>
              <a:t>Game Over</a:t>
            </a:r>
            <a:endParaRPr lang="en-US" sz="2000" dirty="0"/>
          </a:p>
        </p:txBody>
      </p:sp>
      <p:sp>
        <p:nvSpPr>
          <p:cNvPr id="11" name="Text 9"/>
          <p:cNvSpPr txBox="1"/>
          <p:nvPr/>
        </p:nvSpPr>
        <p:spPr>
          <a:xfrm>
            <a:off x="6629400" y="2377440"/>
            <a:ext cx="1920240" cy="594360"/>
          </a:xfrm>
          <a:prstGeom prst="rect">
            <a:avLst/>
          </a:prstGeom>
          <a:noFill/>
          <a:ln/>
        </p:spPr>
        <p:txBody>
          <a:bodyPr wrap="square" lIns="0" tIns="0" rIns="0" bIns="0" rtlCol="0" anchor="t"/>
          <a:lstStyle/>
          <a:p>
            <a:pPr marL="0" indent="0" algn="ctr">
              <a:buNone/>
            </a:pPr>
            <a:r>
              <a:rPr lang="en-US" sz="1300" dirty="0">
                <a:solidFill>
                  <a:srgbClr val="FFFFFF"/>
                </a:solidFill>
              </a:rPr>
              <a:t>Score, hits, accuracy, best</a:t>
            </a:r>
            <a:endParaRPr lang="en-US" sz="1300" dirty="0"/>
          </a:p>
        </p:txBody>
      </p:sp>
      <p:sp>
        <p:nvSpPr>
          <p:cNvPr id="12" name="Arrow"/>
          <p:cNvSpPr/>
          <p:nvPr/>
        </p:nvSpPr>
        <p:spPr>
          <a:xfrm>
            <a:off x="2651760" y="2423160"/>
            <a:ext cx="822960" cy="0"/>
          </a:xfrm>
          <a:prstGeom prst="line">
            <a:avLst/>
          </a:prstGeom>
          <a:noFill/>
          <a:ln w="25400">
            <a:solidFill>
              <a:schemeClr val="tx2"/>
            </a:solidFill>
            <a:prstDash val="solid"/>
            <a:tailEnd type="triangle"/>
          </a:ln>
        </p:spPr>
        <p:txBody>
          <a:bodyPr/>
          <a:lstStyle/>
          <a:p>
            <a:endParaRPr lang="en-IN"/>
          </a:p>
        </p:txBody>
      </p:sp>
      <p:sp>
        <p:nvSpPr>
          <p:cNvPr id="13" name="Text 11"/>
          <p:cNvSpPr txBox="1"/>
          <p:nvPr/>
        </p:nvSpPr>
        <p:spPr>
          <a:xfrm>
            <a:off x="2651760" y="2103120"/>
            <a:ext cx="822960" cy="256032"/>
          </a:xfrm>
          <a:prstGeom prst="rect">
            <a:avLst/>
          </a:prstGeom>
          <a:noFill/>
          <a:ln/>
        </p:spPr>
        <p:txBody>
          <a:bodyPr wrap="square" lIns="0" tIns="0" rIns="0" bIns="0" rtlCol="0" anchor="t"/>
          <a:lstStyle/>
          <a:p>
            <a:pPr marL="0" indent="0" algn="ctr">
              <a:buNone/>
            </a:pPr>
            <a:r>
              <a:rPr lang="en-US" sz="1200" b="1" dirty="0">
                <a:solidFill>
                  <a:schemeClr val="tx1"/>
                </a:solidFill>
              </a:rPr>
              <a:t>Start</a:t>
            </a:r>
            <a:endParaRPr lang="en-US" sz="1200" dirty="0"/>
          </a:p>
        </p:txBody>
      </p:sp>
      <p:sp>
        <p:nvSpPr>
          <p:cNvPr id="14" name="Arrow"/>
          <p:cNvSpPr/>
          <p:nvPr/>
        </p:nvSpPr>
        <p:spPr>
          <a:xfrm>
            <a:off x="5669280" y="2423160"/>
            <a:ext cx="822960" cy="0"/>
          </a:xfrm>
          <a:prstGeom prst="line">
            <a:avLst/>
          </a:prstGeom>
          <a:noFill/>
          <a:ln w="25400">
            <a:solidFill>
              <a:schemeClr val="tx2"/>
            </a:solidFill>
            <a:prstDash val="solid"/>
            <a:tailEnd type="triangle"/>
          </a:ln>
        </p:spPr>
        <p:txBody>
          <a:bodyPr/>
          <a:lstStyle/>
          <a:p>
            <a:endParaRPr lang="en-IN"/>
          </a:p>
        </p:txBody>
      </p:sp>
      <p:sp>
        <p:nvSpPr>
          <p:cNvPr id="15" name="Text 13"/>
          <p:cNvSpPr txBox="1"/>
          <p:nvPr/>
        </p:nvSpPr>
        <p:spPr>
          <a:xfrm>
            <a:off x="5669280" y="2103120"/>
            <a:ext cx="822960" cy="256032"/>
          </a:xfrm>
          <a:prstGeom prst="rect">
            <a:avLst/>
          </a:prstGeom>
          <a:noFill/>
          <a:ln/>
        </p:spPr>
        <p:txBody>
          <a:bodyPr wrap="square" lIns="0" tIns="0" rIns="0" bIns="0" rtlCol="0" anchor="t"/>
          <a:lstStyle/>
          <a:p>
            <a:pPr marL="0" indent="0" algn="ctr">
              <a:buNone/>
            </a:pPr>
            <a:r>
              <a:rPr lang="en-US" sz="1200" b="1" dirty="0">
                <a:solidFill>
                  <a:schemeClr val="tx1"/>
                </a:solidFill>
              </a:rPr>
              <a:t>Time up</a:t>
            </a:r>
            <a:endParaRPr lang="en-US" sz="1200" dirty="0"/>
          </a:p>
        </p:txBody>
      </p:sp>
      <p:sp>
        <p:nvSpPr>
          <p:cNvPr id="16" name="State Paused"/>
          <p:cNvSpPr/>
          <p:nvPr/>
        </p:nvSpPr>
        <p:spPr>
          <a:xfrm>
            <a:off x="3474720" y="3611880"/>
            <a:ext cx="2194560" cy="640080"/>
          </a:xfrm>
          <a:prstGeom prst="roundRect">
            <a:avLst>
              <a:gd name="adj" fmla="val 20000"/>
            </a:avLst>
          </a:prstGeom>
          <a:solidFill>
            <a:schemeClr val="bg2"/>
          </a:solidFill>
          <a:ln w="15875">
            <a:solidFill>
              <a:schemeClr val="accent5"/>
            </a:solidFill>
            <a:prstDash val="solid"/>
          </a:ln>
        </p:spPr>
        <p:txBody>
          <a:bodyPr/>
          <a:lstStyle/>
          <a:p>
            <a:endParaRPr lang="en-IN"/>
          </a:p>
        </p:txBody>
      </p:sp>
      <p:sp>
        <p:nvSpPr>
          <p:cNvPr id="17" name="Text 15"/>
          <p:cNvSpPr txBox="1"/>
          <p:nvPr/>
        </p:nvSpPr>
        <p:spPr>
          <a:xfrm>
            <a:off x="3611880" y="3657600"/>
            <a:ext cx="1920240" cy="274320"/>
          </a:xfrm>
          <a:prstGeom prst="rect">
            <a:avLst/>
          </a:prstGeom>
          <a:noFill/>
          <a:ln/>
        </p:spPr>
        <p:txBody>
          <a:bodyPr wrap="square" lIns="0" tIns="0" rIns="0" bIns="0" rtlCol="0" anchor="t"/>
          <a:lstStyle/>
          <a:p>
            <a:pPr marL="0" indent="0" algn="ctr">
              <a:buNone/>
            </a:pPr>
            <a:r>
              <a:rPr lang="en-US" sz="1600" b="1" dirty="0">
                <a:solidFill>
                  <a:schemeClr val="tx1"/>
                </a:solidFill>
              </a:rPr>
              <a:t>Paused</a:t>
            </a:r>
            <a:endParaRPr lang="en-US" sz="1600" dirty="0"/>
          </a:p>
        </p:txBody>
      </p:sp>
      <p:sp>
        <p:nvSpPr>
          <p:cNvPr id="18" name="Text 16"/>
          <p:cNvSpPr txBox="1"/>
          <p:nvPr/>
        </p:nvSpPr>
        <p:spPr>
          <a:xfrm>
            <a:off x="3611880" y="3950208"/>
            <a:ext cx="1920240" cy="256032"/>
          </a:xfrm>
          <a:prstGeom prst="rect">
            <a:avLst/>
          </a:prstGeom>
          <a:noFill/>
          <a:ln/>
        </p:spPr>
        <p:txBody>
          <a:bodyPr wrap="square" lIns="0" tIns="0" rIns="0" bIns="0" rtlCol="0" anchor="t"/>
          <a:lstStyle/>
          <a:p>
            <a:pPr marL="0" indent="0" algn="ctr">
              <a:buNone/>
            </a:pPr>
            <a:r>
              <a:rPr lang="en-US" sz="1100" dirty="0">
                <a:solidFill>
                  <a:schemeClr val="tx2"/>
                </a:solidFill>
              </a:rPr>
              <a:t>App sent to background</a:t>
            </a:r>
            <a:endParaRPr lang="en-US" sz="1100" dirty="0"/>
          </a:p>
        </p:txBody>
      </p:sp>
      <p:sp>
        <p:nvSpPr>
          <p:cNvPr id="19" name="Arrow"/>
          <p:cNvSpPr/>
          <p:nvPr/>
        </p:nvSpPr>
        <p:spPr>
          <a:xfrm>
            <a:off x="4206240" y="3063240"/>
            <a:ext cx="0" cy="548640"/>
          </a:xfrm>
          <a:prstGeom prst="line">
            <a:avLst/>
          </a:prstGeom>
          <a:noFill/>
          <a:ln w="25400">
            <a:solidFill>
              <a:schemeClr val="tx2"/>
            </a:solidFill>
            <a:prstDash val="solid"/>
            <a:tailEnd type="triangle"/>
          </a:ln>
        </p:spPr>
        <p:txBody>
          <a:bodyPr/>
          <a:lstStyle/>
          <a:p>
            <a:endParaRPr lang="en-IN"/>
          </a:p>
        </p:txBody>
      </p:sp>
      <p:sp>
        <p:nvSpPr>
          <p:cNvPr id="20" name="Arrow"/>
          <p:cNvSpPr/>
          <p:nvPr/>
        </p:nvSpPr>
        <p:spPr>
          <a:xfrm flipV="1">
            <a:off x="4937760" y="3063240"/>
            <a:ext cx="0" cy="548640"/>
          </a:xfrm>
          <a:prstGeom prst="line">
            <a:avLst/>
          </a:prstGeom>
          <a:noFill/>
          <a:ln w="25400">
            <a:solidFill>
              <a:schemeClr val="tx2"/>
            </a:solidFill>
            <a:prstDash val="solid"/>
            <a:tailEnd type="triangle"/>
          </a:ln>
        </p:spPr>
        <p:txBody>
          <a:bodyPr/>
          <a:lstStyle/>
          <a:p>
            <a:endParaRPr lang="en-IN"/>
          </a:p>
        </p:txBody>
      </p:sp>
      <p:sp>
        <p:nvSpPr>
          <p:cNvPr id="21" name="Text 19"/>
          <p:cNvSpPr txBox="1"/>
          <p:nvPr/>
        </p:nvSpPr>
        <p:spPr>
          <a:xfrm>
            <a:off x="3017520" y="3200400"/>
            <a:ext cx="1097280" cy="256032"/>
          </a:xfrm>
          <a:prstGeom prst="rect">
            <a:avLst/>
          </a:prstGeom>
          <a:noFill/>
          <a:ln/>
        </p:spPr>
        <p:txBody>
          <a:bodyPr wrap="square" lIns="0" tIns="0" rIns="0" bIns="0" rtlCol="0" anchor="t"/>
          <a:lstStyle/>
          <a:p>
            <a:pPr marL="0" indent="0" algn="r">
              <a:buNone/>
            </a:pPr>
            <a:r>
              <a:rPr lang="en-US" sz="1200" b="1" dirty="0">
                <a:solidFill>
                  <a:schemeClr val="tx1"/>
                </a:solidFill>
              </a:rPr>
              <a:t>Home</a:t>
            </a:r>
            <a:endParaRPr lang="en-US" sz="1200" dirty="0"/>
          </a:p>
        </p:txBody>
      </p:sp>
      <p:sp>
        <p:nvSpPr>
          <p:cNvPr id="22" name="Text 20"/>
          <p:cNvSpPr txBox="1"/>
          <p:nvPr/>
        </p:nvSpPr>
        <p:spPr>
          <a:xfrm>
            <a:off x="5074920" y="3200400"/>
            <a:ext cx="1097280" cy="256032"/>
          </a:xfrm>
          <a:prstGeom prst="rect">
            <a:avLst/>
          </a:prstGeom>
          <a:noFill/>
          <a:ln/>
        </p:spPr>
        <p:txBody>
          <a:bodyPr wrap="square" lIns="0" tIns="0" rIns="0" bIns="0" rtlCol="0" anchor="t"/>
          <a:lstStyle/>
          <a:p>
            <a:pPr marL="0" indent="0">
              <a:buNone/>
            </a:pPr>
            <a:r>
              <a:rPr lang="en-US" sz="1200" b="1" dirty="0">
                <a:solidFill>
                  <a:schemeClr val="tx1"/>
                </a:solidFill>
              </a:rPr>
              <a:t>Resume</a:t>
            </a:r>
            <a:endParaRPr lang="en-US" sz="1200" dirty="0"/>
          </a:p>
        </p:txBody>
      </p:sp>
      <p:sp>
        <p:nvSpPr>
          <p:cNvPr id="23" name="Elbow"/>
          <p:cNvSpPr/>
          <p:nvPr/>
        </p:nvSpPr>
        <p:spPr>
          <a:xfrm>
            <a:off x="7589520" y="1463040"/>
            <a:ext cx="0" cy="320040"/>
          </a:xfrm>
          <a:prstGeom prst="line">
            <a:avLst/>
          </a:prstGeom>
          <a:noFill/>
          <a:ln w="25400">
            <a:solidFill>
              <a:schemeClr val="tx2"/>
            </a:solidFill>
            <a:prstDash val="solid"/>
          </a:ln>
        </p:spPr>
        <p:txBody>
          <a:bodyPr/>
          <a:lstStyle/>
          <a:p>
            <a:endParaRPr lang="en-IN"/>
          </a:p>
        </p:txBody>
      </p:sp>
      <p:sp>
        <p:nvSpPr>
          <p:cNvPr id="24" name="Elbow"/>
          <p:cNvSpPr/>
          <p:nvPr/>
        </p:nvSpPr>
        <p:spPr>
          <a:xfrm>
            <a:off x="4572000" y="1463040"/>
            <a:ext cx="3017520" cy="0"/>
          </a:xfrm>
          <a:prstGeom prst="line">
            <a:avLst/>
          </a:prstGeom>
          <a:noFill/>
          <a:ln w="25400">
            <a:solidFill>
              <a:schemeClr val="tx2"/>
            </a:solidFill>
            <a:prstDash val="solid"/>
          </a:ln>
        </p:spPr>
        <p:txBody>
          <a:bodyPr/>
          <a:lstStyle/>
          <a:p>
            <a:endParaRPr lang="en-IN"/>
          </a:p>
        </p:txBody>
      </p:sp>
      <p:sp>
        <p:nvSpPr>
          <p:cNvPr id="25" name="Elbow arrow"/>
          <p:cNvSpPr/>
          <p:nvPr/>
        </p:nvSpPr>
        <p:spPr>
          <a:xfrm>
            <a:off x="4572000" y="1463040"/>
            <a:ext cx="0" cy="320040"/>
          </a:xfrm>
          <a:prstGeom prst="line">
            <a:avLst/>
          </a:prstGeom>
          <a:noFill/>
          <a:ln w="25400">
            <a:solidFill>
              <a:schemeClr val="tx2"/>
            </a:solidFill>
            <a:prstDash val="solid"/>
            <a:tailEnd type="triangle"/>
          </a:ln>
        </p:spPr>
        <p:txBody>
          <a:bodyPr/>
          <a:lstStyle/>
          <a:p>
            <a:endParaRPr lang="en-IN"/>
          </a:p>
        </p:txBody>
      </p:sp>
      <p:sp>
        <p:nvSpPr>
          <p:cNvPr id="26" name="Text 24"/>
          <p:cNvSpPr txBox="1"/>
          <p:nvPr/>
        </p:nvSpPr>
        <p:spPr>
          <a:xfrm>
            <a:off x="5303520" y="1170432"/>
            <a:ext cx="2011680" cy="256032"/>
          </a:xfrm>
          <a:prstGeom prst="rect">
            <a:avLst/>
          </a:prstGeom>
          <a:noFill/>
          <a:ln/>
        </p:spPr>
        <p:txBody>
          <a:bodyPr wrap="square" lIns="0" tIns="0" rIns="0" bIns="0" rtlCol="0" anchor="t"/>
          <a:lstStyle/>
          <a:p>
            <a:pPr marL="0" indent="0" algn="ctr">
              <a:buNone/>
            </a:pPr>
            <a:r>
              <a:rPr lang="en-US" sz="1200" b="1" dirty="0">
                <a:solidFill>
                  <a:schemeClr val="tx1"/>
                </a:solidFill>
              </a:rPr>
              <a:t>Play Again</a:t>
            </a:r>
            <a:endParaRPr lang="en-US" sz="1200" dirty="0"/>
          </a:p>
        </p:txBody>
      </p:sp>
      <p:sp>
        <p:nvSpPr>
          <p:cNvPr id="27" name="Elbow"/>
          <p:cNvSpPr/>
          <p:nvPr/>
        </p:nvSpPr>
        <p:spPr>
          <a:xfrm>
            <a:off x="7589520" y="3063240"/>
            <a:ext cx="0" cy="1417320"/>
          </a:xfrm>
          <a:prstGeom prst="line">
            <a:avLst/>
          </a:prstGeom>
          <a:noFill/>
          <a:ln w="25400">
            <a:solidFill>
              <a:schemeClr val="tx2"/>
            </a:solidFill>
            <a:prstDash val="solid"/>
          </a:ln>
        </p:spPr>
        <p:txBody>
          <a:bodyPr/>
          <a:lstStyle/>
          <a:p>
            <a:endParaRPr lang="en-IN"/>
          </a:p>
        </p:txBody>
      </p:sp>
      <p:sp>
        <p:nvSpPr>
          <p:cNvPr id="28" name="Elbow"/>
          <p:cNvSpPr/>
          <p:nvPr/>
        </p:nvSpPr>
        <p:spPr>
          <a:xfrm>
            <a:off x="1554480" y="4480560"/>
            <a:ext cx="6035040" cy="0"/>
          </a:xfrm>
          <a:prstGeom prst="line">
            <a:avLst/>
          </a:prstGeom>
          <a:noFill/>
          <a:ln w="25400">
            <a:solidFill>
              <a:schemeClr val="tx2"/>
            </a:solidFill>
            <a:prstDash val="solid"/>
          </a:ln>
        </p:spPr>
        <p:txBody>
          <a:bodyPr/>
          <a:lstStyle/>
          <a:p>
            <a:endParaRPr lang="en-IN"/>
          </a:p>
        </p:txBody>
      </p:sp>
      <p:sp>
        <p:nvSpPr>
          <p:cNvPr id="29" name="Elbow arrow up"/>
          <p:cNvSpPr/>
          <p:nvPr/>
        </p:nvSpPr>
        <p:spPr>
          <a:xfrm flipV="1">
            <a:off x="1554480" y="3063240"/>
            <a:ext cx="0" cy="1417320"/>
          </a:xfrm>
          <a:prstGeom prst="line">
            <a:avLst/>
          </a:prstGeom>
          <a:noFill/>
          <a:ln w="25400">
            <a:solidFill>
              <a:schemeClr val="tx2"/>
            </a:solidFill>
            <a:prstDash val="solid"/>
            <a:tailEnd type="triangle"/>
          </a:ln>
        </p:spPr>
        <p:txBody>
          <a:bodyPr/>
          <a:lstStyle/>
          <a:p>
            <a:endParaRPr lang="en-IN"/>
          </a:p>
        </p:txBody>
      </p:sp>
      <p:sp>
        <p:nvSpPr>
          <p:cNvPr id="30" name="Text 28"/>
          <p:cNvSpPr txBox="1"/>
          <p:nvPr/>
        </p:nvSpPr>
        <p:spPr>
          <a:xfrm>
            <a:off x="1737360" y="4160520"/>
            <a:ext cx="1645920" cy="256032"/>
          </a:xfrm>
          <a:prstGeom prst="rect">
            <a:avLst/>
          </a:prstGeom>
          <a:noFill/>
          <a:ln/>
        </p:spPr>
        <p:txBody>
          <a:bodyPr wrap="square" lIns="0" tIns="0" rIns="0" bIns="0" rtlCol="0" anchor="t"/>
          <a:lstStyle/>
          <a:p>
            <a:pPr marL="0" indent="0">
              <a:buNone/>
            </a:pPr>
            <a:r>
              <a:rPr lang="en-US" sz="1200" b="1" dirty="0">
                <a:solidFill>
                  <a:schemeClr val="tx1"/>
                </a:solidFill>
              </a:rPr>
              <a:t>Menu button</a:t>
            </a:r>
            <a:endParaRPr lang="en-US" sz="1200" dirty="0"/>
          </a:p>
        </p:txBody>
      </p:sp>
      <p:sp>
        <p:nvSpPr>
          <p:cNvPr id="3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How the Code Fits Together</a:t>
            </a:r>
            <a:endParaRPr lang="en-US" sz="3400" dirty="0"/>
          </a:p>
        </p:txBody>
      </p:sp>
      <p:sp>
        <p:nvSpPr>
          <p:cNvPr id="3" name="Text 1"/>
          <p:cNvSpPr txBox="1"/>
          <p:nvPr/>
        </p:nvSpPr>
        <p:spPr>
          <a:xfrm>
            <a:off x="457200" y="960120"/>
            <a:ext cx="8229600" cy="274320"/>
          </a:xfrm>
          <a:prstGeom prst="rect">
            <a:avLst/>
          </a:prstGeom>
          <a:noFill/>
          <a:ln/>
        </p:spPr>
        <p:txBody>
          <a:bodyPr wrap="square" lIns="0" tIns="0" rIns="0" bIns="0" rtlCol="0" anchor="t"/>
          <a:lstStyle/>
          <a:p>
            <a:pPr marL="0" indent="0">
              <a:buNone/>
            </a:pPr>
            <a:r>
              <a:rPr lang="en-US" sz="1400" i="1" dirty="0">
                <a:solidFill>
                  <a:schemeClr val="accent5"/>
                </a:solidFill>
              </a:rPr>
              <a:t>Scripts talk through events, so each one stays small and simple.</a:t>
            </a:r>
            <a:endParaRPr lang="en-US" sz="1400" dirty="0"/>
          </a:p>
        </p:txBody>
      </p:sp>
      <p:sp>
        <p:nvSpPr>
          <p:cNvPr id="4" name="Link"/>
          <p:cNvSpPr/>
          <p:nvPr/>
        </p:nvSpPr>
        <p:spPr>
          <a:xfrm>
            <a:off x="1645920" y="2103120"/>
            <a:ext cx="2926080" cy="411480"/>
          </a:xfrm>
          <a:prstGeom prst="line">
            <a:avLst/>
          </a:prstGeom>
          <a:noFill/>
          <a:ln w="22225">
            <a:solidFill>
              <a:schemeClr val="accent5"/>
            </a:solidFill>
            <a:prstDash val="solid"/>
          </a:ln>
        </p:spPr>
        <p:txBody>
          <a:bodyPr/>
          <a:lstStyle/>
          <a:p>
            <a:endParaRPr lang="en-IN"/>
          </a:p>
        </p:txBody>
      </p:sp>
      <p:sp>
        <p:nvSpPr>
          <p:cNvPr id="5" name="Link"/>
          <p:cNvSpPr/>
          <p:nvPr/>
        </p:nvSpPr>
        <p:spPr>
          <a:xfrm>
            <a:off x="4572000" y="2103120"/>
            <a:ext cx="0" cy="411480"/>
          </a:xfrm>
          <a:prstGeom prst="line">
            <a:avLst/>
          </a:prstGeom>
          <a:noFill/>
          <a:ln w="22225">
            <a:solidFill>
              <a:schemeClr val="accent5"/>
            </a:solidFill>
            <a:prstDash val="solid"/>
          </a:ln>
        </p:spPr>
        <p:txBody>
          <a:bodyPr/>
          <a:lstStyle/>
          <a:p>
            <a:endParaRPr lang="en-IN"/>
          </a:p>
        </p:txBody>
      </p:sp>
      <p:sp>
        <p:nvSpPr>
          <p:cNvPr id="6" name="Link"/>
          <p:cNvSpPr/>
          <p:nvPr/>
        </p:nvSpPr>
        <p:spPr>
          <a:xfrm flipV="1">
            <a:off x="4572000" y="2103120"/>
            <a:ext cx="2926080" cy="411480"/>
          </a:xfrm>
          <a:prstGeom prst="line">
            <a:avLst/>
          </a:prstGeom>
          <a:noFill/>
          <a:ln w="22225">
            <a:solidFill>
              <a:schemeClr val="accent5"/>
            </a:solidFill>
            <a:prstDash val="solid"/>
          </a:ln>
        </p:spPr>
        <p:txBody>
          <a:bodyPr/>
          <a:lstStyle/>
          <a:p>
            <a:endParaRPr lang="en-IN"/>
          </a:p>
        </p:txBody>
      </p:sp>
      <p:sp>
        <p:nvSpPr>
          <p:cNvPr id="7" name="Link"/>
          <p:cNvSpPr/>
          <p:nvPr/>
        </p:nvSpPr>
        <p:spPr>
          <a:xfrm flipH="1">
            <a:off x="1645920" y="3246120"/>
            <a:ext cx="2926080" cy="411480"/>
          </a:xfrm>
          <a:prstGeom prst="line">
            <a:avLst/>
          </a:prstGeom>
          <a:noFill/>
          <a:ln w="22225">
            <a:solidFill>
              <a:schemeClr val="accent5"/>
            </a:solidFill>
            <a:prstDash val="solid"/>
          </a:ln>
        </p:spPr>
        <p:txBody>
          <a:bodyPr/>
          <a:lstStyle/>
          <a:p>
            <a:endParaRPr lang="en-IN"/>
          </a:p>
        </p:txBody>
      </p:sp>
      <p:sp>
        <p:nvSpPr>
          <p:cNvPr id="8" name="Link"/>
          <p:cNvSpPr/>
          <p:nvPr/>
        </p:nvSpPr>
        <p:spPr>
          <a:xfrm>
            <a:off x="4572000" y="3246120"/>
            <a:ext cx="0" cy="411480"/>
          </a:xfrm>
          <a:prstGeom prst="line">
            <a:avLst/>
          </a:prstGeom>
          <a:noFill/>
          <a:ln w="22225">
            <a:solidFill>
              <a:schemeClr val="accent5"/>
            </a:solidFill>
            <a:prstDash val="solid"/>
          </a:ln>
        </p:spPr>
        <p:txBody>
          <a:bodyPr/>
          <a:lstStyle/>
          <a:p>
            <a:endParaRPr lang="en-IN"/>
          </a:p>
        </p:txBody>
      </p:sp>
      <p:sp>
        <p:nvSpPr>
          <p:cNvPr id="9" name="Link"/>
          <p:cNvSpPr/>
          <p:nvPr/>
        </p:nvSpPr>
        <p:spPr>
          <a:xfrm>
            <a:off x="4572000" y="3246120"/>
            <a:ext cx="2926080" cy="411480"/>
          </a:xfrm>
          <a:prstGeom prst="line">
            <a:avLst/>
          </a:prstGeom>
          <a:noFill/>
          <a:ln w="22225">
            <a:solidFill>
              <a:schemeClr val="accent5"/>
            </a:solidFill>
            <a:prstDash val="solid"/>
          </a:ln>
        </p:spPr>
        <p:txBody>
          <a:bodyPr/>
          <a:lstStyle/>
          <a:p>
            <a:endParaRPr lang="en-IN"/>
          </a:p>
        </p:txBody>
      </p:sp>
      <p:sp>
        <p:nvSpPr>
          <p:cNvPr id="10" name="Node ShootingController"/>
          <p:cNvSpPr/>
          <p:nvPr/>
        </p:nvSpPr>
        <p:spPr>
          <a:xfrm>
            <a:off x="457200" y="1371600"/>
            <a:ext cx="2377440" cy="731520"/>
          </a:xfrm>
          <a:prstGeom prst="roundRect">
            <a:avLst>
              <a:gd name="adj" fmla="val 12500"/>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1" name="Text 9"/>
          <p:cNvSpPr txBox="1"/>
          <p:nvPr/>
        </p:nvSpPr>
        <p:spPr>
          <a:xfrm>
            <a:off x="548640" y="1444752"/>
            <a:ext cx="2194560" cy="274320"/>
          </a:xfrm>
          <a:prstGeom prst="rect">
            <a:avLst/>
          </a:prstGeom>
          <a:noFill/>
          <a:ln/>
        </p:spPr>
        <p:txBody>
          <a:bodyPr wrap="square" lIns="0" tIns="0" rIns="0" bIns="0" rtlCol="0" anchor="t"/>
          <a:lstStyle/>
          <a:p>
            <a:pPr marL="0" indent="0" algn="ctr">
              <a:buNone/>
            </a:pPr>
            <a:r>
              <a:rPr lang="en-US" sz="1400" b="1" dirty="0">
                <a:solidFill>
                  <a:schemeClr val="tx1"/>
                </a:solidFill>
              </a:rPr>
              <a:t>ShootingController</a:t>
            </a:r>
            <a:endParaRPr lang="en-US" sz="1400" dirty="0"/>
          </a:p>
        </p:txBody>
      </p:sp>
      <p:sp>
        <p:nvSpPr>
          <p:cNvPr id="12" name="Text 10"/>
          <p:cNvSpPr txBox="1"/>
          <p:nvPr/>
        </p:nvSpPr>
        <p:spPr>
          <a:xfrm>
            <a:off x="548640" y="1773936"/>
            <a:ext cx="2194560" cy="256032"/>
          </a:xfrm>
          <a:prstGeom prst="rect">
            <a:avLst/>
          </a:prstGeom>
          <a:noFill/>
          <a:ln/>
        </p:spPr>
        <p:txBody>
          <a:bodyPr wrap="square" lIns="0" tIns="0" rIns="0" bIns="0" rtlCol="0" anchor="t"/>
          <a:lstStyle/>
          <a:p>
            <a:pPr marL="0" indent="0" algn="ctr">
              <a:buNone/>
            </a:pPr>
            <a:r>
              <a:rPr lang="en-US" sz="1100" dirty="0">
                <a:solidFill>
                  <a:schemeClr val="tx1"/>
                </a:solidFill>
              </a:rPr>
              <a:t>Tap fires projectiles</a:t>
            </a:r>
            <a:endParaRPr lang="en-US" sz="1100" dirty="0"/>
          </a:p>
        </p:txBody>
      </p:sp>
      <p:sp>
        <p:nvSpPr>
          <p:cNvPr id="13" name="Node TargetSpawner"/>
          <p:cNvSpPr/>
          <p:nvPr/>
        </p:nvSpPr>
        <p:spPr>
          <a:xfrm>
            <a:off x="3383280" y="1371600"/>
            <a:ext cx="2377440" cy="731520"/>
          </a:xfrm>
          <a:prstGeom prst="roundRect">
            <a:avLst>
              <a:gd name="adj" fmla="val 12500"/>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4" name="Text 12"/>
          <p:cNvSpPr txBox="1"/>
          <p:nvPr/>
        </p:nvSpPr>
        <p:spPr>
          <a:xfrm>
            <a:off x="3474720" y="1444752"/>
            <a:ext cx="2194560" cy="274320"/>
          </a:xfrm>
          <a:prstGeom prst="rect">
            <a:avLst/>
          </a:prstGeom>
          <a:noFill/>
          <a:ln/>
        </p:spPr>
        <p:txBody>
          <a:bodyPr wrap="square" lIns="0" tIns="0" rIns="0" bIns="0" rtlCol="0" anchor="t"/>
          <a:lstStyle/>
          <a:p>
            <a:pPr marL="0" indent="0" algn="ctr">
              <a:buNone/>
            </a:pPr>
            <a:r>
              <a:rPr lang="en-US" sz="1400" b="1" dirty="0">
                <a:solidFill>
                  <a:schemeClr val="tx1"/>
                </a:solidFill>
              </a:rPr>
              <a:t>TargetSpawner</a:t>
            </a:r>
            <a:endParaRPr lang="en-US" sz="1400" dirty="0"/>
          </a:p>
        </p:txBody>
      </p:sp>
      <p:sp>
        <p:nvSpPr>
          <p:cNvPr id="15" name="Text 13"/>
          <p:cNvSpPr txBox="1"/>
          <p:nvPr/>
        </p:nvSpPr>
        <p:spPr>
          <a:xfrm>
            <a:off x="3474720" y="1773936"/>
            <a:ext cx="2194560" cy="256032"/>
          </a:xfrm>
          <a:prstGeom prst="rect">
            <a:avLst/>
          </a:prstGeom>
          <a:noFill/>
          <a:ln/>
        </p:spPr>
        <p:txBody>
          <a:bodyPr wrap="square" lIns="0" tIns="0" rIns="0" bIns="0" rtlCol="0" anchor="t"/>
          <a:lstStyle/>
          <a:p>
            <a:pPr marL="0" indent="0" algn="ctr">
              <a:buNone/>
            </a:pPr>
            <a:r>
              <a:rPr lang="en-US" sz="1100" dirty="0">
                <a:solidFill>
                  <a:schemeClr val="tx1"/>
                </a:solidFill>
              </a:rPr>
              <a:t>Spawns and respawns targets</a:t>
            </a:r>
            <a:endParaRPr lang="en-US" sz="1100" dirty="0"/>
          </a:p>
        </p:txBody>
      </p:sp>
      <p:sp>
        <p:nvSpPr>
          <p:cNvPr id="16" name="Node PlaneDetectionController"/>
          <p:cNvSpPr/>
          <p:nvPr/>
        </p:nvSpPr>
        <p:spPr>
          <a:xfrm>
            <a:off x="6309360" y="1371600"/>
            <a:ext cx="2377440" cy="731520"/>
          </a:xfrm>
          <a:prstGeom prst="roundRect">
            <a:avLst>
              <a:gd name="adj" fmla="val 12500"/>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7" name="Text 15"/>
          <p:cNvSpPr txBox="1"/>
          <p:nvPr/>
        </p:nvSpPr>
        <p:spPr>
          <a:xfrm>
            <a:off x="6400800" y="1444752"/>
            <a:ext cx="2194560" cy="274320"/>
          </a:xfrm>
          <a:prstGeom prst="rect">
            <a:avLst/>
          </a:prstGeom>
          <a:noFill/>
          <a:ln/>
        </p:spPr>
        <p:txBody>
          <a:bodyPr wrap="square" lIns="0" tIns="0" rIns="0" bIns="0" rtlCol="0" anchor="t"/>
          <a:lstStyle/>
          <a:p>
            <a:pPr marL="0" indent="0" algn="ctr">
              <a:buNone/>
            </a:pPr>
            <a:r>
              <a:rPr lang="en-US" sz="1300" b="1" dirty="0">
                <a:solidFill>
                  <a:schemeClr val="tx1"/>
                </a:solidFill>
              </a:rPr>
              <a:t>PlaneDetectionController</a:t>
            </a:r>
            <a:endParaRPr lang="en-US" sz="1300" dirty="0"/>
          </a:p>
        </p:txBody>
      </p:sp>
      <p:sp>
        <p:nvSpPr>
          <p:cNvPr id="18" name="Text 16"/>
          <p:cNvSpPr txBox="1"/>
          <p:nvPr/>
        </p:nvSpPr>
        <p:spPr>
          <a:xfrm>
            <a:off x="6400800" y="1773936"/>
            <a:ext cx="2194560" cy="256032"/>
          </a:xfrm>
          <a:prstGeom prst="rect">
            <a:avLst/>
          </a:prstGeom>
          <a:noFill/>
          <a:ln/>
        </p:spPr>
        <p:txBody>
          <a:bodyPr wrap="square" lIns="0" tIns="0" rIns="0" bIns="0" rtlCol="0" anchor="t"/>
          <a:lstStyle/>
          <a:p>
            <a:pPr marL="0" indent="0" algn="ctr">
              <a:buNone/>
            </a:pPr>
            <a:r>
              <a:rPr lang="en-US" sz="1100" dirty="0">
                <a:solidFill>
                  <a:schemeClr val="tx1"/>
                </a:solidFill>
              </a:rPr>
              <a:t>Tracks detected planes</a:t>
            </a:r>
            <a:endParaRPr lang="en-US" sz="1100" dirty="0"/>
          </a:p>
        </p:txBody>
      </p:sp>
      <p:sp>
        <p:nvSpPr>
          <p:cNvPr id="19" name="Node ScoreManager"/>
          <p:cNvSpPr/>
          <p:nvPr/>
        </p:nvSpPr>
        <p:spPr>
          <a:xfrm>
            <a:off x="457200" y="3657600"/>
            <a:ext cx="2377440" cy="731520"/>
          </a:xfrm>
          <a:prstGeom prst="roundRect">
            <a:avLst>
              <a:gd name="adj" fmla="val 12500"/>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20" name="Text 18"/>
          <p:cNvSpPr txBox="1"/>
          <p:nvPr/>
        </p:nvSpPr>
        <p:spPr>
          <a:xfrm>
            <a:off x="548640" y="3730752"/>
            <a:ext cx="2194560" cy="274320"/>
          </a:xfrm>
          <a:prstGeom prst="rect">
            <a:avLst/>
          </a:prstGeom>
          <a:noFill/>
          <a:ln/>
        </p:spPr>
        <p:txBody>
          <a:bodyPr wrap="square" lIns="0" tIns="0" rIns="0" bIns="0" rtlCol="0" anchor="t"/>
          <a:lstStyle/>
          <a:p>
            <a:pPr marL="0" indent="0" algn="ctr">
              <a:buNone/>
            </a:pPr>
            <a:r>
              <a:rPr lang="en-US" sz="1400" b="1" dirty="0">
                <a:solidFill>
                  <a:schemeClr val="tx1"/>
                </a:solidFill>
              </a:rPr>
              <a:t>ScoreManager</a:t>
            </a:r>
            <a:endParaRPr lang="en-US" sz="1400" dirty="0"/>
          </a:p>
        </p:txBody>
      </p:sp>
      <p:sp>
        <p:nvSpPr>
          <p:cNvPr id="21" name="Text 19"/>
          <p:cNvSpPr txBox="1"/>
          <p:nvPr/>
        </p:nvSpPr>
        <p:spPr>
          <a:xfrm>
            <a:off x="548640" y="4059936"/>
            <a:ext cx="2194560" cy="256032"/>
          </a:xfrm>
          <a:prstGeom prst="rect">
            <a:avLst/>
          </a:prstGeom>
          <a:noFill/>
          <a:ln/>
        </p:spPr>
        <p:txBody>
          <a:bodyPr wrap="square" lIns="0" tIns="0" rIns="0" bIns="0" rtlCol="0" anchor="t"/>
          <a:lstStyle/>
          <a:p>
            <a:pPr marL="0" indent="0" algn="ctr">
              <a:buNone/>
            </a:pPr>
            <a:r>
              <a:rPr lang="en-US" sz="1100" dirty="0">
                <a:solidFill>
                  <a:schemeClr val="tx1"/>
                </a:solidFill>
              </a:rPr>
              <a:t>Counts points and hits</a:t>
            </a:r>
            <a:endParaRPr lang="en-US" sz="1100" dirty="0"/>
          </a:p>
        </p:txBody>
      </p:sp>
      <p:sp>
        <p:nvSpPr>
          <p:cNvPr id="22" name="Node HitEffects"/>
          <p:cNvSpPr/>
          <p:nvPr/>
        </p:nvSpPr>
        <p:spPr>
          <a:xfrm>
            <a:off x="3383280" y="3657600"/>
            <a:ext cx="2377440" cy="731520"/>
          </a:xfrm>
          <a:prstGeom prst="roundRect">
            <a:avLst>
              <a:gd name="adj" fmla="val 12500"/>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23" name="Text 21"/>
          <p:cNvSpPr txBox="1"/>
          <p:nvPr/>
        </p:nvSpPr>
        <p:spPr>
          <a:xfrm>
            <a:off x="3474720" y="3730752"/>
            <a:ext cx="2194560" cy="274320"/>
          </a:xfrm>
          <a:prstGeom prst="rect">
            <a:avLst/>
          </a:prstGeom>
          <a:noFill/>
          <a:ln/>
        </p:spPr>
        <p:txBody>
          <a:bodyPr wrap="square" lIns="0" tIns="0" rIns="0" bIns="0" rtlCol="0" anchor="t"/>
          <a:lstStyle/>
          <a:p>
            <a:pPr marL="0" indent="0" algn="ctr">
              <a:buNone/>
            </a:pPr>
            <a:r>
              <a:rPr lang="en-US" sz="1400" b="1" dirty="0">
                <a:solidFill>
                  <a:schemeClr val="tx1"/>
                </a:solidFill>
              </a:rPr>
              <a:t>HitEffects</a:t>
            </a:r>
            <a:endParaRPr lang="en-US" sz="1400" dirty="0"/>
          </a:p>
        </p:txBody>
      </p:sp>
      <p:sp>
        <p:nvSpPr>
          <p:cNvPr id="24" name="Text 22"/>
          <p:cNvSpPr txBox="1"/>
          <p:nvPr/>
        </p:nvSpPr>
        <p:spPr>
          <a:xfrm>
            <a:off x="3474720" y="4059936"/>
            <a:ext cx="2194560" cy="256032"/>
          </a:xfrm>
          <a:prstGeom prst="rect">
            <a:avLst/>
          </a:prstGeom>
          <a:noFill/>
          <a:ln/>
        </p:spPr>
        <p:txBody>
          <a:bodyPr wrap="square" lIns="0" tIns="0" rIns="0" bIns="0" rtlCol="0" anchor="t"/>
          <a:lstStyle/>
          <a:p>
            <a:pPr marL="0" indent="0" algn="ctr">
              <a:buNone/>
            </a:pPr>
            <a:r>
              <a:rPr lang="en-US" sz="1100" dirty="0">
                <a:solidFill>
                  <a:schemeClr val="tx1"/>
                </a:solidFill>
              </a:rPr>
              <a:t>Burst and sound on hit</a:t>
            </a:r>
            <a:endParaRPr lang="en-US" sz="1100" dirty="0"/>
          </a:p>
        </p:txBody>
      </p:sp>
      <p:sp>
        <p:nvSpPr>
          <p:cNvPr id="25" name="Node GameUI"/>
          <p:cNvSpPr/>
          <p:nvPr/>
        </p:nvSpPr>
        <p:spPr>
          <a:xfrm>
            <a:off x="6309360" y="3657600"/>
            <a:ext cx="2377440" cy="731520"/>
          </a:xfrm>
          <a:prstGeom prst="roundRect">
            <a:avLst>
              <a:gd name="adj" fmla="val 12500"/>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26" name="Text 24"/>
          <p:cNvSpPr txBox="1"/>
          <p:nvPr/>
        </p:nvSpPr>
        <p:spPr>
          <a:xfrm>
            <a:off x="6400800" y="3730752"/>
            <a:ext cx="2194560" cy="274320"/>
          </a:xfrm>
          <a:prstGeom prst="rect">
            <a:avLst/>
          </a:prstGeom>
          <a:noFill/>
          <a:ln/>
        </p:spPr>
        <p:txBody>
          <a:bodyPr wrap="square" lIns="0" tIns="0" rIns="0" bIns="0" rtlCol="0" anchor="t"/>
          <a:lstStyle/>
          <a:p>
            <a:pPr marL="0" indent="0" algn="ctr">
              <a:buNone/>
            </a:pPr>
            <a:r>
              <a:rPr lang="en-US" sz="1400" b="1" dirty="0">
                <a:solidFill>
                  <a:schemeClr val="tx1"/>
                </a:solidFill>
              </a:rPr>
              <a:t>GameUI</a:t>
            </a:r>
            <a:endParaRPr lang="en-US" sz="1400" dirty="0"/>
          </a:p>
        </p:txBody>
      </p:sp>
      <p:sp>
        <p:nvSpPr>
          <p:cNvPr id="27" name="Text 25"/>
          <p:cNvSpPr txBox="1"/>
          <p:nvPr/>
        </p:nvSpPr>
        <p:spPr>
          <a:xfrm>
            <a:off x="6400800" y="4059936"/>
            <a:ext cx="2194560" cy="256032"/>
          </a:xfrm>
          <a:prstGeom prst="rect">
            <a:avLst/>
          </a:prstGeom>
          <a:noFill/>
          <a:ln/>
        </p:spPr>
        <p:txBody>
          <a:bodyPr wrap="square" lIns="0" tIns="0" rIns="0" bIns="0" rtlCol="0" anchor="t"/>
          <a:lstStyle/>
          <a:p>
            <a:pPr marL="0" indent="0" algn="ctr">
              <a:buNone/>
            </a:pPr>
            <a:r>
              <a:rPr lang="en-US" sz="1100" dirty="0">
                <a:solidFill>
                  <a:schemeClr val="tx1"/>
                </a:solidFill>
              </a:rPr>
              <a:t>Menu, HUD, game over</a:t>
            </a:r>
            <a:endParaRPr lang="en-US" sz="1100" dirty="0"/>
          </a:p>
        </p:txBody>
      </p:sp>
      <p:sp>
        <p:nvSpPr>
          <p:cNvPr id="28" name="Node GameManager"/>
          <p:cNvSpPr/>
          <p:nvPr/>
        </p:nvSpPr>
        <p:spPr>
          <a:xfrm>
            <a:off x="3383280" y="2514600"/>
            <a:ext cx="2377440" cy="731520"/>
          </a:xfrm>
          <a:prstGeom prst="roundRect">
            <a:avLst>
              <a:gd name="adj" fmla="val 12500"/>
            </a:avLst>
          </a:prstGeom>
          <a:solidFill>
            <a:schemeClr val="accent2"/>
          </a:solidFill>
          <a:ln/>
          <a:effectLst>
            <a:outerShdw blurRad="76200" dist="25400" dir="5400000" algn="bl" rotWithShape="0">
              <a:srgbClr val="000000">
                <a:alpha val="14000"/>
              </a:srgbClr>
            </a:outerShdw>
          </a:effectLst>
        </p:spPr>
        <p:txBody>
          <a:bodyPr/>
          <a:lstStyle/>
          <a:p>
            <a:endParaRPr lang="en-IN"/>
          </a:p>
        </p:txBody>
      </p:sp>
      <p:sp>
        <p:nvSpPr>
          <p:cNvPr id="29" name="Text 27"/>
          <p:cNvSpPr txBox="1"/>
          <p:nvPr/>
        </p:nvSpPr>
        <p:spPr>
          <a:xfrm>
            <a:off x="3474720" y="2587752"/>
            <a:ext cx="2194560" cy="274320"/>
          </a:xfrm>
          <a:prstGeom prst="rect">
            <a:avLst/>
          </a:prstGeom>
          <a:noFill/>
          <a:ln/>
        </p:spPr>
        <p:txBody>
          <a:bodyPr wrap="square" lIns="0" tIns="0" rIns="0" bIns="0" rtlCol="0" anchor="t"/>
          <a:lstStyle/>
          <a:p>
            <a:pPr marL="0" indent="0" algn="ctr">
              <a:buNone/>
            </a:pPr>
            <a:r>
              <a:rPr lang="en-US" sz="1600" b="1" dirty="0">
                <a:solidFill>
                  <a:schemeClr val="tx1"/>
                </a:solidFill>
              </a:rPr>
              <a:t>GameManager</a:t>
            </a:r>
            <a:endParaRPr lang="en-US" sz="1600" dirty="0"/>
          </a:p>
        </p:txBody>
      </p:sp>
      <p:sp>
        <p:nvSpPr>
          <p:cNvPr id="30" name="Text 28"/>
          <p:cNvSpPr txBox="1"/>
          <p:nvPr/>
        </p:nvSpPr>
        <p:spPr>
          <a:xfrm>
            <a:off x="3474720" y="2916936"/>
            <a:ext cx="2194560" cy="256032"/>
          </a:xfrm>
          <a:prstGeom prst="rect">
            <a:avLst/>
          </a:prstGeom>
          <a:noFill/>
          <a:ln/>
        </p:spPr>
        <p:txBody>
          <a:bodyPr wrap="square" lIns="0" tIns="0" rIns="0" bIns="0" rtlCol="0" anchor="t"/>
          <a:lstStyle/>
          <a:p>
            <a:pPr marL="0" indent="0" algn="ctr">
              <a:buNone/>
            </a:pPr>
            <a:r>
              <a:rPr lang="en-US" sz="1100" dirty="0">
                <a:solidFill>
                  <a:schemeClr val="tx1"/>
                </a:solidFill>
              </a:rPr>
              <a:t>Game states, timer, difficulty</a:t>
            </a:r>
            <a:endParaRPr lang="en-US" sz="1100" dirty="0"/>
          </a:p>
        </p:txBody>
      </p:sp>
      <p:sp>
        <p:nvSpPr>
          <p:cNvPr id="3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Problems We Solved</a:t>
            </a:r>
            <a:endParaRPr lang="en-US" sz="3400" dirty="0"/>
          </a:p>
        </p:txBody>
      </p:sp>
      <p:sp>
        <p:nvSpPr>
          <p:cNvPr id="3" name="Problem card 1"/>
          <p:cNvSpPr/>
          <p:nvPr/>
        </p:nvSpPr>
        <p:spPr>
          <a:xfrm>
            <a:off x="457200" y="1234440"/>
            <a:ext cx="4023360" cy="1554480"/>
          </a:xfrm>
          <a:prstGeom prst="roundRect">
            <a:avLst>
              <a:gd name="adj" fmla="val 7059"/>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4" name="Problem 1 circle"/>
          <p:cNvSpPr/>
          <p:nvPr/>
        </p:nvSpPr>
        <p:spPr>
          <a:xfrm>
            <a:off x="640080" y="1417320"/>
            <a:ext cx="566928" cy="566928"/>
          </a:xfrm>
          <a:prstGeom prst="ellipse">
            <a:avLst/>
          </a:prstGeom>
          <a:solidFill>
            <a:schemeClr val="accent3"/>
          </a:solidFill>
          <a:ln/>
        </p:spPr>
        <p:txBody>
          <a:bodyPr/>
          <a:lstStyle/>
          <a:p>
            <a:endParaRPr lang="en-IN"/>
          </a:p>
        </p:txBody>
      </p:sp>
      <p:pic>
        <p:nvPicPr>
          <p:cNvPr id="5" name="Image 0" descr="FaPalette icon"/>
          <p:cNvPicPr>
            <a:picLocks noChangeAspect="1"/>
          </p:cNvPicPr>
          <p:nvPr/>
        </p:nvPicPr>
        <p:blipFill>
          <a:blip r:embed="rId3"/>
          <a:stretch>
            <a:fillRect/>
          </a:stretch>
        </p:blipFill>
        <p:spPr>
          <a:xfrm>
            <a:off x="776143" y="1553383"/>
            <a:ext cx="294803" cy="294803"/>
          </a:xfrm>
          <a:prstGeom prst="rect">
            <a:avLst/>
          </a:prstGeom>
        </p:spPr>
      </p:pic>
      <p:sp>
        <p:nvSpPr>
          <p:cNvPr id="6" name="Text 3"/>
          <p:cNvSpPr txBox="1"/>
          <p:nvPr/>
        </p:nvSpPr>
        <p:spPr>
          <a:xfrm>
            <a:off x="1417320" y="1371600"/>
            <a:ext cx="2926080" cy="292608"/>
          </a:xfrm>
          <a:prstGeom prst="rect">
            <a:avLst/>
          </a:prstGeom>
          <a:noFill/>
          <a:ln/>
        </p:spPr>
        <p:txBody>
          <a:bodyPr wrap="square" lIns="0" tIns="0" rIns="0" bIns="0" rtlCol="0" anchor="t"/>
          <a:lstStyle/>
          <a:p>
            <a:pPr marL="0" indent="0">
              <a:buNone/>
            </a:pPr>
            <a:r>
              <a:rPr lang="en-US" sz="1600" b="1" dirty="0">
                <a:solidFill>
                  <a:schemeClr val="tx1"/>
                </a:solidFill>
              </a:rPr>
              <a:t>Pink cubes</a:t>
            </a:r>
            <a:endParaRPr lang="en-US" sz="1600" dirty="0"/>
          </a:p>
        </p:txBody>
      </p:sp>
      <p:sp>
        <p:nvSpPr>
          <p:cNvPr id="7" name="Text 4"/>
          <p:cNvSpPr txBox="1"/>
          <p:nvPr/>
        </p:nvSpPr>
        <p:spPr>
          <a:xfrm>
            <a:off x="1417320" y="1709928"/>
            <a:ext cx="2926080" cy="1005840"/>
          </a:xfrm>
          <a:prstGeom prst="rect">
            <a:avLst/>
          </a:prstGeom>
          <a:noFill/>
          <a:ln/>
        </p:spPr>
        <p:txBody>
          <a:bodyPr wrap="square" lIns="0" tIns="0" rIns="0" bIns="0" rtlCol="0" anchor="t"/>
          <a:lstStyle/>
          <a:p>
            <a:pPr marL="0" indent="0">
              <a:buNone/>
            </a:pPr>
            <a:r>
              <a:rPr lang="en-US" sz="1300" dirty="0">
                <a:solidFill>
                  <a:schemeClr val="tx2"/>
                </a:solidFill>
              </a:rPr>
              <a:t>A runtime material lost its shader in the build. </a:t>
            </a:r>
            <a:r>
              <a:rPr lang="en-US" sz="1300" b="1" dirty="0">
                <a:solidFill>
                  <a:schemeClr val="accent3"/>
                </a:solidFill>
              </a:rPr>
              <a:t>Fix: </a:t>
            </a:r>
            <a:r>
              <a:rPr lang="en-US" sz="1300" dirty="0">
                <a:solidFill>
                  <a:schemeClr val="tx2"/>
                </a:solidFill>
              </a:rPr>
              <a:t>URP Unlit and Lit added to Always Included Shaders.</a:t>
            </a:r>
            <a:endParaRPr lang="en-US" sz="1300" dirty="0"/>
          </a:p>
        </p:txBody>
      </p:sp>
      <p:sp>
        <p:nvSpPr>
          <p:cNvPr id="8" name="Problem card 2"/>
          <p:cNvSpPr/>
          <p:nvPr/>
        </p:nvSpPr>
        <p:spPr>
          <a:xfrm>
            <a:off x="4663440" y="1234440"/>
            <a:ext cx="4023360" cy="1554480"/>
          </a:xfrm>
          <a:prstGeom prst="roundRect">
            <a:avLst>
              <a:gd name="adj" fmla="val 7059"/>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9" name="Problem 2 circle"/>
          <p:cNvSpPr/>
          <p:nvPr/>
        </p:nvSpPr>
        <p:spPr>
          <a:xfrm>
            <a:off x="4846320" y="1417320"/>
            <a:ext cx="566928" cy="566928"/>
          </a:xfrm>
          <a:prstGeom prst="ellipse">
            <a:avLst/>
          </a:prstGeom>
          <a:solidFill>
            <a:schemeClr val="accent3"/>
          </a:solidFill>
          <a:ln/>
        </p:spPr>
        <p:txBody>
          <a:bodyPr/>
          <a:lstStyle/>
          <a:p>
            <a:endParaRPr lang="en-IN"/>
          </a:p>
        </p:txBody>
      </p:sp>
      <p:pic>
        <p:nvPicPr>
          <p:cNvPr id="10" name="Image 1" descr="FaLayerGroup icon"/>
          <p:cNvPicPr>
            <a:picLocks noChangeAspect="1"/>
          </p:cNvPicPr>
          <p:nvPr/>
        </p:nvPicPr>
        <p:blipFill>
          <a:blip r:embed="rId4"/>
          <a:stretch>
            <a:fillRect/>
          </a:stretch>
        </p:blipFill>
        <p:spPr>
          <a:xfrm>
            <a:off x="4982383" y="1553383"/>
            <a:ext cx="294803" cy="294803"/>
          </a:xfrm>
          <a:prstGeom prst="rect">
            <a:avLst/>
          </a:prstGeom>
        </p:spPr>
      </p:pic>
      <p:sp>
        <p:nvSpPr>
          <p:cNvPr id="11" name="Text 7"/>
          <p:cNvSpPr txBox="1"/>
          <p:nvPr/>
        </p:nvSpPr>
        <p:spPr>
          <a:xfrm>
            <a:off x="5623560" y="1371600"/>
            <a:ext cx="2926080" cy="292608"/>
          </a:xfrm>
          <a:prstGeom prst="rect">
            <a:avLst/>
          </a:prstGeom>
          <a:noFill/>
          <a:ln/>
        </p:spPr>
        <p:txBody>
          <a:bodyPr wrap="square" lIns="0" tIns="0" rIns="0" bIns="0" rtlCol="0" anchor="t"/>
          <a:lstStyle/>
          <a:p>
            <a:pPr marL="0" indent="0">
              <a:buNone/>
            </a:pPr>
            <a:r>
              <a:rPr lang="en-US" sz="1600" b="1" dirty="0">
                <a:solidFill>
                  <a:schemeClr val="tx1"/>
                </a:solidFill>
              </a:rPr>
              <a:t>Shots blocked by planes</a:t>
            </a:r>
            <a:endParaRPr lang="en-US" sz="1600" dirty="0"/>
          </a:p>
        </p:txBody>
      </p:sp>
      <p:sp>
        <p:nvSpPr>
          <p:cNvPr id="12" name="Text 8"/>
          <p:cNvSpPr txBox="1"/>
          <p:nvPr/>
        </p:nvSpPr>
        <p:spPr>
          <a:xfrm>
            <a:off x="5623560" y="1709928"/>
            <a:ext cx="2926080" cy="1005840"/>
          </a:xfrm>
          <a:prstGeom prst="rect">
            <a:avLst/>
          </a:prstGeom>
          <a:noFill/>
          <a:ln/>
        </p:spPr>
        <p:txBody>
          <a:bodyPr wrap="square" lIns="0" tIns="0" rIns="0" bIns="0" rtlCol="0" anchor="t"/>
          <a:lstStyle/>
          <a:p>
            <a:pPr marL="0" indent="0">
              <a:buNone/>
            </a:pPr>
            <a:r>
              <a:rPr lang="en-US" sz="1300" dirty="0">
                <a:solidFill>
                  <a:schemeClr val="tx2"/>
                </a:solidFill>
              </a:rPr>
              <a:t>Shots hit the invisible AR floor plane. </a:t>
            </a:r>
            <a:r>
              <a:rPr lang="en-US" sz="1300" b="1" dirty="0">
                <a:solidFill>
                  <a:schemeClr val="accent3"/>
                </a:solidFill>
              </a:rPr>
              <a:t>Fix: </a:t>
            </a:r>
            <a:r>
              <a:rPr lang="en-US" sz="1300" dirty="0">
                <a:solidFill>
                  <a:schemeClr val="tx2"/>
                </a:solidFill>
              </a:rPr>
              <a:t>Layer collision rules so shots ignore planes.</a:t>
            </a:r>
            <a:endParaRPr lang="en-US" sz="1300" dirty="0"/>
          </a:p>
        </p:txBody>
      </p:sp>
      <p:sp>
        <p:nvSpPr>
          <p:cNvPr id="13" name="Problem card 3"/>
          <p:cNvSpPr/>
          <p:nvPr/>
        </p:nvSpPr>
        <p:spPr>
          <a:xfrm>
            <a:off x="457200" y="2926080"/>
            <a:ext cx="4023360" cy="1554480"/>
          </a:xfrm>
          <a:prstGeom prst="roundRect">
            <a:avLst>
              <a:gd name="adj" fmla="val 7059"/>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4" name="Problem 3 circle"/>
          <p:cNvSpPr/>
          <p:nvPr/>
        </p:nvSpPr>
        <p:spPr>
          <a:xfrm>
            <a:off x="640080" y="3108960"/>
            <a:ext cx="566928" cy="566928"/>
          </a:xfrm>
          <a:prstGeom prst="ellipse">
            <a:avLst/>
          </a:prstGeom>
          <a:solidFill>
            <a:schemeClr val="accent3"/>
          </a:solidFill>
          <a:ln/>
        </p:spPr>
        <p:txBody>
          <a:bodyPr/>
          <a:lstStyle/>
          <a:p>
            <a:endParaRPr lang="en-IN"/>
          </a:p>
        </p:txBody>
      </p:sp>
      <p:pic>
        <p:nvPicPr>
          <p:cNvPr id="15" name="Image 2" descr="FaBolt icon"/>
          <p:cNvPicPr>
            <a:picLocks noChangeAspect="1"/>
          </p:cNvPicPr>
          <p:nvPr/>
        </p:nvPicPr>
        <p:blipFill>
          <a:blip r:embed="rId5"/>
          <a:stretch>
            <a:fillRect/>
          </a:stretch>
        </p:blipFill>
        <p:spPr>
          <a:xfrm>
            <a:off x="776143" y="3245023"/>
            <a:ext cx="294803" cy="294803"/>
          </a:xfrm>
          <a:prstGeom prst="rect">
            <a:avLst/>
          </a:prstGeom>
        </p:spPr>
      </p:pic>
      <p:sp>
        <p:nvSpPr>
          <p:cNvPr id="16" name="Text 11"/>
          <p:cNvSpPr txBox="1"/>
          <p:nvPr/>
        </p:nvSpPr>
        <p:spPr>
          <a:xfrm>
            <a:off x="1417320" y="3063240"/>
            <a:ext cx="2926080" cy="292608"/>
          </a:xfrm>
          <a:prstGeom prst="rect">
            <a:avLst/>
          </a:prstGeom>
          <a:noFill/>
          <a:ln/>
        </p:spPr>
        <p:txBody>
          <a:bodyPr wrap="square" lIns="0" tIns="0" rIns="0" bIns="0" rtlCol="0" anchor="t"/>
          <a:lstStyle/>
          <a:p>
            <a:pPr marL="0" indent="0">
              <a:buNone/>
            </a:pPr>
            <a:r>
              <a:rPr lang="en-US" sz="1600" b="1" dirty="0">
                <a:solidFill>
                  <a:schemeClr val="tx1"/>
                </a:solidFill>
              </a:rPr>
              <a:t>Shots skipping targets</a:t>
            </a:r>
            <a:endParaRPr lang="en-US" sz="1600" dirty="0"/>
          </a:p>
        </p:txBody>
      </p:sp>
      <p:sp>
        <p:nvSpPr>
          <p:cNvPr id="17" name="Text 12"/>
          <p:cNvSpPr txBox="1"/>
          <p:nvPr/>
        </p:nvSpPr>
        <p:spPr>
          <a:xfrm>
            <a:off x="1417320" y="3401568"/>
            <a:ext cx="2926080" cy="1005840"/>
          </a:xfrm>
          <a:prstGeom prst="rect">
            <a:avLst/>
          </a:prstGeom>
          <a:noFill/>
          <a:ln/>
        </p:spPr>
        <p:txBody>
          <a:bodyPr wrap="square" lIns="0" tIns="0" rIns="0" bIns="0" rtlCol="0" anchor="t"/>
          <a:lstStyle/>
          <a:p>
            <a:pPr marL="0" indent="0">
              <a:buNone/>
            </a:pPr>
            <a:r>
              <a:rPr lang="en-US" sz="1300" dirty="0">
                <a:solidFill>
                  <a:schemeClr val="tx2"/>
                </a:solidFill>
              </a:rPr>
              <a:t>Fast shots passed through small targets. </a:t>
            </a:r>
            <a:r>
              <a:rPr lang="en-US" sz="1300" b="1" dirty="0">
                <a:solidFill>
                  <a:schemeClr val="accent3"/>
                </a:solidFill>
              </a:rPr>
              <a:t>Fix: </a:t>
            </a:r>
            <a:r>
              <a:rPr lang="en-US" sz="1300" dirty="0">
                <a:solidFill>
                  <a:schemeClr val="tx2"/>
                </a:solidFill>
              </a:rPr>
              <a:t>Continuous collision plus a sphere-cast each frame.</a:t>
            </a:r>
            <a:endParaRPr lang="en-US" sz="1300" dirty="0"/>
          </a:p>
        </p:txBody>
      </p:sp>
      <p:sp>
        <p:nvSpPr>
          <p:cNvPr id="18" name="Problem card 4"/>
          <p:cNvSpPr/>
          <p:nvPr/>
        </p:nvSpPr>
        <p:spPr>
          <a:xfrm>
            <a:off x="4663440" y="2926080"/>
            <a:ext cx="4023360" cy="1554480"/>
          </a:xfrm>
          <a:prstGeom prst="roundRect">
            <a:avLst>
              <a:gd name="adj" fmla="val 7059"/>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9" name="Problem 4 circle"/>
          <p:cNvSpPr/>
          <p:nvPr/>
        </p:nvSpPr>
        <p:spPr>
          <a:xfrm>
            <a:off x="4846320" y="3108960"/>
            <a:ext cx="566928" cy="566928"/>
          </a:xfrm>
          <a:prstGeom prst="ellipse">
            <a:avLst/>
          </a:prstGeom>
          <a:solidFill>
            <a:schemeClr val="accent3"/>
          </a:solidFill>
          <a:ln/>
        </p:spPr>
        <p:txBody>
          <a:bodyPr/>
          <a:lstStyle/>
          <a:p>
            <a:endParaRPr lang="en-IN"/>
          </a:p>
        </p:txBody>
      </p:sp>
      <p:pic>
        <p:nvPicPr>
          <p:cNvPr id="20" name="Image 3" descr="FaPause icon"/>
          <p:cNvPicPr>
            <a:picLocks noChangeAspect="1"/>
          </p:cNvPicPr>
          <p:nvPr/>
        </p:nvPicPr>
        <p:blipFill>
          <a:blip r:embed="rId6"/>
          <a:stretch>
            <a:fillRect/>
          </a:stretch>
        </p:blipFill>
        <p:spPr>
          <a:xfrm>
            <a:off x="4982383" y="3245023"/>
            <a:ext cx="294803" cy="294803"/>
          </a:xfrm>
          <a:prstGeom prst="rect">
            <a:avLst/>
          </a:prstGeom>
        </p:spPr>
      </p:pic>
      <p:sp>
        <p:nvSpPr>
          <p:cNvPr id="21" name="Text 15"/>
          <p:cNvSpPr txBox="1"/>
          <p:nvPr/>
        </p:nvSpPr>
        <p:spPr>
          <a:xfrm>
            <a:off x="5623560" y="3063240"/>
            <a:ext cx="2926080" cy="292608"/>
          </a:xfrm>
          <a:prstGeom prst="rect">
            <a:avLst/>
          </a:prstGeom>
          <a:noFill/>
          <a:ln/>
        </p:spPr>
        <p:txBody>
          <a:bodyPr wrap="square" lIns="0" tIns="0" rIns="0" bIns="0" rtlCol="0" anchor="t"/>
          <a:lstStyle/>
          <a:p>
            <a:pPr marL="0" indent="0">
              <a:buNone/>
            </a:pPr>
            <a:r>
              <a:rPr lang="en-US" sz="1600" b="1" dirty="0">
                <a:solidFill>
                  <a:schemeClr val="tx1"/>
                </a:solidFill>
              </a:rPr>
              <a:t>App paused mid-round</a:t>
            </a:r>
            <a:endParaRPr lang="en-US" sz="1600" dirty="0"/>
          </a:p>
        </p:txBody>
      </p:sp>
      <p:sp>
        <p:nvSpPr>
          <p:cNvPr id="22" name="Text 16"/>
          <p:cNvSpPr txBox="1"/>
          <p:nvPr/>
        </p:nvSpPr>
        <p:spPr>
          <a:xfrm>
            <a:off x="5623560" y="3401568"/>
            <a:ext cx="2926080" cy="1005840"/>
          </a:xfrm>
          <a:prstGeom prst="rect">
            <a:avLst/>
          </a:prstGeom>
          <a:noFill/>
          <a:ln/>
        </p:spPr>
        <p:txBody>
          <a:bodyPr wrap="square" lIns="0" tIns="0" rIns="0" bIns="0" rtlCol="0" anchor="t"/>
          <a:lstStyle/>
          <a:p>
            <a:pPr marL="0" indent="0">
              <a:buNone/>
            </a:pPr>
            <a:r>
              <a:rPr lang="en-US" sz="1300" dirty="0">
                <a:solidFill>
                  <a:schemeClr val="tx2"/>
                </a:solidFill>
              </a:rPr>
              <a:t>AR tracking is lost when the app goes to background. </a:t>
            </a:r>
            <a:r>
              <a:rPr lang="en-US" sz="1300" b="1" dirty="0">
                <a:solidFill>
                  <a:schemeClr val="accent3"/>
                </a:solidFill>
              </a:rPr>
              <a:t>Fix: </a:t>
            </a:r>
            <a:r>
              <a:rPr lang="en-US" sz="1300" dirty="0">
                <a:solidFill>
                  <a:schemeClr val="tx2"/>
                </a:solidFill>
              </a:rPr>
              <a:t>A Paused state that resumes once tracking recovers.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0B1B2B"/>
                </a:solidFill>
              </a:rPr>
              <a:t>Results</a:t>
            </a:r>
            <a:endParaRPr lang="en-US" sz="3400" dirty="0"/>
          </a:p>
        </p:txBody>
      </p:sp>
      <p:sp>
        <p:nvSpPr>
          <p:cNvPr id="3" name="Stat card 1"/>
          <p:cNvSpPr/>
          <p:nvPr/>
        </p:nvSpPr>
        <p:spPr>
          <a:xfrm>
            <a:off x="457200" y="1280160"/>
            <a:ext cx="1965960" cy="1417320"/>
          </a:xfrm>
          <a:prstGeom prst="roundRect">
            <a:avLst>
              <a:gd name="adj" fmla="val 7742"/>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4" name="Text 2"/>
          <p:cNvSpPr txBox="1"/>
          <p:nvPr/>
        </p:nvSpPr>
        <p:spPr>
          <a:xfrm>
            <a:off x="594360" y="1463040"/>
            <a:ext cx="1691640" cy="640080"/>
          </a:xfrm>
          <a:prstGeom prst="rect">
            <a:avLst/>
          </a:prstGeom>
          <a:noFill/>
          <a:ln/>
        </p:spPr>
        <p:txBody>
          <a:bodyPr wrap="square" lIns="0" tIns="0" rIns="0" bIns="0" rtlCol="0" anchor="t"/>
          <a:lstStyle/>
          <a:p>
            <a:pPr marL="0" indent="0">
              <a:buNone/>
            </a:pPr>
            <a:r>
              <a:rPr lang="en-US" sz="4000" b="1" dirty="0">
                <a:solidFill>
                  <a:schemeClr val="tx1"/>
                </a:solidFill>
              </a:rPr>
              <a:t>30</a:t>
            </a:r>
            <a:endParaRPr lang="en-US" sz="4000" dirty="0"/>
          </a:p>
        </p:txBody>
      </p:sp>
      <p:sp>
        <p:nvSpPr>
          <p:cNvPr id="5" name="Text 3"/>
          <p:cNvSpPr txBox="1"/>
          <p:nvPr/>
        </p:nvSpPr>
        <p:spPr>
          <a:xfrm>
            <a:off x="594360" y="2148840"/>
            <a:ext cx="1691640" cy="411480"/>
          </a:xfrm>
          <a:prstGeom prst="rect">
            <a:avLst/>
          </a:prstGeom>
          <a:noFill/>
          <a:ln/>
        </p:spPr>
        <p:txBody>
          <a:bodyPr wrap="square" lIns="0" tIns="0" rIns="0" bIns="0" rtlCol="0" anchor="t"/>
          <a:lstStyle/>
          <a:p>
            <a:pPr marL="0" indent="0">
              <a:buNone/>
            </a:pPr>
            <a:r>
              <a:rPr lang="en-US" sz="1200" dirty="0">
                <a:solidFill>
                  <a:schemeClr val="tx2"/>
                </a:solidFill>
              </a:rPr>
              <a:t>FPS on Galaxy S23 Ultra</a:t>
            </a:r>
            <a:endParaRPr lang="en-US" sz="1200" dirty="0"/>
          </a:p>
        </p:txBody>
      </p:sp>
      <p:sp>
        <p:nvSpPr>
          <p:cNvPr id="6" name="Stat card 2"/>
          <p:cNvSpPr/>
          <p:nvPr/>
        </p:nvSpPr>
        <p:spPr>
          <a:xfrm>
            <a:off x="2606040" y="1280160"/>
            <a:ext cx="1965960" cy="1417320"/>
          </a:xfrm>
          <a:prstGeom prst="roundRect">
            <a:avLst>
              <a:gd name="adj" fmla="val 7742"/>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7" name="Text 5"/>
          <p:cNvSpPr txBox="1"/>
          <p:nvPr/>
        </p:nvSpPr>
        <p:spPr>
          <a:xfrm>
            <a:off x="2743200" y="1463040"/>
            <a:ext cx="1691640" cy="640080"/>
          </a:xfrm>
          <a:prstGeom prst="rect">
            <a:avLst/>
          </a:prstGeom>
          <a:noFill/>
          <a:ln/>
        </p:spPr>
        <p:txBody>
          <a:bodyPr wrap="square" lIns="0" tIns="0" rIns="0" bIns="0" rtlCol="0" anchor="t"/>
          <a:lstStyle/>
          <a:p>
            <a:pPr marL="0" indent="0">
              <a:buNone/>
            </a:pPr>
            <a:r>
              <a:rPr lang="en-US" sz="4000" b="1" dirty="0">
                <a:solidFill>
                  <a:schemeClr val="tx1"/>
                </a:solidFill>
              </a:rPr>
              <a:t>60 s</a:t>
            </a:r>
            <a:endParaRPr lang="en-US" sz="4000" dirty="0"/>
          </a:p>
        </p:txBody>
      </p:sp>
      <p:sp>
        <p:nvSpPr>
          <p:cNvPr id="8" name="Text 6"/>
          <p:cNvSpPr txBox="1"/>
          <p:nvPr/>
        </p:nvSpPr>
        <p:spPr>
          <a:xfrm>
            <a:off x="2743200" y="2148840"/>
            <a:ext cx="1691640" cy="411480"/>
          </a:xfrm>
          <a:prstGeom prst="rect">
            <a:avLst/>
          </a:prstGeom>
          <a:noFill/>
          <a:ln/>
        </p:spPr>
        <p:txBody>
          <a:bodyPr wrap="square" lIns="0" tIns="0" rIns="0" bIns="0" rtlCol="0" anchor="t"/>
          <a:lstStyle/>
          <a:p>
            <a:pPr marL="0" indent="0">
              <a:buNone/>
            </a:pPr>
            <a:r>
              <a:rPr lang="en-US" sz="1200" dirty="0">
                <a:solidFill>
                  <a:schemeClr val="tx2"/>
                </a:solidFill>
              </a:rPr>
              <a:t>per round</a:t>
            </a:r>
            <a:endParaRPr lang="en-US" sz="1200" dirty="0"/>
          </a:p>
        </p:txBody>
      </p:sp>
      <p:sp>
        <p:nvSpPr>
          <p:cNvPr id="9" name="Stat card 3"/>
          <p:cNvSpPr/>
          <p:nvPr/>
        </p:nvSpPr>
        <p:spPr>
          <a:xfrm>
            <a:off x="457200" y="2880360"/>
            <a:ext cx="1965960" cy="1417320"/>
          </a:xfrm>
          <a:prstGeom prst="roundRect">
            <a:avLst>
              <a:gd name="adj" fmla="val 7742"/>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0" name="Text 8"/>
          <p:cNvSpPr txBox="1"/>
          <p:nvPr/>
        </p:nvSpPr>
        <p:spPr>
          <a:xfrm>
            <a:off x="594360" y="3063240"/>
            <a:ext cx="1691640" cy="640080"/>
          </a:xfrm>
          <a:prstGeom prst="rect">
            <a:avLst/>
          </a:prstGeom>
          <a:noFill/>
          <a:ln/>
        </p:spPr>
        <p:txBody>
          <a:bodyPr wrap="square" lIns="0" tIns="0" rIns="0" bIns="0" rtlCol="0" anchor="t"/>
          <a:lstStyle/>
          <a:p>
            <a:pPr marL="0" indent="0">
              <a:buNone/>
            </a:pPr>
            <a:r>
              <a:rPr lang="en-US" sz="4000" b="1" dirty="0">
                <a:solidFill>
                  <a:schemeClr val="tx1"/>
                </a:solidFill>
              </a:rPr>
              <a:t>205</a:t>
            </a:r>
            <a:endParaRPr lang="en-US" sz="4000" dirty="0"/>
          </a:p>
        </p:txBody>
      </p:sp>
      <p:sp>
        <p:nvSpPr>
          <p:cNvPr id="11" name="Text 9"/>
          <p:cNvSpPr txBox="1"/>
          <p:nvPr/>
        </p:nvSpPr>
        <p:spPr>
          <a:xfrm>
            <a:off x="594360" y="3749040"/>
            <a:ext cx="1691640" cy="411480"/>
          </a:xfrm>
          <a:prstGeom prst="rect">
            <a:avLst/>
          </a:prstGeom>
          <a:noFill/>
          <a:ln/>
        </p:spPr>
        <p:txBody>
          <a:bodyPr wrap="square" lIns="0" tIns="0" rIns="0" bIns="0" rtlCol="0" anchor="t"/>
          <a:lstStyle/>
          <a:p>
            <a:pPr marL="0" indent="0">
              <a:buNone/>
            </a:pPr>
            <a:r>
              <a:rPr lang="en-US" sz="1200" dirty="0">
                <a:solidFill>
                  <a:schemeClr val="tx2"/>
                </a:solidFill>
              </a:rPr>
              <a:t>best score in testing</a:t>
            </a:r>
            <a:endParaRPr lang="en-US" sz="1200" dirty="0"/>
          </a:p>
        </p:txBody>
      </p:sp>
      <p:sp>
        <p:nvSpPr>
          <p:cNvPr id="12" name="Stat card 4"/>
          <p:cNvSpPr/>
          <p:nvPr/>
        </p:nvSpPr>
        <p:spPr>
          <a:xfrm>
            <a:off x="2606040" y="2880360"/>
            <a:ext cx="1965960" cy="1417320"/>
          </a:xfrm>
          <a:prstGeom prst="roundRect">
            <a:avLst>
              <a:gd name="adj" fmla="val 7742"/>
            </a:avLst>
          </a:prstGeom>
          <a:solidFill>
            <a:schemeClr val="bg2"/>
          </a:solidFill>
          <a:ln/>
          <a:effectLst>
            <a:outerShdw blurRad="76200" dist="25400" dir="5400000" algn="bl" rotWithShape="0">
              <a:srgbClr val="000000">
                <a:alpha val="14000"/>
              </a:srgbClr>
            </a:outerShdw>
          </a:effectLst>
        </p:spPr>
        <p:txBody>
          <a:bodyPr/>
          <a:lstStyle/>
          <a:p>
            <a:endParaRPr lang="en-IN"/>
          </a:p>
        </p:txBody>
      </p:sp>
      <p:sp>
        <p:nvSpPr>
          <p:cNvPr id="13" name="Text 11"/>
          <p:cNvSpPr txBox="1"/>
          <p:nvPr/>
        </p:nvSpPr>
        <p:spPr>
          <a:xfrm>
            <a:off x="2743200" y="3063240"/>
            <a:ext cx="1691640" cy="640080"/>
          </a:xfrm>
          <a:prstGeom prst="rect">
            <a:avLst/>
          </a:prstGeom>
          <a:noFill/>
          <a:ln/>
        </p:spPr>
        <p:txBody>
          <a:bodyPr wrap="square" lIns="0" tIns="0" rIns="0" bIns="0" rtlCol="0" anchor="t"/>
          <a:lstStyle/>
          <a:p>
            <a:pPr marL="0" indent="0">
              <a:buNone/>
            </a:pPr>
            <a:r>
              <a:rPr lang="en-US" sz="4000" b="1" dirty="0">
                <a:solidFill>
                  <a:schemeClr val="tx1"/>
                </a:solidFill>
              </a:rPr>
              <a:t>80%</a:t>
            </a:r>
            <a:endParaRPr lang="en-US" sz="4000" dirty="0"/>
          </a:p>
        </p:txBody>
      </p:sp>
      <p:sp>
        <p:nvSpPr>
          <p:cNvPr id="14" name="Text 12"/>
          <p:cNvSpPr txBox="1"/>
          <p:nvPr/>
        </p:nvSpPr>
        <p:spPr>
          <a:xfrm>
            <a:off x="2743200" y="3749040"/>
            <a:ext cx="1691640" cy="411480"/>
          </a:xfrm>
          <a:prstGeom prst="rect">
            <a:avLst/>
          </a:prstGeom>
          <a:noFill/>
          <a:ln/>
        </p:spPr>
        <p:txBody>
          <a:bodyPr wrap="square" lIns="0" tIns="0" rIns="0" bIns="0" rtlCol="0" anchor="t"/>
          <a:lstStyle/>
          <a:p>
            <a:pPr marL="0" indent="0">
              <a:buNone/>
            </a:pPr>
            <a:r>
              <a:rPr lang="en-US" sz="1200" dirty="0">
                <a:solidFill>
                  <a:schemeClr val="tx2"/>
                </a:solidFill>
              </a:rPr>
              <a:t>accuracy in that round</a:t>
            </a:r>
            <a:endParaRPr lang="en-US" sz="1200" dirty="0"/>
          </a:p>
        </p:txBody>
      </p:sp>
      <p:graphicFrame>
        <p:nvGraphicFramePr>
          <p:cNvPr id="15" name="Chart 0"/>
          <p:cNvGraphicFramePr/>
          <p:nvPr/>
        </p:nvGraphicFramePr>
        <p:xfrm>
          <a:off x="4846320" y="1234440"/>
          <a:ext cx="38404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txBox="1"/>
          <p:nvPr/>
        </p:nvSpPr>
        <p:spPr>
          <a:xfrm>
            <a:off x="4846320" y="4389120"/>
            <a:ext cx="3840480" cy="274320"/>
          </a:xfrm>
          <a:prstGeom prst="rect">
            <a:avLst/>
          </a:prstGeom>
          <a:noFill/>
          <a:ln/>
        </p:spPr>
        <p:txBody>
          <a:bodyPr wrap="square" lIns="0" tIns="0" rIns="0" bIns="0" rtlCol="0" anchor="t"/>
          <a:lstStyle/>
          <a:p>
            <a:pPr marL="0" indent="0">
              <a:buNone/>
            </a:pPr>
            <a:r>
              <a:rPr lang="en-US" sz="1200" i="1" dirty="0">
                <a:solidFill>
                  <a:schemeClr val="accent5"/>
                </a:solidFill>
              </a:rPr>
              <a:t>Hard mode: more targets that disappear sooner.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8A"/>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FFFF"/>
                </a:solidFill>
              </a:rPr>
              <a:t>Summary and Next Steps</a:t>
            </a:r>
            <a:endParaRPr lang="en-US" sz="3400" dirty="0"/>
          </a:p>
        </p:txBody>
      </p:sp>
      <p:sp>
        <p:nvSpPr>
          <p:cNvPr id="3" name="Delivered card"/>
          <p:cNvSpPr/>
          <p:nvPr/>
        </p:nvSpPr>
        <p:spPr>
          <a:xfrm>
            <a:off x="457200" y="1280160"/>
            <a:ext cx="4023360" cy="2743200"/>
          </a:xfrm>
          <a:prstGeom prst="roundRect">
            <a:avLst>
              <a:gd name="adj" fmla="val 4000"/>
            </a:avLst>
          </a:prstGeom>
          <a:solidFill>
            <a:schemeClr val="tx2"/>
          </a:solidFill>
          <a:ln/>
        </p:spPr>
        <p:txBody>
          <a:bodyPr/>
          <a:lstStyle/>
          <a:p>
            <a:endParaRPr lang="en-IN"/>
          </a:p>
        </p:txBody>
      </p:sp>
      <p:sp>
        <p:nvSpPr>
          <p:cNvPr id="4" name="Text 2"/>
          <p:cNvSpPr txBox="1"/>
          <p:nvPr/>
        </p:nvSpPr>
        <p:spPr>
          <a:xfrm>
            <a:off x="685800" y="1417320"/>
            <a:ext cx="3657600" cy="320040"/>
          </a:xfrm>
          <a:prstGeom prst="rect">
            <a:avLst/>
          </a:prstGeom>
          <a:noFill/>
          <a:ln/>
        </p:spPr>
        <p:txBody>
          <a:bodyPr wrap="square" lIns="0" tIns="0" rIns="0" bIns="0" rtlCol="0" anchor="t"/>
          <a:lstStyle/>
          <a:p>
            <a:pPr marL="0" indent="0">
              <a:buNone/>
            </a:pPr>
            <a:r>
              <a:rPr lang="en-US" sz="1800" b="1" dirty="0">
                <a:solidFill>
                  <a:srgbClr val="FFC83D"/>
                </a:solidFill>
              </a:rPr>
              <a:t>What we delivered</a:t>
            </a:r>
            <a:endParaRPr lang="en-US" sz="1800" dirty="0"/>
          </a:p>
        </p:txBody>
      </p:sp>
      <p:pic>
        <p:nvPicPr>
          <p:cNvPr id="5" name="Image 0" descr="check"/>
          <p:cNvPicPr>
            <a:picLocks noChangeAspect="1"/>
          </p:cNvPicPr>
          <p:nvPr/>
        </p:nvPicPr>
        <p:blipFill>
          <a:blip r:embed="rId3"/>
          <a:stretch>
            <a:fillRect/>
          </a:stretch>
        </p:blipFill>
        <p:spPr>
          <a:xfrm>
            <a:off x="685800" y="1901952"/>
            <a:ext cx="228600" cy="228600"/>
          </a:xfrm>
          <a:prstGeom prst="rect">
            <a:avLst/>
          </a:prstGeom>
        </p:spPr>
      </p:pic>
      <p:sp>
        <p:nvSpPr>
          <p:cNvPr id="6" name="Text 3"/>
          <p:cNvSpPr txBox="1"/>
          <p:nvPr/>
        </p:nvSpPr>
        <p:spPr>
          <a:xfrm>
            <a:off x="1051560" y="1874520"/>
            <a:ext cx="3291840" cy="320040"/>
          </a:xfrm>
          <a:prstGeom prst="rect">
            <a:avLst/>
          </a:prstGeom>
          <a:noFill/>
          <a:ln/>
        </p:spPr>
        <p:txBody>
          <a:bodyPr wrap="square" lIns="0" tIns="0" rIns="0" bIns="0" rtlCol="0" anchor="ctr"/>
          <a:lstStyle/>
          <a:p>
            <a:pPr marL="0" indent="0">
              <a:buNone/>
            </a:pPr>
            <a:r>
              <a:rPr lang="en-US" sz="1400" dirty="0">
                <a:solidFill>
                  <a:srgbClr val="FFFFFF"/>
                </a:solidFill>
              </a:rPr>
              <a:t>Plane detection and a raycast reticle</a:t>
            </a:r>
            <a:endParaRPr lang="en-US" sz="1400" dirty="0"/>
          </a:p>
        </p:txBody>
      </p:sp>
      <p:pic>
        <p:nvPicPr>
          <p:cNvPr id="7" name="Image 1" descr="check"/>
          <p:cNvPicPr>
            <a:picLocks noChangeAspect="1"/>
          </p:cNvPicPr>
          <p:nvPr/>
        </p:nvPicPr>
        <p:blipFill>
          <a:blip r:embed="rId3"/>
          <a:stretch>
            <a:fillRect/>
          </a:stretch>
        </p:blipFill>
        <p:spPr>
          <a:xfrm>
            <a:off x="685800" y="2322576"/>
            <a:ext cx="228600" cy="228600"/>
          </a:xfrm>
          <a:prstGeom prst="rect">
            <a:avLst/>
          </a:prstGeom>
        </p:spPr>
      </p:pic>
      <p:sp>
        <p:nvSpPr>
          <p:cNvPr id="8" name="Text 4"/>
          <p:cNvSpPr txBox="1"/>
          <p:nvPr/>
        </p:nvSpPr>
        <p:spPr>
          <a:xfrm>
            <a:off x="1051560" y="2295144"/>
            <a:ext cx="3291840" cy="320040"/>
          </a:xfrm>
          <a:prstGeom prst="rect">
            <a:avLst/>
          </a:prstGeom>
          <a:noFill/>
          <a:ln/>
        </p:spPr>
        <p:txBody>
          <a:bodyPr wrap="square" lIns="0" tIns="0" rIns="0" bIns="0" rtlCol="0" anchor="ctr"/>
          <a:lstStyle/>
          <a:p>
            <a:pPr marL="0" indent="0">
              <a:buNone/>
            </a:pPr>
            <a:r>
              <a:rPr lang="en-US" sz="1400" dirty="0">
                <a:solidFill>
                  <a:srgbClr val="FFFFFF"/>
                </a:solidFill>
              </a:rPr>
              <a:t>Floating, respawning targets</a:t>
            </a:r>
            <a:endParaRPr lang="en-US" sz="1400" dirty="0"/>
          </a:p>
        </p:txBody>
      </p:sp>
      <p:pic>
        <p:nvPicPr>
          <p:cNvPr id="9" name="Image 2" descr="check"/>
          <p:cNvPicPr>
            <a:picLocks noChangeAspect="1"/>
          </p:cNvPicPr>
          <p:nvPr/>
        </p:nvPicPr>
        <p:blipFill>
          <a:blip r:embed="rId3"/>
          <a:stretch>
            <a:fillRect/>
          </a:stretch>
        </p:blipFill>
        <p:spPr>
          <a:xfrm>
            <a:off x="685800" y="2743200"/>
            <a:ext cx="228600" cy="228600"/>
          </a:xfrm>
          <a:prstGeom prst="rect">
            <a:avLst/>
          </a:prstGeom>
        </p:spPr>
      </p:pic>
      <p:sp>
        <p:nvSpPr>
          <p:cNvPr id="10" name="Text 5"/>
          <p:cNvSpPr txBox="1"/>
          <p:nvPr/>
        </p:nvSpPr>
        <p:spPr>
          <a:xfrm>
            <a:off x="1051560" y="2715768"/>
            <a:ext cx="3291840" cy="320040"/>
          </a:xfrm>
          <a:prstGeom prst="rect">
            <a:avLst/>
          </a:prstGeom>
          <a:noFill/>
          <a:ln/>
        </p:spPr>
        <p:txBody>
          <a:bodyPr wrap="square" lIns="0" tIns="0" rIns="0" bIns="0" rtlCol="0" anchor="ctr"/>
          <a:lstStyle/>
          <a:p>
            <a:pPr marL="0" indent="0">
              <a:buNone/>
            </a:pPr>
            <a:r>
              <a:rPr lang="en-US" sz="1400" dirty="0">
                <a:solidFill>
                  <a:srgbClr val="FFFFFF"/>
                </a:solidFill>
              </a:rPr>
              <a:t>Tap to shoot with projectile physics</a:t>
            </a:r>
            <a:endParaRPr lang="en-US" sz="1400" dirty="0"/>
          </a:p>
        </p:txBody>
      </p:sp>
      <p:pic>
        <p:nvPicPr>
          <p:cNvPr id="11" name="Image 3" descr="check"/>
          <p:cNvPicPr>
            <a:picLocks noChangeAspect="1"/>
          </p:cNvPicPr>
          <p:nvPr/>
        </p:nvPicPr>
        <p:blipFill>
          <a:blip r:embed="rId3"/>
          <a:stretch>
            <a:fillRect/>
          </a:stretch>
        </p:blipFill>
        <p:spPr>
          <a:xfrm>
            <a:off x="685800" y="3163824"/>
            <a:ext cx="228600" cy="228600"/>
          </a:xfrm>
          <a:prstGeom prst="rect">
            <a:avLst/>
          </a:prstGeom>
        </p:spPr>
      </p:pic>
      <p:sp>
        <p:nvSpPr>
          <p:cNvPr id="12" name="Text 6"/>
          <p:cNvSpPr txBox="1"/>
          <p:nvPr/>
        </p:nvSpPr>
        <p:spPr>
          <a:xfrm>
            <a:off x="1051560" y="3136392"/>
            <a:ext cx="3291840" cy="320040"/>
          </a:xfrm>
          <a:prstGeom prst="rect">
            <a:avLst/>
          </a:prstGeom>
          <a:noFill/>
          <a:ln/>
        </p:spPr>
        <p:txBody>
          <a:bodyPr wrap="square" lIns="0" tIns="0" rIns="0" bIns="0" rtlCol="0" anchor="ctr"/>
          <a:lstStyle/>
          <a:p>
            <a:pPr marL="0" indent="0">
              <a:buNone/>
            </a:pPr>
            <a:r>
              <a:rPr lang="en-US" sz="1400" dirty="0">
                <a:solidFill>
                  <a:srgbClr val="FFFFFF"/>
                </a:solidFill>
              </a:rPr>
              <a:t>Hits, score, effects and sound</a:t>
            </a:r>
            <a:endParaRPr lang="en-US" sz="1400" dirty="0"/>
          </a:p>
        </p:txBody>
      </p:sp>
      <p:pic>
        <p:nvPicPr>
          <p:cNvPr id="13" name="Image 4" descr="check"/>
          <p:cNvPicPr>
            <a:picLocks noChangeAspect="1"/>
          </p:cNvPicPr>
          <p:nvPr/>
        </p:nvPicPr>
        <p:blipFill>
          <a:blip r:embed="rId3"/>
          <a:stretch>
            <a:fillRect/>
          </a:stretch>
        </p:blipFill>
        <p:spPr>
          <a:xfrm>
            <a:off x="685800" y="3584448"/>
            <a:ext cx="228600" cy="228600"/>
          </a:xfrm>
          <a:prstGeom prst="rect">
            <a:avLst/>
          </a:prstGeom>
        </p:spPr>
      </p:pic>
      <p:sp>
        <p:nvSpPr>
          <p:cNvPr id="14" name="Text 7"/>
          <p:cNvSpPr txBox="1"/>
          <p:nvPr/>
        </p:nvSpPr>
        <p:spPr>
          <a:xfrm>
            <a:off x="1051560" y="3557016"/>
            <a:ext cx="3291840" cy="320040"/>
          </a:xfrm>
          <a:prstGeom prst="rect">
            <a:avLst/>
          </a:prstGeom>
          <a:noFill/>
          <a:ln/>
        </p:spPr>
        <p:txBody>
          <a:bodyPr wrap="square" lIns="0" tIns="0" rIns="0" bIns="0" rtlCol="0" anchor="ctr"/>
          <a:lstStyle/>
          <a:p>
            <a:pPr marL="0" indent="0">
              <a:buNone/>
            </a:pPr>
            <a:r>
              <a:rPr lang="en-US" sz="1400" dirty="0">
                <a:solidFill>
                  <a:srgbClr val="FFFFFF"/>
                </a:solidFill>
              </a:rPr>
              <a:t>Menu, timer, difficulty, pause and resume</a:t>
            </a:r>
            <a:endParaRPr lang="en-US" sz="1400" dirty="0"/>
          </a:p>
        </p:txBody>
      </p:sp>
      <p:sp>
        <p:nvSpPr>
          <p:cNvPr id="15" name="Next card"/>
          <p:cNvSpPr/>
          <p:nvPr/>
        </p:nvSpPr>
        <p:spPr>
          <a:xfrm>
            <a:off x="4663440" y="1280160"/>
            <a:ext cx="4023360" cy="2743200"/>
          </a:xfrm>
          <a:prstGeom prst="roundRect">
            <a:avLst>
              <a:gd name="adj" fmla="val 4000"/>
            </a:avLst>
          </a:prstGeom>
          <a:solidFill>
            <a:schemeClr val="tx2"/>
          </a:solidFill>
          <a:ln/>
        </p:spPr>
        <p:txBody>
          <a:bodyPr/>
          <a:lstStyle/>
          <a:p>
            <a:endParaRPr lang="en-IN"/>
          </a:p>
        </p:txBody>
      </p:sp>
      <p:sp>
        <p:nvSpPr>
          <p:cNvPr id="16" name="Text 9"/>
          <p:cNvSpPr txBox="1"/>
          <p:nvPr/>
        </p:nvSpPr>
        <p:spPr>
          <a:xfrm>
            <a:off x="4892040" y="1417320"/>
            <a:ext cx="3657600" cy="320040"/>
          </a:xfrm>
          <a:prstGeom prst="rect">
            <a:avLst/>
          </a:prstGeom>
          <a:noFill/>
          <a:ln/>
        </p:spPr>
        <p:txBody>
          <a:bodyPr wrap="square" lIns="0" tIns="0" rIns="0" bIns="0" rtlCol="0" anchor="t"/>
          <a:lstStyle/>
          <a:p>
            <a:pPr marL="0" indent="0">
              <a:buNone/>
            </a:pPr>
            <a:r>
              <a:rPr lang="en-US" sz="1800" b="1" dirty="0">
                <a:solidFill>
                  <a:srgbClr val="FFC83D"/>
                </a:solidFill>
              </a:rPr>
              <a:t>Next ideas</a:t>
            </a:r>
            <a:endParaRPr lang="en-US" sz="1800" dirty="0"/>
          </a:p>
        </p:txBody>
      </p:sp>
      <p:pic>
        <p:nvPicPr>
          <p:cNvPr id="17" name="Image 5" descr="star"/>
          <p:cNvPicPr>
            <a:picLocks noChangeAspect="1"/>
          </p:cNvPicPr>
          <p:nvPr/>
        </p:nvPicPr>
        <p:blipFill>
          <a:blip r:embed="rId4"/>
          <a:stretch>
            <a:fillRect/>
          </a:stretch>
        </p:blipFill>
        <p:spPr>
          <a:xfrm>
            <a:off x="4892040" y="1901952"/>
            <a:ext cx="228600" cy="228600"/>
          </a:xfrm>
          <a:prstGeom prst="rect">
            <a:avLst/>
          </a:prstGeom>
        </p:spPr>
      </p:pic>
      <p:sp>
        <p:nvSpPr>
          <p:cNvPr id="18" name="Text 10"/>
          <p:cNvSpPr txBox="1"/>
          <p:nvPr/>
        </p:nvSpPr>
        <p:spPr>
          <a:xfrm>
            <a:off x="5257800" y="1874520"/>
            <a:ext cx="3291840" cy="320040"/>
          </a:xfrm>
          <a:prstGeom prst="rect">
            <a:avLst/>
          </a:prstGeom>
          <a:noFill/>
          <a:ln/>
        </p:spPr>
        <p:txBody>
          <a:bodyPr wrap="square" lIns="0" tIns="0" rIns="0" bIns="0" rtlCol="0" anchor="ctr"/>
          <a:lstStyle/>
          <a:p>
            <a:pPr marL="0" indent="0">
              <a:buNone/>
            </a:pPr>
            <a:r>
              <a:rPr lang="en-US" sz="1400" dirty="0">
                <a:solidFill>
                  <a:srgbClr val="FFFFFF"/>
                </a:solidFill>
              </a:rPr>
              <a:t>Trajectory preview while aiming</a:t>
            </a:r>
            <a:endParaRPr lang="en-US" sz="1400" dirty="0"/>
          </a:p>
        </p:txBody>
      </p:sp>
      <p:pic>
        <p:nvPicPr>
          <p:cNvPr id="19" name="Image 6" descr="star"/>
          <p:cNvPicPr>
            <a:picLocks noChangeAspect="1"/>
          </p:cNvPicPr>
          <p:nvPr/>
        </p:nvPicPr>
        <p:blipFill>
          <a:blip r:embed="rId4"/>
          <a:stretch>
            <a:fillRect/>
          </a:stretch>
        </p:blipFill>
        <p:spPr>
          <a:xfrm>
            <a:off x="4892040" y="2322576"/>
            <a:ext cx="228600" cy="228600"/>
          </a:xfrm>
          <a:prstGeom prst="rect">
            <a:avLst/>
          </a:prstGeom>
        </p:spPr>
      </p:pic>
      <p:sp>
        <p:nvSpPr>
          <p:cNvPr id="20" name="Text 11"/>
          <p:cNvSpPr txBox="1"/>
          <p:nvPr/>
        </p:nvSpPr>
        <p:spPr>
          <a:xfrm>
            <a:off x="5257800" y="2295144"/>
            <a:ext cx="3291840" cy="320040"/>
          </a:xfrm>
          <a:prstGeom prst="rect">
            <a:avLst/>
          </a:prstGeom>
          <a:noFill/>
          <a:ln/>
        </p:spPr>
        <p:txBody>
          <a:bodyPr wrap="square" lIns="0" tIns="0" rIns="0" bIns="0" rtlCol="0" anchor="ctr"/>
          <a:lstStyle/>
          <a:p>
            <a:pPr marL="0" indent="0">
              <a:buNone/>
            </a:pPr>
            <a:r>
              <a:rPr lang="en-US" sz="1400" dirty="0">
                <a:solidFill>
                  <a:srgbClr val="FFFFFF"/>
                </a:solidFill>
              </a:rPr>
              <a:t>Moving and bonus targets</a:t>
            </a:r>
            <a:endParaRPr lang="en-US" sz="1400" dirty="0"/>
          </a:p>
        </p:txBody>
      </p:sp>
      <p:pic>
        <p:nvPicPr>
          <p:cNvPr id="21" name="Image 7" descr="star"/>
          <p:cNvPicPr>
            <a:picLocks noChangeAspect="1"/>
          </p:cNvPicPr>
          <p:nvPr/>
        </p:nvPicPr>
        <p:blipFill>
          <a:blip r:embed="rId4"/>
          <a:stretch>
            <a:fillRect/>
          </a:stretch>
        </p:blipFill>
        <p:spPr>
          <a:xfrm>
            <a:off x="4892040" y="2743200"/>
            <a:ext cx="228600" cy="228600"/>
          </a:xfrm>
          <a:prstGeom prst="rect">
            <a:avLst/>
          </a:prstGeom>
        </p:spPr>
      </p:pic>
      <p:sp>
        <p:nvSpPr>
          <p:cNvPr id="22" name="Text 12"/>
          <p:cNvSpPr txBox="1"/>
          <p:nvPr/>
        </p:nvSpPr>
        <p:spPr>
          <a:xfrm>
            <a:off x="5257800" y="2715768"/>
            <a:ext cx="3291840" cy="320040"/>
          </a:xfrm>
          <a:prstGeom prst="rect">
            <a:avLst/>
          </a:prstGeom>
          <a:noFill/>
          <a:ln/>
        </p:spPr>
        <p:txBody>
          <a:bodyPr wrap="square" lIns="0" tIns="0" rIns="0" bIns="0" rtlCol="0" anchor="ctr"/>
          <a:lstStyle/>
          <a:p>
            <a:pPr marL="0" indent="0">
              <a:buNone/>
            </a:pPr>
            <a:r>
              <a:rPr lang="en-US" sz="1400" dirty="0">
                <a:solidFill>
                  <a:srgbClr val="FFFFFF"/>
                </a:solidFill>
              </a:rPr>
              <a:t>Online leaderboard</a:t>
            </a:r>
            <a:endParaRPr lang="en-US" sz="1400" dirty="0"/>
          </a:p>
        </p:txBody>
      </p:sp>
      <p:pic>
        <p:nvPicPr>
          <p:cNvPr id="23" name="Image 8" descr="star"/>
          <p:cNvPicPr>
            <a:picLocks noChangeAspect="1"/>
          </p:cNvPicPr>
          <p:nvPr/>
        </p:nvPicPr>
        <p:blipFill>
          <a:blip r:embed="rId4"/>
          <a:stretch>
            <a:fillRect/>
          </a:stretch>
        </p:blipFill>
        <p:spPr>
          <a:xfrm>
            <a:off x="4892040" y="3163824"/>
            <a:ext cx="228600" cy="228600"/>
          </a:xfrm>
          <a:prstGeom prst="rect">
            <a:avLst/>
          </a:prstGeom>
        </p:spPr>
      </p:pic>
      <p:sp>
        <p:nvSpPr>
          <p:cNvPr id="24" name="Text 13"/>
          <p:cNvSpPr txBox="1"/>
          <p:nvPr/>
        </p:nvSpPr>
        <p:spPr>
          <a:xfrm>
            <a:off x="5257800" y="3136392"/>
            <a:ext cx="3291840" cy="320040"/>
          </a:xfrm>
          <a:prstGeom prst="rect">
            <a:avLst/>
          </a:prstGeom>
          <a:noFill/>
          <a:ln/>
        </p:spPr>
        <p:txBody>
          <a:bodyPr wrap="square" lIns="0" tIns="0" rIns="0" bIns="0" rtlCol="0" anchor="ctr"/>
          <a:lstStyle/>
          <a:p>
            <a:pPr marL="0" indent="0">
              <a:buNone/>
            </a:pPr>
            <a:r>
              <a:rPr lang="en-US" sz="1400" dirty="0">
                <a:solidFill>
                  <a:srgbClr val="FFFFFF"/>
                </a:solidFill>
              </a:rPr>
              <a:t>Play Store build with own icon and key</a:t>
            </a:r>
            <a:endParaRPr lang="en-US" sz="1400" dirty="0"/>
          </a:p>
        </p:txBody>
      </p:sp>
      <p:sp>
        <p:nvSpPr>
          <p:cNvPr id="25" name="Text 14"/>
          <p:cNvSpPr txBox="1"/>
          <p:nvPr/>
        </p:nvSpPr>
        <p:spPr>
          <a:xfrm>
            <a:off x="457200" y="4160520"/>
            <a:ext cx="8229600" cy="457200"/>
          </a:xfrm>
          <a:prstGeom prst="rect">
            <a:avLst/>
          </a:prstGeom>
          <a:noFill/>
          <a:ln/>
        </p:spPr>
        <p:txBody>
          <a:bodyPr wrap="square" lIns="0" tIns="0" rIns="0" bIns="0" rtlCol="0" anchor="t"/>
          <a:lstStyle/>
          <a:p>
            <a:pPr marL="0" indent="0" algn="ctr">
              <a:buNone/>
            </a:pPr>
            <a:r>
              <a:rPr lang="en-US" sz="2600" b="1" dirty="0">
                <a:solidFill>
                  <a:srgbClr val="FFFFFF"/>
                </a:solidFill>
              </a:rPr>
              <a:t>Thank you  |  Questions?</a:t>
            </a:r>
            <a:endParaRPr lang="en-US" sz="26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l"/>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AR Target Shooter">
  <a:themeElements>
    <a:clrScheme name="AR Target Shooter">
      <a:dk1>
        <a:srgbClr val="0B1B2B"/>
      </a:dk1>
      <a:lt1>
        <a:srgbClr val="FFFFFF"/>
      </a:lt1>
      <a:dk2>
        <a:srgbClr val="12304A"/>
      </a:dk2>
      <a:lt2>
        <a:srgbClr val="EAF4F8"/>
      </a:lt2>
      <a:accent1>
        <a:srgbClr val="00B8D9"/>
      </a:accent1>
      <a:accent2>
        <a:srgbClr val="FF9F1C"/>
      </a:accent2>
      <a:accent3>
        <a:srgbClr val="D9232D"/>
      </a:accent3>
      <a:accent4>
        <a:srgbClr val="2EC4B6"/>
      </a:accent4>
      <a:accent5>
        <a:srgbClr val="5C6B8A"/>
      </a:accent5>
      <a:accent6>
        <a:srgbClr val="FFC83D"/>
      </a:accent6>
      <a:hlink>
        <a:srgbClr val="00B8D9"/>
      </a:hlink>
      <a:folHlink>
        <a:srgbClr val="5C6B8A"/>
      </a:folHlink>
    </a:clrScheme>
    <a:fontScheme name="AR Target Shoo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1472</Words>
  <Application>Microsoft Office PowerPoint</Application>
  <PresentationFormat>On-screen Show (16:9)</PresentationFormat>
  <Paragraphs>232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AR Target Shooter</vt:lpstr>
      <vt:lpstr>AR Target Shooter</vt:lpstr>
      <vt:lpstr>The Idea</vt:lpstr>
      <vt:lpstr>What It Demonstrates</vt:lpstr>
      <vt:lpstr>Tools and Technology</vt:lpstr>
      <vt:lpstr>Built in 7 Phases</vt:lpstr>
      <vt:lpstr>How It Works</vt:lpstr>
      <vt:lpstr>Step 1: Seeing the Room</vt:lpstr>
      <vt:lpstr>Step 2: Spawning Targets</vt:lpstr>
      <vt:lpstr>Steps 3 &amp; 4: Aim and Shoot</vt:lpstr>
      <vt:lpstr>Step 5: Hits and Score</vt:lpstr>
      <vt:lpstr>The Game Loop</vt:lpstr>
      <vt:lpstr>How the Code Fits Together</vt:lpstr>
      <vt:lpstr>Problems We Solved</vt:lpstr>
      <vt:lpstr>Results</vt:lpstr>
      <vt:lpstr>Summary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 Target Shooter</dc:title>
  <dc:subject>PptxGenJS Presentation</dc:subject>
  <dc:creator>Demian</dc:creator>
  <cp:lastModifiedBy>Demian Xaxa</cp:lastModifiedBy>
  <cp:revision>2</cp:revision>
  <dcterms:created xsi:type="dcterms:W3CDTF">2026-10-28T15:53:10Z</dcterms:created>
  <dcterms:modified xsi:type="dcterms:W3CDTF">2026-10-30T07:27:21Z</dcterms:modified>
</cp:coreProperties>
</file>